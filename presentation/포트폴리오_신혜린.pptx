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4"/>
  </p:notesMasterIdLst>
  <p:sldIdLst>
    <p:sldId id="256" r:id="rId2"/>
    <p:sldId id="274" r:id="rId3"/>
    <p:sldId id="257" r:id="rId4"/>
    <p:sldId id="293" r:id="rId5"/>
    <p:sldId id="262" r:id="rId6"/>
    <p:sldId id="275" r:id="rId7"/>
    <p:sldId id="276" r:id="rId8"/>
    <p:sldId id="263" r:id="rId9"/>
    <p:sldId id="277" r:id="rId10"/>
    <p:sldId id="264" r:id="rId11"/>
    <p:sldId id="282" r:id="rId12"/>
    <p:sldId id="265" r:id="rId13"/>
    <p:sldId id="283" r:id="rId14"/>
    <p:sldId id="284" r:id="rId15"/>
    <p:sldId id="285" r:id="rId16"/>
    <p:sldId id="286" r:id="rId17"/>
    <p:sldId id="287" r:id="rId18"/>
    <p:sldId id="288" r:id="rId19"/>
    <p:sldId id="289" r:id="rId20"/>
    <p:sldId id="290" r:id="rId21"/>
    <p:sldId id="291" r:id="rId22"/>
    <p:sldId id="292" r:id="rId23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8D775C"/>
    <a:srgbClr val="BAAD9D"/>
    <a:srgbClr val="8F7A5F"/>
    <a:srgbClr val="C9A063"/>
    <a:srgbClr val="FD802F"/>
    <a:srgbClr val="FFD400"/>
    <a:srgbClr val="FFFFFF"/>
    <a:srgbClr val="FFFA00"/>
    <a:srgbClr val="FFFF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9984" autoAdjust="0"/>
    <p:restoredTop sz="94660"/>
  </p:normalViewPr>
  <p:slideViewPr>
    <p:cSldViewPr snapToGrid="0">
      <p:cViewPr>
        <p:scale>
          <a:sx n="110" d="100"/>
          <a:sy n="110" d="100"/>
        </p:scale>
        <p:origin x="332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혜린 신" userId="5adea4bc7da63cbc" providerId="LiveId" clId="{006129DB-ED47-489C-BE29-1CD45A3BB9BA}"/>
    <pc:docChg chg="undo custSel addSld delSld modSld">
      <pc:chgData name="혜린 신" userId="5adea4bc7da63cbc" providerId="LiveId" clId="{006129DB-ED47-489C-BE29-1CD45A3BB9BA}" dt="2026-03-19T05:32:08.450" v="1842" actId="1076"/>
      <pc:docMkLst>
        <pc:docMk/>
      </pc:docMkLst>
      <pc:sldChg chg="modSp mod">
        <pc:chgData name="혜린 신" userId="5adea4bc7da63cbc" providerId="LiveId" clId="{006129DB-ED47-489C-BE29-1CD45A3BB9BA}" dt="2026-03-19T01:44:00.355" v="244" actId="113"/>
        <pc:sldMkLst>
          <pc:docMk/>
          <pc:sldMk cId="1880328308" sldId="256"/>
        </pc:sldMkLst>
        <pc:spChg chg="mod">
          <ac:chgData name="혜린 신" userId="5adea4bc7da63cbc" providerId="LiveId" clId="{006129DB-ED47-489C-BE29-1CD45A3BB9BA}" dt="2026-03-19T01:44:00.355" v="244" actId="113"/>
          <ac:spMkLst>
            <pc:docMk/>
            <pc:sldMk cId="1880328308" sldId="256"/>
            <ac:spMk id="2" creationId="{F4BD9DDA-6410-1F74-6A94-ABFD21A84C60}"/>
          </ac:spMkLst>
        </pc:spChg>
        <pc:spChg chg="mod">
          <ac:chgData name="혜린 신" userId="5adea4bc7da63cbc" providerId="LiveId" clId="{006129DB-ED47-489C-BE29-1CD45A3BB9BA}" dt="2026-03-19T01:39:44.478" v="234" actId="113"/>
          <ac:spMkLst>
            <pc:docMk/>
            <pc:sldMk cId="1880328308" sldId="256"/>
            <ac:spMk id="3" creationId="{82CE0B4F-47D8-BF46-65A7-7841EA7BDD30}"/>
          </ac:spMkLst>
        </pc:spChg>
      </pc:sldChg>
      <pc:sldChg chg="modSp mod">
        <pc:chgData name="혜린 신" userId="5adea4bc7da63cbc" providerId="LiveId" clId="{006129DB-ED47-489C-BE29-1CD45A3BB9BA}" dt="2026-03-19T02:35:36.590" v="1643" actId="20577"/>
        <pc:sldMkLst>
          <pc:docMk/>
          <pc:sldMk cId="2724097635" sldId="257"/>
        </pc:sldMkLst>
        <pc:spChg chg="mod">
          <ac:chgData name="혜린 신" userId="5adea4bc7da63cbc" providerId="LiveId" clId="{006129DB-ED47-489C-BE29-1CD45A3BB9BA}" dt="2026-03-19T01:44:34.021" v="246" actId="113"/>
          <ac:spMkLst>
            <pc:docMk/>
            <pc:sldMk cId="2724097635" sldId="257"/>
            <ac:spMk id="2" creationId="{97C5E664-A6F3-6843-C4F4-A9117F037841}"/>
          </ac:spMkLst>
        </pc:spChg>
        <pc:spChg chg="mod">
          <ac:chgData name="혜린 신" userId="5adea4bc7da63cbc" providerId="LiveId" clId="{006129DB-ED47-489C-BE29-1CD45A3BB9BA}" dt="2026-03-19T02:35:36.590" v="1643" actId="20577"/>
          <ac:spMkLst>
            <pc:docMk/>
            <pc:sldMk cId="2724097635" sldId="257"/>
            <ac:spMk id="3" creationId="{5EA8D967-A763-1F0B-A37F-1E09A1F9F81B}"/>
          </ac:spMkLst>
        </pc:spChg>
      </pc:sldChg>
      <pc:sldChg chg="modSp del mod">
        <pc:chgData name="혜린 신" userId="5adea4bc7da63cbc" providerId="LiveId" clId="{006129DB-ED47-489C-BE29-1CD45A3BB9BA}" dt="2026-03-19T01:53:30.333" v="476" actId="47"/>
        <pc:sldMkLst>
          <pc:docMk/>
          <pc:sldMk cId="1330834609" sldId="259"/>
        </pc:sldMkLst>
        <pc:spChg chg="mod">
          <ac:chgData name="혜린 신" userId="5adea4bc7da63cbc" providerId="LiveId" clId="{006129DB-ED47-489C-BE29-1CD45A3BB9BA}" dt="2026-03-19T01:46:41.450" v="340" actId="113"/>
          <ac:spMkLst>
            <pc:docMk/>
            <pc:sldMk cId="1330834609" sldId="259"/>
            <ac:spMk id="2" creationId="{A7E72BEF-73D1-8EB2-03AA-3115BDD6B139}"/>
          </ac:spMkLst>
        </pc:spChg>
        <pc:spChg chg="mod">
          <ac:chgData name="혜린 신" userId="5adea4bc7da63cbc" providerId="LiveId" clId="{006129DB-ED47-489C-BE29-1CD45A3BB9BA}" dt="2026-03-19T01:33:44.130" v="182"/>
          <ac:spMkLst>
            <pc:docMk/>
            <pc:sldMk cId="1330834609" sldId="259"/>
            <ac:spMk id="3" creationId="{4DF33E91-DE90-8D14-6EC9-DA1097C32CF5}"/>
          </ac:spMkLst>
        </pc:spChg>
      </pc:sldChg>
      <pc:sldChg chg="addSp delSp modSp del mod">
        <pc:chgData name="혜린 신" userId="5adea4bc7da63cbc" providerId="LiveId" clId="{006129DB-ED47-489C-BE29-1CD45A3BB9BA}" dt="2026-03-18T04:31:40.508" v="41" actId="47"/>
        <pc:sldMkLst>
          <pc:docMk/>
          <pc:sldMk cId="3316586898" sldId="260"/>
        </pc:sldMkLst>
        <pc:spChg chg="mod">
          <ac:chgData name="혜린 신" userId="5adea4bc7da63cbc" providerId="LiveId" clId="{006129DB-ED47-489C-BE29-1CD45A3BB9BA}" dt="2026-03-18T04:31:37.544" v="39" actId="20577"/>
          <ac:spMkLst>
            <pc:docMk/>
            <pc:sldMk cId="3316586898" sldId="260"/>
            <ac:spMk id="2" creationId="{746FC5CC-1A61-1AD5-A209-A93CC2261B0A}"/>
          </ac:spMkLst>
        </pc:spChg>
        <pc:spChg chg="del">
          <ac:chgData name="혜린 신" userId="5adea4bc7da63cbc" providerId="LiveId" clId="{006129DB-ED47-489C-BE29-1CD45A3BB9BA}" dt="2026-03-18T04:31:28.330" v="17" actId="478"/>
          <ac:spMkLst>
            <pc:docMk/>
            <pc:sldMk cId="3316586898" sldId="260"/>
            <ac:spMk id="3" creationId="{BB852E26-1989-AF73-5FAB-F9482D29FAD0}"/>
          </ac:spMkLst>
        </pc:spChg>
        <pc:spChg chg="del mod">
          <ac:chgData name="혜린 신" userId="5adea4bc7da63cbc" providerId="LiveId" clId="{006129DB-ED47-489C-BE29-1CD45A3BB9BA}" dt="2026-03-18T04:31:26.284" v="16" actId="478"/>
          <ac:spMkLst>
            <pc:docMk/>
            <pc:sldMk cId="3316586898" sldId="260"/>
            <ac:spMk id="4" creationId="{DE74E8E6-4A4B-06BB-42AA-C060A0E27EF0}"/>
          </ac:spMkLst>
        </pc:spChg>
        <pc:spChg chg="del">
          <ac:chgData name="혜린 신" userId="5adea4bc7da63cbc" providerId="LiveId" clId="{006129DB-ED47-489C-BE29-1CD45A3BB9BA}" dt="2026-03-18T04:31:21.599" v="14" actId="478"/>
          <ac:spMkLst>
            <pc:docMk/>
            <pc:sldMk cId="3316586898" sldId="260"/>
            <ac:spMk id="6" creationId="{08B20821-D3D6-8A38-F5DE-C89D7E8D64CF}"/>
          </ac:spMkLst>
        </pc:spChg>
        <pc:spChg chg="add del mod">
          <ac:chgData name="혜린 신" userId="5adea4bc7da63cbc" providerId="LiveId" clId="{006129DB-ED47-489C-BE29-1CD45A3BB9BA}" dt="2026-03-18T04:31:29.539" v="19" actId="478"/>
          <ac:spMkLst>
            <pc:docMk/>
            <pc:sldMk cId="3316586898" sldId="260"/>
            <ac:spMk id="7" creationId="{EC501AFE-392C-A486-E763-D4B693EDDE85}"/>
          </ac:spMkLst>
        </pc:spChg>
        <pc:spChg chg="add del mod">
          <ac:chgData name="혜린 신" userId="5adea4bc7da63cbc" providerId="LiveId" clId="{006129DB-ED47-489C-BE29-1CD45A3BB9BA}" dt="2026-03-18T04:31:30.487" v="20" actId="478"/>
          <ac:spMkLst>
            <pc:docMk/>
            <pc:sldMk cId="3316586898" sldId="260"/>
            <ac:spMk id="9" creationId="{C8632492-A662-C18A-2724-4F5508491201}"/>
          </ac:spMkLst>
        </pc:spChg>
      </pc:sldChg>
      <pc:sldChg chg="addSp delSp modSp add mod modClrScheme chgLayout">
        <pc:chgData name="혜린 신" userId="5adea4bc7da63cbc" providerId="LiveId" clId="{006129DB-ED47-489C-BE29-1CD45A3BB9BA}" dt="2026-03-19T05:31:21.697" v="1841" actId="113"/>
        <pc:sldMkLst>
          <pc:docMk/>
          <pc:sldMk cId="1239003251" sldId="261"/>
        </pc:sldMkLst>
        <pc:spChg chg="mod ord">
          <ac:chgData name="혜린 신" userId="5adea4bc7da63cbc" providerId="LiveId" clId="{006129DB-ED47-489C-BE29-1CD45A3BB9BA}" dt="2026-03-19T02:11:02.141" v="1139" actId="113"/>
          <ac:spMkLst>
            <pc:docMk/>
            <pc:sldMk cId="1239003251" sldId="261"/>
            <ac:spMk id="2" creationId="{A7E72BEF-73D1-8EB2-03AA-3115BDD6B139}"/>
          </ac:spMkLst>
        </pc:spChg>
        <pc:spChg chg="del mod ord">
          <ac:chgData name="혜린 신" userId="5adea4bc7da63cbc" providerId="LiveId" clId="{006129DB-ED47-489C-BE29-1CD45A3BB9BA}" dt="2026-03-19T05:30:22.575" v="1743" actId="478"/>
          <ac:spMkLst>
            <pc:docMk/>
            <pc:sldMk cId="1239003251" sldId="261"/>
            <ac:spMk id="3" creationId="{4DF33E91-DE90-8D14-6EC9-DA1097C32CF5}"/>
          </ac:spMkLst>
        </pc:spChg>
        <pc:spChg chg="add del mod ord">
          <ac:chgData name="혜린 신" userId="5adea4bc7da63cbc" providerId="LiveId" clId="{006129DB-ED47-489C-BE29-1CD45A3BB9BA}" dt="2026-03-19T05:30:21.278" v="1742" actId="478"/>
          <ac:spMkLst>
            <pc:docMk/>
            <pc:sldMk cId="1239003251" sldId="261"/>
            <ac:spMk id="4" creationId="{1A508842-32F4-CCED-A39C-C48116CE2C4B}"/>
          </ac:spMkLst>
        </pc:spChg>
        <pc:spChg chg="add del mod">
          <ac:chgData name="혜린 신" userId="5adea4bc7da63cbc" providerId="LiveId" clId="{006129DB-ED47-489C-BE29-1CD45A3BB9BA}" dt="2026-03-19T02:10:08.682" v="1130" actId="478"/>
          <ac:spMkLst>
            <pc:docMk/>
            <pc:sldMk cId="1239003251" sldId="261"/>
            <ac:spMk id="5" creationId="{63FE32F8-0153-1B28-5B42-552B408C0BB3}"/>
          </ac:spMkLst>
        </pc:spChg>
        <pc:spChg chg="add del mod">
          <ac:chgData name="혜린 신" userId="5adea4bc7da63cbc" providerId="LiveId" clId="{006129DB-ED47-489C-BE29-1CD45A3BB9BA}" dt="2026-03-19T05:30:28.805" v="1745" actId="478"/>
          <ac:spMkLst>
            <pc:docMk/>
            <pc:sldMk cId="1239003251" sldId="261"/>
            <ac:spMk id="6" creationId="{BC43E2C4-18EF-0F50-03B2-6BE1F36AA8FA}"/>
          </ac:spMkLst>
        </pc:spChg>
        <pc:spChg chg="add del mod">
          <ac:chgData name="혜린 신" userId="5adea4bc7da63cbc" providerId="LiveId" clId="{006129DB-ED47-489C-BE29-1CD45A3BB9BA}" dt="2026-03-19T05:30:54.202" v="1834" actId="478"/>
          <ac:spMkLst>
            <pc:docMk/>
            <pc:sldMk cId="1239003251" sldId="261"/>
            <ac:spMk id="7" creationId="{2AF6224E-DCC8-97F1-AF43-EE0D310062AC}"/>
          </ac:spMkLst>
        </pc:spChg>
        <pc:spChg chg="add mod">
          <ac:chgData name="혜린 신" userId="5adea4bc7da63cbc" providerId="LiveId" clId="{006129DB-ED47-489C-BE29-1CD45A3BB9BA}" dt="2026-03-19T05:31:21.697" v="1841" actId="113"/>
          <ac:spMkLst>
            <pc:docMk/>
            <pc:sldMk cId="1239003251" sldId="261"/>
            <ac:spMk id="9" creationId="{D5E087DB-D39A-8AF6-66E4-BFB4705E8D5E}"/>
          </ac:spMkLst>
        </pc:spChg>
      </pc:sldChg>
      <pc:sldChg chg="addSp delSp modSp new mod">
        <pc:chgData name="혜린 신" userId="5adea4bc7da63cbc" providerId="LiveId" clId="{006129DB-ED47-489C-BE29-1CD45A3BB9BA}" dt="2026-03-19T02:08:31.274" v="1120" actId="478"/>
        <pc:sldMkLst>
          <pc:docMk/>
          <pc:sldMk cId="3180855730" sldId="262"/>
        </pc:sldMkLst>
        <pc:spChg chg="mod">
          <ac:chgData name="혜린 신" userId="5adea4bc7da63cbc" providerId="LiveId" clId="{006129DB-ED47-489C-BE29-1CD45A3BB9BA}" dt="2026-03-19T02:02:09.531" v="590" actId="2711"/>
          <ac:spMkLst>
            <pc:docMk/>
            <pc:sldMk cId="3180855730" sldId="262"/>
            <ac:spMk id="2" creationId="{1704333C-3927-F797-5EEF-59E04DBFC292}"/>
          </ac:spMkLst>
        </pc:spChg>
        <pc:spChg chg="mod">
          <ac:chgData name="혜린 신" userId="5adea4bc7da63cbc" providerId="LiveId" clId="{006129DB-ED47-489C-BE29-1CD45A3BB9BA}" dt="2026-03-19T02:03:57.489" v="719" actId="27636"/>
          <ac:spMkLst>
            <pc:docMk/>
            <pc:sldMk cId="3180855730" sldId="262"/>
            <ac:spMk id="3" creationId="{86B1D136-6594-3C31-CC2C-47E7378E927B}"/>
          </ac:spMkLst>
        </pc:spChg>
        <pc:spChg chg="mod">
          <ac:chgData name="혜린 신" userId="5adea4bc7da63cbc" providerId="LiveId" clId="{006129DB-ED47-489C-BE29-1CD45A3BB9BA}" dt="2026-03-19T02:04:47.405" v="778" actId="20577"/>
          <ac:spMkLst>
            <pc:docMk/>
            <pc:sldMk cId="3180855730" sldId="262"/>
            <ac:spMk id="4" creationId="{70A180C4-6709-0194-6E45-04D926791744}"/>
          </ac:spMkLst>
        </pc:spChg>
        <pc:spChg chg="add mod">
          <ac:chgData name="혜린 신" userId="5adea4bc7da63cbc" providerId="LiveId" clId="{006129DB-ED47-489C-BE29-1CD45A3BB9BA}" dt="2026-03-19T02:06:51.924" v="938" actId="20577"/>
          <ac:spMkLst>
            <pc:docMk/>
            <pc:sldMk cId="3180855730" sldId="262"/>
            <ac:spMk id="5" creationId="{86B1D136-6594-3C31-CC2C-47E7378E927B}"/>
          </ac:spMkLst>
        </pc:spChg>
        <pc:spChg chg="add mod">
          <ac:chgData name="혜린 신" userId="5adea4bc7da63cbc" providerId="LiveId" clId="{006129DB-ED47-489C-BE29-1CD45A3BB9BA}" dt="2026-03-19T02:08:24.304" v="1119" actId="255"/>
          <ac:spMkLst>
            <pc:docMk/>
            <pc:sldMk cId="3180855730" sldId="262"/>
            <ac:spMk id="6" creationId="{70A180C4-6709-0194-6E45-04D926791744}"/>
          </ac:spMkLst>
        </pc:spChg>
        <pc:spChg chg="add del mod">
          <ac:chgData name="혜린 신" userId="5adea4bc7da63cbc" providerId="LiveId" clId="{006129DB-ED47-489C-BE29-1CD45A3BB9BA}" dt="2026-03-19T02:08:31.274" v="1120" actId="478"/>
          <ac:spMkLst>
            <pc:docMk/>
            <pc:sldMk cId="3180855730" sldId="262"/>
            <ac:spMk id="7" creationId="{6A7135B2-A26A-F2C6-C298-47A09EDDC4DB}"/>
          </ac:spMkLst>
        </pc:spChg>
      </pc:sldChg>
      <pc:sldChg chg="addSp delSp modSp add del mod">
        <pc:chgData name="혜린 신" userId="5adea4bc7da63cbc" providerId="LiveId" clId="{006129DB-ED47-489C-BE29-1CD45A3BB9BA}" dt="2026-03-19T02:00:38.305" v="542" actId="47"/>
        <pc:sldMkLst>
          <pc:docMk/>
          <pc:sldMk cId="3639733745" sldId="263"/>
        </pc:sldMkLst>
        <pc:spChg chg="del mod">
          <ac:chgData name="혜린 신" userId="5adea4bc7da63cbc" providerId="LiveId" clId="{006129DB-ED47-489C-BE29-1CD45A3BB9BA}" dt="2026-03-19T01:59:55.630" v="531" actId="21"/>
          <ac:spMkLst>
            <pc:docMk/>
            <pc:sldMk cId="3639733745" sldId="263"/>
            <ac:spMk id="3" creationId="{86B1D136-6594-3C31-CC2C-47E7378E927B}"/>
          </ac:spMkLst>
        </pc:spChg>
        <pc:spChg chg="del mod">
          <ac:chgData name="혜린 신" userId="5adea4bc7da63cbc" providerId="LiveId" clId="{006129DB-ED47-489C-BE29-1CD45A3BB9BA}" dt="2026-03-19T02:00:02.888" v="534" actId="21"/>
          <ac:spMkLst>
            <pc:docMk/>
            <pc:sldMk cId="3639733745" sldId="263"/>
            <ac:spMk id="4" creationId="{70A180C4-6709-0194-6E45-04D926791744}"/>
          </ac:spMkLst>
        </pc:spChg>
        <pc:spChg chg="add del mod">
          <ac:chgData name="혜린 신" userId="5adea4bc7da63cbc" providerId="LiveId" clId="{006129DB-ED47-489C-BE29-1CD45A3BB9BA}" dt="2026-03-19T02:00:17.613" v="539" actId="21"/>
          <ac:spMkLst>
            <pc:docMk/>
            <pc:sldMk cId="3639733745" sldId="263"/>
            <ac:spMk id="5" creationId="{6A7135B2-A26A-F2C6-C298-47A09EDDC4DB}"/>
          </ac:spMkLst>
        </pc:spChg>
        <pc:spChg chg="add mod">
          <ac:chgData name="혜린 신" userId="5adea4bc7da63cbc" providerId="LiveId" clId="{006129DB-ED47-489C-BE29-1CD45A3BB9BA}" dt="2026-03-19T01:59:55.630" v="531" actId="21"/>
          <ac:spMkLst>
            <pc:docMk/>
            <pc:sldMk cId="3639733745" sldId="263"/>
            <ac:spMk id="7" creationId="{CA9BC4A7-66E5-0B19-33A8-3F5E33123830}"/>
          </ac:spMkLst>
        </pc:spChg>
        <pc:spChg chg="add mod">
          <ac:chgData name="혜린 신" userId="5adea4bc7da63cbc" providerId="LiveId" clId="{006129DB-ED47-489C-BE29-1CD45A3BB9BA}" dt="2026-03-19T02:00:15.354" v="537" actId="14100"/>
          <ac:spMkLst>
            <pc:docMk/>
            <pc:sldMk cId="3639733745" sldId="263"/>
            <ac:spMk id="9" creationId="{D3CB362E-3D0B-5244-4FB6-849FDE8F3633}"/>
          </ac:spMkLst>
        </pc:spChg>
      </pc:sldChg>
      <pc:sldChg chg="addSp delSp modSp new mod">
        <pc:chgData name="혜린 신" userId="5adea4bc7da63cbc" providerId="LiveId" clId="{006129DB-ED47-489C-BE29-1CD45A3BB9BA}" dt="2026-03-19T05:09:56.300" v="1728" actId="20577"/>
        <pc:sldMkLst>
          <pc:docMk/>
          <pc:sldMk cId="2173242103" sldId="264"/>
        </pc:sldMkLst>
        <pc:spChg chg="mod">
          <ac:chgData name="혜린 신" userId="5adea4bc7da63cbc" providerId="LiveId" clId="{006129DB-ED47-489C-BE29-1CD45A3BB9BA}" dt="2026-03-19T05:09:56.300" v="1728" actId="20577"/>
          <ac:spMkLst>
            <pc:docMk/>
            <pc:sldMk cId="2173242103" sldId="264"/>
            <ac:spMk id="2" creationId="{3DE12A3C-24E9-0ED6-A8DA-DF39C30376B2}"/>
          </ac:spMkLst>
        </pc:spChg>
        <pc:spChg chg="del mod">
          <ac:chgData name="혜린 신" userId="5adea4bc7da63cbc" providerId="LiveId" clId="{006129DB-ED47-489C-BE29-1CD45A3BB9BA}" dt="2026-03-19T02:20:37.666" v="1545" actId="478"/>
          <ac:spMkLst>
            <pc:docMk/>
            <pc:sldMk cId="2173242103" sldId="264"/>
            <ac:spMk id="3" creationId="{0DF34DEF-64F2-F910-DDCA-9562CDC57915}"/>
          </ac:spMkLst>
        </pc:spChg>
        <pc:spChg chg="del mod">
          <ac:chgData name="혜린 신" userId="5adea4bc7da63cbc" providerId="LiveId" clId="{006129DB-ED47-489C-BE29-1CD45A3BB9BA}" dt="2026-03-19T02:13:13.750" v="1186" actId="478"/>
          <ac:spMkLst>
            <pc:docMk/>
            <pc:sldMk cId="2173242103" sldId="264"/>
            <ac:spMk id="4" creationId="{D2A8C7F6-2114-E214-1D3B-2BE71E7589FF}"/>
          </ac:spMkLst>
        </pc:spChg>
        <pc:spChg chg="add mod">
          <ac:chgData name="혜린 신" userId="5adea4bc7da63cbc" providerId="LiveId" clId="{006129DB-ED47-489C-BE29-1CD45A3BB9BA}" dt="2026-03-19T01:35:33.303" v="215" actId="6549"/>
          <ac:spMkLst>
            <pc:docMk/>
            <pc:sldMk cId="2173242103" sldId="264"/>
            <ac:spMk id="5" creationId="{4A04E4E7-A6C2-45ED-1409-CB076012A6FC}"/>
          </ac:spMkLst>
        </pc:spChg>
        <pc:spChg chg="add mod">
          <ac:chgData name="혜린 신" userId="5adea4bc7da63cbc" providerId="LiveId" clId="{006129DB-ED47-489C-BE29-1CD45A3BB9BA}" dt="2026-03-19T02:27:35.171" v="1636" actId="1076"/>
          <ac:spMkLst>
            <pc:docMk/>
            <pc:sldMk cId="2173242103" sldId="264"/>
            <ac:spMk id="6" creationId="{7CFEE43E-AAA9-E78C-CCA5-BB1B2F42AD19}"/>
          </ac:spMkLst>
        </pc:spChg>
        <pc:spChg chg="add mod">
          <ac:chgData name="혜린 신" userId="5adea4bc7da63cbc" providerId="LiveId" clId="{006129DB-ED47-489C-BE29-1CD45A3BB9BA}" dt="2026-03-19T02:27:43.534" v="1638" actId="14100"/>
          <ac:spMkLst>
            <pc:docMk/>
            <pc:sldMk cId="2173242103" sldId="264"/>
            <ac:spMk id="8" creationId="{A8E73566-B778-F86C-A355-4F36759DF8CA}"/>
          </ac:spMkLst>
        </pc:spChg>
      </pc:sldChg>
      <pc:sldChg chg="addSp delSp modSp add mod">
        <pc:chgData name="혜린 신" userId="5adea4bc7da63cbc" providerId="LiveId" clId="{006129DB-ED47-489C-BE29-1CD45A3BB9BA}" dt="2026-03-19T05:32:08.450" v="1842" actId="1076"/>
        <pc:sldMkLst>
          <pc:docMk/>
          <pc:sldMk cId="737299096" sldId="265"/>
        </pc:sldMkLst>
        <pc:spChg chg="mod">
          <ac:chgData name="혜린 신" userId="5adea4bc7da63cbc" providerId="LiveId" clId="{006129DB-ED47-489C-BE29-1CD45A3BB9BA}" dt="2026-03-19T05:10:01.284" v="1738" actId="20577"/>
          <ac:spMkLst>
            <pc:docMk/>
            <pc:sldMk cId="737299096" sldId="265"/>
            <ac:spMk id="2" creationId="{3DE12A3C-24E9-0ED6-A8DA-DF39C30376B2}"/>
          </ac:spMkLst>
        </pc:spChg>
        <pc:spChg chg="mod">
          <ac:chgData name="혜린 신" userId="5adea4bc7da63cbc" providerId="LiveId" clId="{006129DB-ED47-489C-BE29-1CD45A3BB9BA}" dt="2026-03-19T05:32:08.450" v="1842" actId="1076"/>
          <ac:spMkLst>
            <pc:docMk/>
            <pc:sldMk cId="737299096" sldId="265"/>
            <ac:spMk id="3" creationId="{0DF34DEF-64F2-F910-DDCA-9562CDC57915}"/>
          </ac:spMkLst>
        </pc:spChg>
        <pc:spChg chg="mod">
          <ac:chgData name="혜린 신" userId="5adea4bc7da63cbc" providerId="LiveId" clId="{006129DB-ED47-489C-BE29-1CD45A3BB9BA}" dt="2026-03-19T02:27:24.933" v="1634" actId="20577"/>
          <ac:spMkLst>
            <pc:docMk/>
            <pc:sldMk cId="737299096" sldId="265"/>
            <ac:spMk id="4" creationId="{D2A8C7F6-2114-E214-1D3B-2BE71E7589FF}"/>
          </ac:spMkLst>
        </pc:spChg>
        <pc:spChg chg="add del mod">
          <ac:chgData name="혜린 신" userId="5adea4bc7da63cbc" providerId="LiveId" clId="{006129DB-ED47-489C-BE29-1CD45A3BB9BA}" dt="2026-03-19T02:19:33.861" v="1508" actId="478"/>
          <ac:spMkLst>
            <pc:docMk/>
            <pc:sldMk cId="737299096" sldId="265"/>
            <ac:spMk id="6" creationId="{002B05AC-2CD8-537C-9C69-0BF7DF3FA514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7E71D51-8A19-4BEA-9750-E87DB394B54C}" type="datetimeFigureOut">
              <a:rPr lang="ko-KR" altLang="en-US" smtClean="0"/>
              <a:t>2026-06-16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16FAA0A-814C-4D3B-A4DE-794F9EB0F91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544478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8467586-B62B-4F97-F9D3-663CB92A4C7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58E2DDB6-C587-7E94-5036-39A64AAA0CA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2BB4BA8-FA6E-690E-C083-8853DD031E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027968-2FEC-4B32-BACB-7408E34A3E11}" type="datetimeFigureOut">
              <a:rPr lang="ko-KR" altLang="en-US" smtClean="0"/>
              <a:t>2026-06-16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87CD80C6-7BF1-3B22-22D9-DEB5C6F414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48710B3-FBB5-85C5-76E2-C6A345BFCD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10C3EA-5BBA-49A5-9973-AB912410C68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2634625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7FC3B95-92B7-BA44-43EB-C57ED45C92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001A2ED-9CFF-6002-751A-E34F1E56086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5A5BD20-EDD7-59D5-C50B-2AAE9E9452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027968-2FEC-4B32-BACB-7408E34A3E11}" type="datetimeFigureOut">
              <a:rPr lang="ko-KR" altLang="en-US" smtClean="0"/>
              <a:t>2026-06-16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D74B935-60A8-03C6-C302-ABC8C4EA03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D5D1696-A134-EDBC-52B7-2F8AFC6C7E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10C3EA-5BBA-49A5-9973-AB912410C68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4283799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E1AA29E-4AFF-553C-934D-4ADAAA07E6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1829C10C-3681-96A5-D906-4CD0CFF6924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621118A-323A-915D-0F87-23FED6ED07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027968-2FEC-4B32-BACB-7408E34A3E11}" type="datetimeFigureOut">
              <a:rPr lang="ko-KR" altLang="en-US" smtClean="0"/>
              <a:t>2026-06-16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8322F649-C515-E05B-AF16-65D9D54969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A30C56B-7419-A09C-2D4D-CE03DC1297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10C3EA-5BBA-49A5-9973-AB912410C68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2785229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EBF71BA-3CAB-62CE-B1A8-0B57F06D3E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3452E23-15E7-FBD7-0826-AC958AB913D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D06005FE-C902-8E68-FE76-28CAD775E8C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D165C47A-E3A0-B753-4D0B-9C4EFD53A6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027968-2FEC-4B32-BACB-7408E34A3E11}" type="datetimeFigureOut">
              <a:rPr lang="ko-KR" altLang="en-US" smtClean="0"/>
              <a:t>2026-06-16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899A8754-BE79-941C-A2BE-3153B512A1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B5A0DA21-FF3C-F340-C0E6-5F4042259B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10C3EA-5BBA-49A5-9973-AB912410C68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1927202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328CFBD-4F3B-14E5-CBBF-5A2356F0EC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FD5BA703-92F8-D644-01C2-99157445520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7AE5FDB2-F10E-7452-6048-799E2AD33A7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04D93139-C3F3-57A0-5EC5-0A6B67C5115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58BC998E-5890-327A-907F-969A37C05D3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2A6EE1A5-3874-F396-0F7B-4C030C9EB9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027968-2FEC-4B32-BACB-7408E34A3E11}" type="datetimeFigureOut">
              <a:rPr lang="ko-KR" altLang="en-US" smtClean="0"/>
              <a:t>2026-06-16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7E7EE2BC-120D-E000-F4C4-89180033D3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6B921C2F-7646-725F-5F21-1A44AFA048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10C3EA-5BBA-49A5-9973-AB912410C68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0118108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A707780-4F34-906D-2E05-75EF751920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AC457ECC-F4BB-5F13-86C0-43A8997B19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027968-2FEC-4B32-BACB-7408E34A3E11}" type="datetimeFigureOut">
              <a:rPr lang="ko-KR" altLang="en-US" smtClean="0"/>
              <a:t>2026-06-16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412592E3-90F5-E824-38B7-D8E0D49378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00579572-12DC-AD29-81BE-C3DEAF2964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10C3EA-5BBA-49A5-9973-AB912410C68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451090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F3CC1785-2247-A3AE-B631-2AF84193AA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027968-2FEC-4B32-BACB-7408E34A3E11}" type="datetimeFigureOut">
              <a:rPr lang="ko-KR" altLang="en-US" smtClean="0"/>
              <a:t>2026-06-16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55165E1B-FC72-A477-46D2-D298DF5F6F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4E38255-D771-5480-84CE-8528264A9B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10C3EA-5BBA-49A5-9973-AB912410C68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1663983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F5C2023-CF4F-097B-4932-1BF771E20B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F45860-BE6E-DE8C-1A7C-5A565444042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A2DF9599-3EAE-778A-AA03-CDF694784D2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D07E3AA2-FC1E-6E60-DC54-95C70D6A95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027968-2FEC-4B32-BACB-7408E34A3E11}" type="datetimeFigureOut">
              <a:rPr lang="ko-KR" altLang="en-US" smtClean="0"/>
              <a:t>2026-06-16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26FB5714-C024-EBDC-E82C-9CE2CAB7EB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24BFE02E-2F07-A4F5-B34A-FDF5153044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10C3EA-5BBA-49A5-9973-AB912410C68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5909796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407986F-C1FE-9879-A7A5-D6E74A4324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2BCF20C1-91BD-6693-4390-94B7D78F3FE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A9C3FA89-7B9E-A2B6-59B3-AABBCED2575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5E5F2029-DE32-2573-1381-192C069EB7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027968-2FEC-4B32-BACB-7408E34A3E11}" type="datetimeFigureOut">
              <a:rPr lang="ko-KR" altLang="en-US" smtClean="0"/>
              <a:t>2026-06-16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F286CD83-BABD-FF5B-ACBE-8A9D27EC17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419CD9C7-33B0-E36E-2FBF-473D897755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10C3EA-5BBA-49A5-9973-AB912410C68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5456959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8E16447-59EB-8BC4-EC22-C269E36009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551CB07F-9222-06A7-B63F-9CF53E5045C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B65E716-0A27-C400-31CF-F47323EE5D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027968-2FEC-4B32-BACB-7408E34A3E11}" type="datetimeFigureOut">
              <a:rPr lang="ko-KR" altLang="en-US" smtClean="0"/>
              <a:t>2026-06-16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D6D2B25-E786-DC88-AD5F-ACA78F95F4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09AF6C2-5F61-C825-40B1-03CB6022A6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10C3EA-5BBA-49A5-9973-AB912410C68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6565529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8E48E22D-D1D3-A97E-DC6B-2D6FD106B3B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7FA3A6FC-9B11-2DAE-00BD-A75037AD6FB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D262885-4696-33DD-0489-03675487DC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027968-2FEC-4B32-BACB-7408E34A3E11}" type="datetimeFigureOut">
              <a:rPr lang="ko-KR" altLang="en-US" smtClean="0"/>
              <a:t>2026-06-16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3AD23BB-0530-1AEA-3A4B-E7D8F9F891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C115DFB-F5CA-231E-6171-57FF6BDA46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10C3EA-5BBA-49A5-9973-AB912410C68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8377209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C87E5880-AC21-439F-AB11-42B1DB0ABF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C77CE7E3-B3A2-5723-C4DA-98BDC14E373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8A46755-F84B-0EC2-3126-5A0CB1D62D9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C027968-2FEC-4B32-BACB-7408E34A3E11}" type="datetimeFigureOut">
              <a:rPr lang="ko-KR" altLang="en-US" smtClean="0"/>
              <a:t>2026-06-16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9DC04B1-14D5-2C82-4215-1E586AC32B5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1AA5210-11D6-4416-00B8-192C998E987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010C3EA-5BBA-49A5-9973-AB912410C68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8035450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7" Type="http://schemas.openxmlformats.org/officeDocument/2006/relationships/image" Target="../media/image6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svg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7" Type="http://schemas.openxmlformats.org/officeDocument/2006/relationships/image" Target="../media/image12.sv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png"/><Relationship Id="rId5" Type="http://schemas.openxmlformats.org/officeDocument/2006/relationships/image" Target="../media/image10.svg"/><Relationship Id="rId4" Type="http://schemas.openxmlformats.org/officeDocument/2006/relationships/image" Target="../media/image9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emf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4BD9DDA-6410-1F74-6A94-ABFD21A84C6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56000" y="1250066"/>
            <a:ext cx="8765662" cy="2902369"/>
          </a:xfrm>
        </p:spPr>
        <p:txBody>
          <a:bodyPr>
            <a:noAutofit/>
          </a:bodyPr>
          <a:lstStyle/>
          <a:p>
            <a:pPr algn="l"/>
            <a:r>
              <a:rPr lang="ko-KR" altLang="en-US" b="1" dirty="0">
                <a:latin typeface="Noto Sans KR" panose="020B0200000000000000" pitchFamily="50" charset="-127"/>
                <a:ea typeface="Noto Sans KR" panose="020B0200000000000000" pitchFamily="50" charset="-127"/>
              </a:rPr>
              <a:t>생성형 </a:t>
            </a:r>
            <a:r>
              <a:rPr lang="en-US" altLang="ko-KR" b="1" dirty="0">
                <a:latin typeface="Noto Sans KR" panose="020B0200000000000000" pitchFamily="50" charset="-127"/>
                <a:ea typeface="Noto Sans KR" panose="020B0200000000000000" pitchFamily="50" charset="-127"/>
              </a:rPr>
              <a:t>AI</a:t>
            </a:r>
            <a:r>
              <a:rPr lang="ko-KR" altLang="en-US" b="1" dirty="0">
                <a:latin typeface="Noto Sans KR" panose="020B0200000000000000" pitchFamily="50" charset="-127"/>
                <a:ea typeface="Noto Sans KR" panose="020B0200000000000000" pitchFamily="50" charset="-127"/>
              </a:rPr>
              <a:t>기반 </a:t>
            </a:r>
            <a:br>
              <a:rPr lang="en-US" altLang="ko-KR" b="1" dirty="0">
                <a:latin typeface="Noto Sans KR" panose="020B0200000000000000" pitchFamily="50" charset="-127"/>
                <a:ea typeface="Noto Sans KR" panose="020B0200000000000000" pitchFamily="50" charset="-127"/>
              </a:rPr>
            </a:br>
            <a:r>
              <a:rPr lang="ko-KR" altLang="en-US" b="1" dirty="0">
                <a:latin typeface="Noto Sans KR" panose="020B0200000000000000" pitchFamily="50" charset="-127"/>
                <a:ea typeface="Noto Sans KR" panose="020B0200000000000000" pitchFamily="50" charset="-127"/>
              </a:rPr>
              <a:t>스마트 호텔</a:t>
            </a:r>
            <a:r>
              <a:rPr lang="en-US" altLang="ko-KR" b="1" dirty="0"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lang="ko-KR" altLang="en-US" b="1" dirty="0" err="1">
                <a:latin typeface="Noto Sans KR" panose="020B0200000000000000" pitchFamily="50" charset="-127"/>
                <a:ea typeface="Noto Sans KR" panose="020B0200000000000000" pitchFamily="50" charset="-127"/>
              </a:rPr>
              <a:t>올인원</a:t>
            </a:r>
            <a:r>
              <a:rPr lang="ko-KR" altLang="en-US" b="1" dirty="0">
                <a:latin typeface="Noto Sans KR" panose="020B0200000000000000" pitchFamily="50" charset="-127"/>
                <a:ea typeface="Noto Sans KR" panose="020B0200000000000000" pitchFamily="50" charset="-127"/>
              </a:rPr>
              <a:t> 서비스</a:t>
            </a:r>
            <a:br>
              <a:rPr lang="en-US" altLang="ko-KR" sz="5400" b="1" dirty="0">
                <a:latin typeface="Noto Sans KR" panose="020B0200000000000000" pitchFamily="50" charset="-127"/>
                <a:ea typeface="Noto Sans KR" panose="020B0200000000000000" pitchFamily="50" charset="-127"/>
              </a:rPr>
            </a:br>
            <a:r>
              <a:rPr lang="en-US" altLang="ko-KR" sz="1400" b="1" dirty="0">
                <a:latin typeface="Noto Sans KR" panose="020B0200000000000000" pitchFamily="50" charset="-127"/>
                <a:ea typeface="Noto Sans KR" panose="020B0200000000000000" pitchFamily="50" charset="-127"/>
              </a:rPr>
              <a:t>  </a:t>
            </a:r>
            <a:br>
              <a:rPr lang="en-US" altLang="ko-KR" sz="5400" b="1" dirty="0">
                <a:latin typeface="Noto Sans KR" panose="020B0200000000000000" pitchFamily="50" charset="-127"/>
                <a:ea typeface="Noto Sans KR" panose="020B0200000000000000" pitchFamily="50" charset="-127"/>
              </a:rPr>
            </a:br>
            <a:r>
              <a:rPr lang="ko-KR" altLang="en-US" sz="4000" b="1" dirty="0">
                <a:latin typeface="Noto Sans KR" panose="020B0200000000000000" pitchFamily="50" charset="-127"/>
                <a:ea typeface="Noto Sans KR" panose="020B0200000000000000" pitchFamily="50" charset="-127"/>
              </a:rPr>
              <a:t>프로젝트 수행 결과서</a:t>
            </a:r>
            <a:endParaRPr lang="ko-KR" altLang="en-US" sz="5400" b="1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82CE0B4F-47D8-BF46-65A7-7841EA7BDD3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296000" y="4585808"/>
            <a:ext cx="3600000" cy="1080000"/>
          </a:xfrm>
        </p:spPr>
        <p:txBody>
          <a:bodyPr anchor="ctr" anchorCtr="0">
            <a:normAutofit fontScale="92500" lnSpcReduction="10000"/>
          </a:bodyPr>
          <a:lstStyle/>
          <a:p>
            <a:r>
              <a:rPr lang="en-US" altLang="ko-KR" sz="3600" b="1" dirty="0">
                <a:latin typeface="Noto Sans KR" panose="020B0200000000000000" pitchFamily="50" charset="-127"/>
                <a:ea typeface="Noto Sans KR" panose="020B0200000000000000" pitchFamily="50" charset="-127"/>
              </a:rPr>
              <a:t>2026.06.17.</a:t>
            </a:r>
          </a:p>
          <a:p>
            <a:r>
              <a:rPr lang="ko-KR" altLang="en-US" sz="3600" b="1" dirty="0">
                <a:latin typeface="Noto Sans KR" panose="020B0200000000000000" pitchFamily="50" charset="-127"/>
                <a:ea typeface="Noto Sans KR" panose="020B0200000000000000" pitchFamily="50" charset="-127"/>
              </a:rPr>
              <a:t>신혜린</a:t>
            </a: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F6298E60-FF59-F86F-F449-137837A280A8}"/>
              </a:ext>
            </a:extLst>
          </p:cNvPr>
          <p:cNvSpPr/>
          <p:nvPr/>
        </p:nvSpPr>
        <p:spPr>
          <a:xfrm>
            <a:off x="1056000" y="3402000"/>
            <a:ext cx="10080000" cy="54000"/>
          </a:xfrm>
          <a:prstGeom prst="rect">
            <a:avLst/>
          </a:prstGeom>
          <a:solidFill>
            <a:srgbClr val="BAAD9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8032830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7C5E664-A6F3-6843-C4F4-A9117F0378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2518317" cy="1080000"/>
          </a:xfrm>
        </p:spPr>
        <p:txBody>
          <a:bodyPr/>
          <a:lstStyle/>
          <a:p>
            <a:r>
              <a:rPr lang="ko-KR" altLang="en-US" b="1" dirty="0">
                <a:latin typeface="Noto Sans KR" panose="020B0200000000000000" pitchFamily="50" charset="-127"/>
                <a:ea typeface="Noto Sans KR" panose="020B0200000000000000" pitchFamily="50" charset="-127"/>
              </a:rPr>
              <a:t>   </a:t>
            </a:r>
            <a:r>
              <a:rPr lang="ko-KR" altLang="en-US" sz="3200" b="1" dirty="0">
                <a:latin typeface="Noto Sans KR Black" panose="020B0200000000000000" pitchFamily="50" charset="-127"/>
                <a:ea typeface="Noto Sans KR Black" panose="020B0200000000000000" pitchFamily="50" charset="-127"/>
              </a:rPr>
              <a:t>목차</a:t>
            </a:r>
            <a:endParaRPr lang="ko-KR" altLang="en-US" sz="3600" dirty="0">
              <a:latin typeface="Noto Sans KR Black" panose="020B0200000000000000" pitchFamily="50" charset="-127"/>
              <a:ea typeface="Noto Sans KR Black" panose="020B0200000000000000" pitchFamily="50" charset="-127"/>
            </a:endParaRP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957E1282-07AB-0118-5C66-A89F3F66C28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415134" y="1098433"/>
            <a:ext cx="9074779" cy="4661134"/>
          </a:xfrm>
        </p:spPr>
        <p:txBody>
          <a:bodyPr lIns="180000" tIns="180000" rIns="180000" bIns="180000" numCol="2" anchor="ctr" anchorCtr="0">
            <a:norm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en-US" altLang="ko-KR" sz="2000" b="1" dirty="0">
                <a:solidFill>
                  <a:srgbClr val="BAAD9D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01.</a:t>
            </a:r>
            <a:r>
              <a:rPr lang="en-US" altLang="ko-KR" sz="20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lang="ko-KR" altLang="en-US" sz="20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기획의도</a:t>
            </a:r>
            <a:endParaRPr lang="en-US" altLang="ko-KR" sz="2000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pPr marL="0" indent="0">
              <a:lnSpc>
                <a:spcPct val="150000"/>
              </a:lnSpc>
              <a:buNone/>
            </a:pPr>
            <a:r>
              <a:rPr lang="en-US" altLang="ko-KR" sz="2000" b="1" dirty="0">
                <a:solidFill>
                  <a:srgbClr val="BAAD9D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02.</a:t>
            </a:r>
            <a:r>
              <a:rPr lang="en-US" altLang="ko-KR" sz="20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lang="ko-KR" altLang="en-US" sz="20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개발목표</a:t>
            </a:r>
            <a:endParaRPr lang="en-US" altLang="ko-KR" sz="2000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pPr marL="0" indent="0">
              <a:lnSpc>
                <a:spcPct val="150000"/>
              </a:lnSpc>
              <a:buNone/>
            </a:pPr>
            <a:r>
              <a:rPr lang="en-US" altLang="ko-KR" sz="2000" b="1" dirty="0">
                <a:solidFill>
                  <a:srgbClr val="BAAD9D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03.</a:t>
            </a:r>
            <a:r>
              <a:rPr lang="en-US" altLang="ko-KR" sz="20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lang="ko-KR" altLang="en-US" sz="20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사용기술 목록</a:t>
            </a:r>
            <a:r>
              <a:rPr lang="en-US" altLang="ko-KR" sz="20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/</a:t>
            </a:r>
            <a:r>
              <a:rPr lang="ko-KR" altLang="en-US" sz="20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경험</a:t>
            </a:r>
            <a:endParaRPr lang="en-US" altLang="ko-KR" sz="2000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pPr marL="0" indent="0">
              <a:lnSpc>
                <a:spcPct val="150000"/>
              </a:lnSpc>
              <a:buNone/>
            </a:pPr>
            <a:r>
              <a:rPr lang="en-US" altLang="ko-KR" sz="2000" b="1" dirty="0">
                <a:solidFill>
                  <a:srgbClr val="BAAD9D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04.</a:t>
            </a:r>
            <a:r>
              <a:rPr lang="en-US" altLang="ko-KR" sz="20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lang="ko-KR" altLang="en-US" sz="20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개발 스케줄</a:t>
            </a:r>
            <a:endParaRPr lang="en-US" altLang="ko-KR" sz="2000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pPr marL="0" indent="0">
              <a:lnSpc>
                <a:spcPct val="150000"/>
              </a:lnSpc>
              <a:buNone/>
            </a:pPr>
            <a:r>
              <a:rPr lang="en-US" altLang="ko-KR" sz="2000" b="1" dirty="0">
                <a:solidFill>
                  <a:srgbClr val="BAAD9D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05.</a:t>
            </a:r>
            <a:r>
              <a:rPr lang="en-US" altLang="ko-KR" sz="20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lang="ko-KR" altLang="en-US" sz="20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요구사항 분석서</a:t>
            </a:r>
            <a:endParaRPr lang="en-US" altLang="ko-KR" sz="2000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pPr marL="0" indent="0">
              <a:lnSpc>
                <a:spcPct val="150000"/>
              </a:lnSpc>
              <a:buNone/>
            </a:pPr>
            <a:r>
              <a:rPr lang="en-US" altLang="ko-KR" sz="2000" b="1" dirty="0">
                <a:solidFill>
                  <a:srgbClr val="BAAD9D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06.</a:t>
            </a:r>
            <a:r>
              <a:rPr lang="en-US" altLang="ko-KR" sz="20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lang="ko-KR" altLang="en-US" sz="20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화면 설계서</a:t>
            </a:r>
            <a:endParaRPr lang="en-US" altLang="ko-KR" sz="2000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pPr marL="0" indent="0">
              <a:lnSpc>
                <a:spcPct val="150000"/>
              </a:lnSpc>
              <a:buNone/>
            </a:pPr>
            <a:endParaRPr lang="en-US" altLang="ko-KR" sz="2000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pPr marL="0" indent="0">
              <a:lnSpc>
                <a:spcPct val="150000"/>
              </a:lnSpc>
              <a:buNone/>
            </a:pPr>
            <a:r>
              <a:rPr lang="en-US" altLang="ko-KR" sz="2000" b="1" dirty="0">
                <a:solidFill>
                  <a:srgbClr val="BAAD9D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07.</a:t>
            </a:r>
            <a:r>
              <a:rPr lang="en-US" altLang="ko-KR" sz="20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 UML	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en-US" altLang="ko-KR" sz="2000" b="1" dirty="0">
                <a:solidFill>
                  <a:srgbClr val="BAAD9D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08.</a:t>
            </a:r>
            <a:r>
              <a:rPr lang="en-US" altLang="ko-KR" sz="20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 ER Diagram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en-US" altLang="ko-KR" sz="2000" b="1" dirty="0">
                <a:solidFill>
                  <a:srgbClr val="BAAD9D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09.</a:t>
            </a:r>
            <a:r>
              <a:rPr lang="en-US" altLang="ko-KR" sz="20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lang="ko-KR" altLang="en-US" sz="20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주요 기능 및 소스코드</a:t>
            </a:r>
            <a:endParaRPr lang="en-US" altLang="ko-KR" sz="2000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pPr marL="0" indent="0">
              <a:lnSpc>
                <a:spcPct val="150000"/>
              </a:lnSpc>
              <a:buNone/>
            </a:pPr>
            <a:r>
              <a:rPr lang="en-US" altLang="ko-KR" sz="2000" b="1" dirty="0">
                <a:solidFill>
                  <a:srgbClr val="BAAD9D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10.</a:t>
            </a:r>
            <a:r>
              <a:rPr lang="en-US" altLang="ko-KR" sz="20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lang="ko-KR" altLang="en-US" sz="20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소프트웨어 아키텍처</a:t>
            </a:r>
            <a:endParaRPr lang="en-US" altLang="ko-KR" sz="2000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pPr marL="0" indent="0">
              <a:lnSpc>
                <a:spcPct val="150000"/>
              </a:lnSpc>
              <a:buNone/>
            </a:pPr>
            <a:r>
              <a:rPr lang="en-US" altLang="ko-KR" sz="2000" b="1" dirty="0">
                <a:solidFill>
                  <a:srgbClr val="BAAD9D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11.</a:t>
            </a:r>
            <a:r>
              <a:rPr lang="en-US" altLang="ko-KR" sz="20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lang="ko-KR" altLang="en-US" sz="20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향후 개발 계획</a:t>
            </a:r>
            <a:endParaRPr lang="en-US" altLang="ko-KR" sz="2000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pPr marL="0" indent="0">
              <a:lnSpc>
                <a:spcPct val="150000"/>
              </a:lnSpc>
              <a:buNone/>
            </a:pPr>
            <a:r>
              <a:rPr lang="en-US" altLang="ko-KR" sz="2000" b="1" dirty="0">
                <a:solidFill>
                  <a:srgbClr val="BAAD9D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12.</a:t>
            </a:r>
            <a:r>
              <a:rPr lang="en-US" altLang="ko-KR" sz="20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lang="ko-KR" altLang="en-US" sz="20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프로젝트 수행 소감</a:t>
            </a:r>
            <a:r>
              <a:rPr lang="en-US" altLang="ko-KR" sz="20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	</a:t>
            </a:r>
            <a:r>
              <a:rPr lang="en-US" altLang="ko-KR" sz="2000" dirty="0">
                <a:latin typeface="Noto Sans KR Black" panose="020B0200000000000000" pitchFamily="50" charset="-127"/>
                <a:ea typeface="Noto Sans KR Black" panose="020B0200000000000000" pitchFamily="50" charset="-127"/>
              </a:rPr>
              <a:t>		</a:t>
            </a:r>
          </a:p>
        </p:txBody>
      </p:sp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A59EDB4E-7EEC-A65E-CEB8-96B7FA2C8271}"/>
              </a:ext>
            </a:extLst>
          </p:cNvPr>
          <p:cNvCxnSpPr>
            <a:cxnSpLocks/>
          </p:cNvCxnSpPr>
          <p:nvPr/>
        </p:nvCxnSpPr>
        <p:spPr>
          <a:xfrm>
            <a:off x="6096000" y="1089000"/>
            <a:ext cx="0" cy="4680000"/>
          </a:xfrm>
          <a:prstGeom prst="line">
            <a:avLst/>
          </a:prstGeom>
          <a:ln>
            <a:solidFill>
              <a:schemeClr val="bg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3357149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7C5E664-A6F3-6843-C4F4-A9117F0378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2880000" cy="1080000"/>
          </a:xfrm>
        </p:spPr>
        <p:txBody>
          <a:bodyPr/>
          <a:lstStyle/>
          <a:p>
            <a:r>
              <a:rPr lang="ko-KR" altLang="en-US" b="1" dirty="0">
                <a:latin typeface="Noto Sans KR" panose="020B0200000000000000" pitchFamily="50" charset="-127"/>
                <a:ea typeface="Noto Sans KR" panose="020B0200000000000000" pitchFamily="50" charset="-127"/>
              </a:rPr>
              <a:t>   </a:t>
            </a:r>
            <a:r>
              <a:rPr lang="ko-KR" altLang="en-US" sz="3200" dirty="0">
                <a:latin typeface="Noto Sans KR Black" panose="020B0200000000000000" pitchFamily="50" charset="-127"/>
                <a:ea typeface="Noto Sans KR Black" panose="020B0200000000000000" pitchFamily="50" charset="-127"/>
              </a:rPr>
              <a:t>기획의도</a:t>
            </a:r>
            <a:endParaRPr lang="ko-KR" altLang="en-US" sz="3600" dirty="0">
              <a:latin typeface="Noto Sans KR Black" panose="020B0200000000000000" pitchFamily="50" charset="-127"/>
              <a:ea typeface="Noto Sans KR Black" panose="020B0200000000000000" pitchFamily="50" charset="-127"/>
            </a:endParaRP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957E1282-07AB-0118-5C66-A89F3F66C28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0510" y="1174831"/>
            <a:ext cx="6476857" cy="467591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ko-KR" altLang="en-US" sz="3600" b="1" dirty="0">
                <a:latin typeface="Noto Sans KR Black" panose="020B0200000000000000" pitchFamily="50" charset="-127"/>
                <a:ea typeface="Noto Sans KR Black" panose="020B0200000000000000" pitchFamily="50" charset="-127"/>
              </a:rPr>
              <a:t>호텔 산업의 디지털 전환 가속화</a:t>
            </a:r>
            <a:endParaRPr lang="en-US" altLang="ko-KR" sz="3600" b="1" dirty="0">
              <a:latin typeface="Noto Sans KR Black" panose="020B0200000000000000" pitchFamily="50" charset="-127"/>
              <a:ea typeface="Noto Sans KR Black" panose="020B0200000000000000" pitchFamily="50" charset="-127"/>
            </a:endParaRPr>
          </a:p>
          <a:p>
            <a:pPr marL="0" indent="0">
              <a:buNone/>
            </a:pPr>
            <a:endParaRPr lang="ko-KR" altLang="en-US" sz="3600" b="1" dirty="0">
              <a:latin typeface="Noto Sans KR Black" panose="020B0200000000000000" pitchFamily="50" charset="-127"/>
              <a:ea typeface="Noto Sans KR Black" panose="020B0200000000000000" pitchFamily="50" charset="-127"/>
            </a:endParaRPr>
          </a:p>
          <a:p>
            <a:pPr marL="0" indent="0">
              <a:buNone/>
            </a:pPr>
            <a:r>
              <a:rPr lang="en-US" altLang="ko-KR" b="1" dirty="0">
                <a:latin typeface="Noto Sans KR" panose="020B0200000000000000" pitchFamily="50" charset="-127"/>
                <a:ea typeface="Noto Sans KR" panose="020B0200000000000000" pitchFamily="50" charset="-127"/>
              </a:rPr>
              <a:t>	</a:t>
            </a:r>
            <a:r>
              <a:rPr lang="ko-KR" altLang="en-US" sz="2400" b="1" dirty="0" err="1">
                <a:latin typeface="Noto Sans KR" panose="020B0200000000000000" pitchFamily="50" charset="-127"/>
                <a:ea typeface="Noto Sans KR" panose="020B0200000000000000" pitchFamily="50" charset="-127"/>
              </a:rPr>
              <a:t>비대면</a:t>
            </a:r>
            <a:r>
              <a:rPr lang="ko-KR" altLang="en-US" sz="2400" b="1" dirty="0">
                <a:latin typeface="Noto Sans KR" panose="020B0200000000000000" pitchFamily="50" charset="-127"/>
                <a:ea typeface="Noto Sans KR" panose="020B0200000000000000" pitchFamily="50" charset="-127"/>
              </a:rPr>
              <a:t> 서비스 수요 증가 </a:t>
            </a:r>
            <a:endParaRPr lang="en-US" altLang="ko-KR" sz="2400" b="1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pPr marL="0" indent="0">
              <a:buNone/>
            </a:pPr>
            <a:endParaRPr lang="ko-KR" altLang="en-US" b="1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pPr marL="0" indent="0">
              <a:buNone/>
            </a:pPr>
            <a:r>
              <a:rPr lang="en-US" altLang="ko-KR" b="1" dirty="0">
                <a:solidFill>
                  <a:srgbClr val="BAAD9D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	</a:t>
            </a:r>
            <a:r>
              <a:rPr lang="ko-KR" altLang="en-US" sz="2400" b="1" dirty="0">
                <a:latin typeface="Noto Sans KR" panose="020B0200000000000000" pitchFamily="50" charset="-127"/>
                <a:ea typeface="Noto Sans KR" panose="020B0200000000000000" pitchFamily="50" charset="-127"/>
              </a:rPr>
              <a:t>인력난 및 운영비 상승 </a:t>
            </a:r>
            <a:endParaRPr lang="en-US" altLang="ko-KR" sz="2400" b="1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pPr marL="0" indent="0">
              <a:buNone/>
            </a:pPr>
            <a:endParaRPr lang="ko-KR" altLang="en-US" b="1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pPr marL="0" indent="0">
              <a:buNone/>
            </a:pPr>
            <a:r>
              <a:rPr lang="en-US" altLang="ko-KR" b="1" dirty="0">
                <a:latin typeface="Noto Sans KR" panose="020B0200000000000000" pitchFamily="50" charset="-127"/>
                <a:ea typeface="Noto Sans KR" panose="020B0200000000000000" pitchFamily="50" charset="-127"/>
              </a:rPr>
              <a:t>	</a:t>
            </a:r>
            <a:r>
              <a:rPr lang="ko-KR" altLang="en-US" sz="2400" b="1" dirty="0">
                <a:latin typeface="Noto Sans KR" panose="020B0200000000000000" pitchFamily="50" charset="-127"/>
                <a:ea typeface="Noto Sans KR" panose="020B0200000000000000" pitchFamily="50" charset="-127"/>
              </a:rPr>
              <a:t>데이터 기반 의사결정 중요성 확대 </a:t>
            </a:r>
          </a:p>
          <a:p>
            <a:endParaRPr lang="ko-KR" altLang="en-US" dirty="0"/>
          </a:p>
        </p:txBody>
      </p:sp>
      <p:pic>
        <p:nvPicPr>
          <p:cNvPr id="5" name="그래픽 4" descr="톱니바퀴 단색으로 채워진">
            <a:extLst>
              <a:ext uri="{FF2B5EF4-FFF2-40B4-BE49-F238E27FC236}">
                <a16:creationId xmlns:a16="http://schemas.microsoft.com/office/drawing/2014/main" id="{E7763735-1678-6CF8-1ECA-88B93D1728E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75817" y="3272742"/>
            <a:ext cx="720000" cy="720000"/>
          </a:xfrm>
          <a:prstGeom prst="rect">
            <a:avLst/>
          </a:prstGeom>
        </p:spPr>
      </p:pic>
      <p:pic>
        <p:nvPicPr>
          <p:cNvPr id="7" name="그래픽 6" descr="연결 단색으로 채워진">
            <a:extLst>
              <a:ext uri="{FF2B5EF4-FFF2-40B4-BE49-F238E27FC236}">
                <a16:creationId xmlns:a16="http://schemas.microsoft.com/office/drawing/2014/main" id="{C3009DCA-8C66-32C5-2F73-A81533B7222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75817" y="2285999"/>
            <a:ext cx="720000" cy="720000"/>
          </a:xfrm>
          <a:prstGeom prst="rect">
            <a:avLst/>
          </a:prstGeom>
        </p:spPr>
      </p:pic>
      <p:pic>
        <p:nvPicPr>
          <p:cNvPr id="12" name="그래픽 11" descr="상향 추세 단색으로 채워진">
            <a:extLst>
              <a:ext uri="{FF2B5EF4-FFF2-40B4-BE49-F238E27FC236}">
                <a16:creationId xmlns:a16="http://schemas.microsoft.com/office/drawing/2014/main" id="{E54E32B0-E30F-3AC7-D09E-B23FED1649BE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82014" y="4372336"/>
            <a:ext cx="720000" cy="7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2409763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957E1282-07AB-0118-5C66-A89F3F66C28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751059" y="863120"/>
            <a:ext cx="6689882" cy="721359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ko-KR" altLang="en-US" sz="3200" b="1" dirty="0"/>
              <a:t>산업계의 주요 문제점 </a:t>
            </a:r>
            <a:r>
              <a:rPr lang="en-US" altLang="ko-KR" sz="3200" b="1" dirty="0"/>
              <a:t>(Pain Point)</a:t>
            </a:r>
            <a:endParaRPr lang="ko-KR" altLang="en-US" dirty="0"/>
          </a:p>
        </p:txBody>
      </p:sp>
      <p:sp>
        <p:nvSpPr>
          <p:cNvPr id="18" name="제목 1">
            <a:extLst>
              <a:ext uri="{FF2B5EF4-FFF2-40B4-BE49-F238E27FC236}">
                <a16:creationId xmlns:a16="http://schemas.microsoft.com/office/drawing/2014/main" id="{75E760EC-4F61-1B65-57B6-93F650479A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2880000" cy="1080000"/>
          </a:xfrm>
        </p:spPr>
        <p:txBody>
          <a:bodyPr/>
          <a:lstStyle/>
          <a:p>
            <a:r>
              <a:rPr lang="ko-KR" altLang="en-US" b="1" dirty="0">
                <a:latin typeface="Noto Sans KR" panose="020B0200000000000000" pitchFamily="50" charset="-127"/>
                <a:ea typeface="Noto Sans KR" panose="020B0200000000000000" pitchFamily="50" charset="-127"/>
              </a:rPr>
              <a:t>   </a:t>
            </a:r>
            <a:r>
              <a:rPr lang="ko-KR" altLang="en-US" sz="3200" dirty="0">
                <a:latin typeface="Noto Sans KR Black" panose="020B0200000000000000" pitchFamily="50" charset="-127"/>
                <a:ea typeface="Noto Sans KR Black" panose="020B0200000000000000" pitchFamily="50" charset="-127"/>
              </a:rPr>
              <a:t>기획의도</a:t>
            </a:r>
            <a:endParaRPr lang="ko-KR" altLang="en-US" sz="3600" dirty="0">
              <a:latin typeface="Noto Sans KR Black" panose="020B0200000000000000" pitchFamily="50" charset="-127"/>
              <a:ea typeface="Noto Sans KR Black" panose="020B0200000000000000" pitchFamily="50" charset="-127"/>
            </a:endParaRPr>
          </a:p>
        </p:txBody>
      </p:sp>
      <p:cxnSp>
        <p:nvCxnSpPr>
          <p:cNvPr id="19" name="직선 연결선 18">
            <a:extLst>
              <a:ext uri="{FF2B5EF4-FFF2-40B4-BE49-F238E27FC236}">
                <a16:creationId xmlns:a16="http://schemas.microsoft.com/office/drawing/2014/main" id="{48AC3EA9-B97E-BE8C-B0AA-C21601B58B2C}"/>
              </a:ext>
            </a:extLst>
          </p:cNvPr>
          <p:cNvCxnSpPr>
            <a:cxnSpLocks/>
          </p:cNvCxnSpPr>
          <p:nvPr/>
        </p:nvCxnSpPr>
        <p:spPr>
          <a:xfrm>
            <a:off x="8069484" y="1673521"/>
            <a:ext cx="0" cy="3600000"/>
          </a:xfrm>
          <a:prstGeom prst="line">
            <a:avLst/>
          </a:prstGeom>
          <a:ln>
            <a:solidFill>
              <a:schemeClr val="bg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TextBox 1">
            <a:extLst>
              <a:ext uri="{FF2B5EF4-FFF2-40B4-BE49-F238E27FC236}">
                <a16:creationId xmlns:a16="http://schemas.microsoft.com/office/drawing/2014/main" id="{1EB0B514-2DF0-CEA7-3C39-A15B45AB7F30}"/>
              </a:ext>
            </a:extLst>
          </p:cNvPr>
          <p:cNvSpPr txBox="1"/>
          <p:nvPr/>
        </p:nvSpPr>
        <p:spPr>
          <a:xfrm>
            <a:off x="542509" y="3290500"/>
            <a:ext cx="3472406" cy="160043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b="1" dirty="0">
                <a:latin typeface="Noto Sans KR" panose="020B0200000000000000" pitchFamily="50" charset="-127"/>
                <a:ea typeface="Noto Sans KR" panose="020B0200000000000000" pitchFamily="50" charset="-127"/>
              </a:rPr>
              <a:t>예약 단계</a:t>
            </a:r>
            <a:endParaRPr lang="en-US" altLang="ko-KR" b="1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pPr algn="ctr"/>
            <a:endParaRPr lang="en-US" altLang="ko-KR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pPr algn="ctr"/>
            <a:r>
              <a:rPr lang="ko-KR" altLang="en-US" dirty="0">
                <a:latin typeface="Noto Sans KR" panose="020B0200000000000000" pitchFamily="50" charset="-127"/>
                <a:ea typeface="Noto Sans KR" panose="020B0200000000000000" pitchFamily="50" charset="-127"/>
              </a:rPr>
              <a:t>인기 객실의 공실 발생 시점을</a:t>
            </a:r>
            <a:endParaRPr lang="en-US" altLang="ko-KR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pPr algn="ctr"/>
            <a:r>
              <a:rPr lang="ko-KR" altLang="en-US" dirty="0">
                <a:latin typeface="Noto Sans KR" panose="020B0200000000000000" pitchFamily="50" charset="-127"/>
                <a:ea typeface="Noto Sans KR" panose="020B0200000000000000" pitchFamily="50" charset="-127"/>
              </a:rPr>
              <a:t>예측하기 어려움</a:t>
            </a:r>
            <a:endParaRPr lang="en-US" altLang="ko-KR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pPr algn="ctr"/>
            <a:r>
              <a:rPr lang="en-US" altLang="ko-KR" sz="8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</a:p>
          <a:p>
            <a:pPr algn="ctr"/>
            <a:r>
              <a:rPr lang="ko-KR" altLang="en-US" dirty="0">
                <a:latin typeface="Noto Sans KR" panose="020B0200000000000000" pitchFamily="50" charset="-127"/>
                <a:ea typeface="Noto Sans KR" panose="020B0200000000000000" pitchFamily="50" charset="-127"/>
              </a:rPr>
              <a:t>고객은 반복적인 </a:t>
            </a:r>
            <a:r>
              <a:rPr lang="ko-KR" altLang="en-US" dirty="0" err="1">
                <a:latin typeface="Noto Sans KR" panose="020B0200000000000000" pitchFamily="50" charset="-127"/>
                <a:ea typeface="Noto Sans KR" panose="020B0200000000000000" pitchFamily="50" charset="-127"/>
              </a:rPr>
              <a:t>새로고침에</a:t>
            </a:r>
            <a:r>
              <a:rPr lang="ko-KR" altLang="en-US" dirty="0">
                <a:latin typeface="Noto Sans KR" panose="020B0200000000000000" pitchFamily="50" charset="-127"/>
                <a:ea typeface="Noto Sans KR" panose="020B0200000000000000" pitchFamily="50" charset="-127"/>
              </a:rPr>
              <a:t> 의존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7C8FC3C-36E4-BBE9-54BA-369C16324B98}"/>
              </a:ext>
            </a:extLst>
          </p:cNvPr>
          <p:cNvSpPr txBox="1"/>
          <p:nvPr/>
        </p:nvSpPr>
        <p:spPr>
          <a:xfrm>
            <a:off x="4359797" y="3290500"/>
            <a:ext cx="3472406" cy="187743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b="1" dirty="0">
                <a:latin typeface="Noto Sans KR" panose="020B0200000000000000" pitchFamily="50" charset="-127"/>
                <a:ea typeface="Noto Sans KR" panose="020B0200000000000000" pitchFamily="50" charset="-127"/>
              </a:rPr>
              <a:t>운영 단계</a:t>
            </a:r>
            <a:endParaRPr lang="en-US" altLang="ko-KR" b="1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pPr algn="ctr"/>
            <a:endParaRPr lang="en-US" altLang="ko-KR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pPr algn="ctr"/>
            <a:r>
              <a:rPr lang="ko-KR" altLang="en-US" dirty="0">
                <a:latin typeface="Noto Sans KR" panose="020B0200000000000000" pitchFamily="50" charset="-127"/>
                <a:ea typeface="Noto Sans KR" panose="020B0200000000000000" pitchFamily="50" charset="-127"/>
              </a:rPr>
              <a:t>공유공간 </a:t>
            </a:r>
            <a:r>
              <a:rPr lang="ko-KR" altLang="en-US" dirty="0" err="1">
                <a:latin typeface="Noto Sans KR" panose="020B0200000000000000" pitchFamily="50" charset="-127"/>
                <a:ea typeface="Noto Sans KR" panose="020B0200000000000000" pitchFamily="50" charset="-127"/>
              </a:rPr>
              <a:t>노쇼</a:t>
            </a:r>
            <a:r>
              <a:rPr lang="ko-KR" altLang="en-US" dirty="0">
                <a:latin typeface="Noto Sans KR" panose="020B0200000000000000" pitchFamily="50" charset="-127"/>
                <a:ea typeface="Noto Sans KR" panose="020B0200000000000000" pitchFamily="50" charset="-127"/>
              </a:rPr>
              <a:t> 및 장시간</a:t>
            </a:r>
            <a:endParaRPr lang="en-US" altLang="ko-KR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pPr algn="ctr"/>
            <a:r>
              <a:rPr lang="ko-KR" altLang="en-US" dirty="0" err="1">
                <a:latin typeface="Noto Sans KR" panose="020B0200000000000000" pitchFamily="50" charset="-127"/>
                <a:ea typeface="Noto Sans KR" panose="020B0200000000000000" pitchFamily="50" charset="-127"/>
              </a:rPr>
              <a:t>자리비움</a:t>
            </a:r>
            <a:r>
              <a:rPr lang="ko-KR" altLang="en-US" dirty="0">
                <a:latin typeface="Noto Sans KR" panose="020B0200000000000000" pitchFamily="50" charset="-127"/>
                <a:ea typeface="Noto Sans KR" panose="020B0200000000000000" pitchFamily="50" charset="-127"/>
              </a:rPr>
              <a:t> 발생</a:t>
            </a:r>
            <a:endParaRPr lang="en-US" altLang="ko-KR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pPr algn="ctr"/>
            <a:r>
              <a:rPr lang="en-US" altLang="ko-KR" sz="8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</a:p>
          <a:p>
            <a:pPr algn="ctr"/>
            <a:r>
              <a:rPr lang="ko-KR" altLang="en-US" dirty="0">
                <a:latin typeface="Noto Sans KR" panose="020B0200000000000000" pitchFamily="50" charset="-127"/>
                <a:ea typeface="Noto Sans KR" panose="020B0200000000000000" pitchFamily="50" charset="-127"/>
              </a:rPr>
              <a:t>실제 이용 현황 파악이 어려워</a:t>
            </a:r>
            <a:endParaRPr lang="en-US" altLang="ko-KR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pPr algn="ctr"/>
            <a:r>
              <a:rPr lang="ko-KR" altLang="en-US" dirty="0">
                <a:latin typeface="Noto Sans KR" panose="020B0200000000000000" pitchFamily="50" charset="-127"/>
                <a:ea typeface="Noto Sans KR" panose="020B0200000000000000" pitchFamily="50" charset="-127"/>
              </a:rPr>
              <a:t>자원 활용률 저하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E7ADC82-A028-FEBB-1CCD-3F950B7D1EFA}"/>
              </a:ext>
            </a:extLst>
          </p:cNvPr>
          <p:cNvSpPr txBox="1"/>
          <p:nvPr/>
        </p:nvSpPr>
        <p:spPr>
          <a:xfrm>
            <a:off x="8177085" y="3290500"/>
            <a:ext cx="3472406" cy="160043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b="1" dirty="0">
                <a:latin typeface="Noto Sans KR" panose="020B0200000000000000" pitchFamily="50" charset="-127"/>
                <a:ea typeface="Noto Sans KR" panose="020B0200000000000000" pitchFamily="50" charset="-127"/>
              </a:rPr>
              <a:t>응대 단계</a:t>
            </a:r>
            <a:endParaRPr lang="en-US" altLang="ko-KR" b="1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pPr algn="ctr"/>
            <a:endParaRPr lang="en-US" altLang="ko-KR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pPr algn="ctr"/>
            <a:r>
              <a:rPr lang="ko-KR" altLang="en-US" dirty="0">
                <a:latin typeface="Noto Sans KR" panose="020B0200000000000000" pitchFamily="50" charset="-127"/>
                <a:ea typeface="Noto Sans KR" panose="020B0200000000000000" pitchFamily="50" charset="-127"/>
              </a:rPr>
              <a:t>반복 문의 응대로 인한 업무 과중</a:t>
            </a:r>
            <a:endParaRPr lang="en-US" altLang="ko-KR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pPr algn="ctr"/>
            <a:r>
              <a:rPr lang="en-US" altLang="ko-KR" sz="8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</a:p>
          <a:p>
            <a:pPr algn="ctr"/>
            <a:r>
              <a:rPr lang="ko-KR" altLang="en-US" dirty="0">
                <a:latin typeface="Noto Sans KR" panose="020B0200000000000000" pitchFamily="50" charset="-127"/>
                <a:ea typeface="Noto Sans KR" panose="020B0200000000000000" pitchFamily="50" charset="-127"/>
              </a:rPr>
              <a:t>신입 직원의 규정 숙지 부족으로</a:t>
            </a:r>
            <a:endParaRPr lang="en-US" altLang="ko-KR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pPr algn="ctr"/>
            <a:r>
              <a:rPr lang="ko-KR" altLang="en-US" dirty="0">
                <a:latin typeface="Noto Sans KR" panose="020B0200000000000000" pitchFamily="50" charset="-127"/>
                <a:ea typeface="Noto Sans KR" panose="020B0200000000000000" pitchFamily="50" charset="-127"/>
              </a:rPr>
              <a:t>서비스 품질 편차 발생</a:t>
            </a:r>
          </a:p>
        </p:txBody>
      </p:sp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912673CB-0BFE-6405-A524-20EB34C65411}"/>
              </a:ext>
            </a:extLst>
          </p:cNvPr>
          <p:cNvCxnSpPr>
            <a:cxnSpLocks/>
          </p:cNvCxnSpPr>
          <p:nvPr/>
        </p:nvCxnSpPr>
        <p:spPr>
          <a:xfrm>
            <a:off x="4217044" y="1673521"/>
            <a:ext cx="0" cy="3600000"/>
          </a:xfrm>
          <a:prstGeom prst="line">
            <a:avLst/>
          </a:prstGeom>
          <a:ln>
            <a:solidFill>
              <a:schemeClr val="bg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내용 개체 틀 3">
            <a:extLst>
              <a:ext uri="{FF2B5EF4-FFF2-40B4-BE49-F238E27FC236}">
                <a16:creationId xmlns:a16="http://schemas.microsoft.com/office/drawing/2014/main" id="{84444944-A590-0DD2-0F0A-88731987A6C4}"/>
              </a:ext>
            </a:extLst>
          </p:cNvPr>
          <p:cNvSpPr txBox="1">
            <a:spLocks/>
          </p:cNvSpPr>
          <p:nvPr/>
        </p:nvSpPr>
        <p:spPr>
          <a:xfrm>
            <a:off x="1232775" y="5852259"/>
            <a:ext cx="9726450" cy="568764"/>
          </a:xfrm>
          <a:prstGeom prst="rect">
            <a:avLst/>
          </a:prstGeom>
          <a:ln>
            <a:solidFill>
              <a:srgbClr val="BAAD9D"/>
            </a:solidFill>
          </a:ln>
        </p:spPr>
        <p:txBody>
          <a:bodyPr vert="horz" lIns="91440" tIns="45720" rIns="91440" bIns="45720" rtlCol="0" anchor="ctr" anchorCtr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ko-KR" altLang="en-US" b="1" dirty="0">
                <a:latin typeface="Noto Sans KR" panose="020B0200000000000000" pitchFamily="50" charset="-127"/>
                <a:ea typeface="Noto Sans KR" panose="020B0200000000000000" pitchFamily="50" charset="-127"/>
              </a:rPr>
              <a:t>결과</a:t>
            </a:r>
            <a:r>
              <a:rPr lang="en-US" altLang="ko-KR" b="1" dirty="0">
                <a:latin typeface="Noto Sans KR" panose="020B0200000000000000" pitchFamily="50" charset="-127"/>
                <a:ea typeface="Noto Sans KR" panose="020B0200000000000000" pitchFamily="50" charset="-127"/>
              </a:rPr>
              <a:t>: </a:t>
            </a:r>
            <a:r>
              <a:rPr lang="ko-KR" altLang="en-US" b="1" dirty="0">
                <a:latin typeface="Noto Sans KR" panose="020B0200000000000000" pitchFamily="50" charset="-127"/>
                <a:ea typeface="Noto Sans KR" panose="020B0200000000000000" pitchFamily="50" charset="-127"/>
              </a:rPr>
              <a:t>자원 활용 효율 저하</a:t>
            </a:r>
            <a:r>
              <a:rPr lang="en-US" altLang="ko-KR" b="1" dirty="0">
                <a:latin typeface="Noto Sans KR" panose="020B0200000000000000" pitchFamily="50" charset="-127"/>
                <a:ea typeface="Noto Sans KR" panose="020B0200000000000000" pitchFamily="50" charset="-127"/>
              </a:rPr>
              <a:t>, </a:t>
            </a:r>
            <a:r>
              <a:rPr lang="ko-KR" altLang="en-US" b="1" dirty="0">
                <a:latin typeface="Noto Sans KR" panose="020B0200000000000000" pitchFamily="50" charset="-127"/>
                <a:ea typeface="Noto Sans KR" panose="020B0200000000000000" pitchFamily="50" charset="-127"/>
              </a:rPr>
              <a:t>운영 비용 증가</a:t>
            </a:r>
            <a:r>
              <a:rPr lang="en-US" altLang="ko-KR" b="1" dirty="0">
                <a:latin typeface="Noto Sans KR" panose="020B0200000000000000" pitchFamily="50" charset="-127"/>
                <a:ea typeface="Noto Sans KR" panose="020B0200000000000000" pitchFamily="50" charset="-127"/>
              </a:rPr>
              <a:t>, </a:t>
            </a:r>
            <a:r>
              <a:rPr lang="ko-KR" altLang="en-US" b="1" dirty="0">
                <a:latin typeface="Noto Sans KR" panose="020B0200000000000000" pitchFamily="50" charset="-127"/>
                <a:ea typeface="Noto Sans KR" panose="020B0200000000000000" pitchFamily="50" charset="-127"/>
              </a:rPr>
              <a:t>고객 경험 악화</a:t>
            </a:r>
            <a:endParaRPr lang="ko-KR" altLang="en-US" sz="2400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pic>
        <p:nvPicPr>
          <p:cNvPr id="9" name="그래픽 8" descr="일일 일정표 단색으로 채워진">
            <a:extLst>
              <a:ext uri="{FF2B5EF4-FFF2-40B4-BE49-F238E27FC236}">
                <a16:creationId xmlns:a16="http://schemas.microsoft.com/office/drawing/2014/main" id="{DE8D5902-6EA3-DFA7-80AE-2F4B689016C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738712" y="1943120"/>
            <a:ext cx="1080000" cy="1080000"/>
          </a:xfrm>
          <a:prstGeom prst="rect">
            <a:avLst/>
          </a:prstGeom>
        </p:spPr>
      </p:pic>
      <p:pic>
        <p:nvPicPr>
          <p:cNvPr id="11" name="그래픽 10" descr="체크리스트 단색으로 채워진">
            <a:extLst>
              <a:ext uri="{FF2B5EF4-FFF2-40B4-BE49-F238E27FC236}">
                <a16:creationId xmlns:a16="http://schemas.microsoft.com/office/drawing/2014/main" id="{600F3796-7DAD-728D-AB99-5BBB7D94C09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556000" y="1943120"/>
            <a:ext cx="1080000" cy="1080000"/>
          </a:xfrm>
          <a:prstGeom prst="rect">
            <a:avLst/>
          </a:prstGeom>
        </p:spPr>
      </p:pic>
      <p:pic>
        <p:nvPicPr>
          <p:cNvPr id="13" name="그래픽 12" descr="말풍선 단색으로 채워진">
            <a:extLst>
              <a:ext uri="{FF2B5EF4-FFF2-40B4-BE49-F238E27FC236}">
                <a16:creationId xmlns:a16="http://schemas.microsoft.com/office/drawing/2014/main" id="{A0DCD37F-CD18-F83B-F45C-01DCD60ECCA7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9373288" y="1897489"/>
            <a:ext cx="1080000" cy="1080000"/>
          </a:xfrm>
          <a:prstGeom prst="rect">
            <a:avLst/>
          </a:prstGeom>
        </p:spPr>
      </p:pic>
      <p:sp>
        <p:nvSpPr>
          <p:cNvPr id="22" name="화살표: 아래쪽 21">
            <a:extLst>
              <a:ext uri="{FF2B5EF4-FFF2-40B4-BE49-F238E27FC236}">
                <a16:creationId xmlns:a16="http://schemas.microsoft.com/office/drawing/2014/main" id="{CCF707C9-C142-E367-35C2-641A557B6899}"/>
              </a:ext>
            </a:extLst>
          </p:cNvPr>
          <p:cNvSpPr/>
          <p:nvPr/>
        </p:nvSpPr>
        <p:spPr>
          <a:xfrm>
            <a:off x="5874152" y="5273521"/>
            <a:ext cx="410897" cy="473154"/>
          </a:xfrm>
          <a:prstGeom prst="downArrow">
            <a:avLst/>
          </a:prstGeom>
          <a:noFill/>
          <a:ln>
            <a:solidFill>
              <a:srgbClr val="BAAD9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noFill/>
            </a:endParaRPr>
          </a:p>
        </p:txBody>
      </p:sp>
    </p:spTree>
    <p:extLst>
      <p:ext uri="{BB962C8B-B14F-4D97-AF65-F5344CB8AC3E}">
        <p14:creationId xmlns:p14="http://schemas.microsoft.com/office/powerpoint/2010/main" val="363312704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제목 1">
            <a:extLst>
              <a:ext uri="{FF2B5EF4-FFF2-40B4-BE49-F238E27FC236}">
                <a16:creationId xmlns:a16="http://schemas.microsoft.com/office/drawing/2014/main" id="{ED8C13AE-58CC-AB73-2319-A77D93DB84A2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2880000" cy="1080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ko-KR" altLang="en-US" b="1" dirty="0">
                <a:latin typeface="Noto Sans KR" panose="020B0200000000000000" pitchFamily="50" charset="-127"/>
                <a:ea typeface="Noto Sans KR" panose="020B0200000000000000" pitchFamily="50" charset="-127"/>
              </a:rPr>
              <a:t>   </a:t>
            </a:r>
            <a:r>
              <a:rPr lang="ko-KR" altLang="en-US" sz="3200" b="1" dirty="0">
                <a:latin typeface="Noto Sans KR Black" panose="020B0200000000000000" pitchFamily="50" charset="-127"/>
                <a:ea typeface="Noto Sans KR Black" panose="020B0200000000000000" pitchFamily="50" charset="-127"/>
              </a:rPr>
              <a:t>개발목표</a:t>
            </a:r>
            <a:endParaRPr lang="ko-KR" altLang="en-US" sz="3600" dirty="0">
              <a:latin typeface="Noto Sans KR Black" panose="020B0200000000000000" pitchFamily="50" charset="-127"/>
              <a:ea typeface="Noto Sans KR Black" panose="020B0200000000000000" pitchFamily="50" charset="-127"/>
            </a:endParaRPr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5F5C63D0-3CD6-1ED7-15B4-18E9A9435D3E}"/>
              </a:ext>
            </a:extLst>
          </p:cNvPr>
          <p:cNvCxnSpPr>
            <a:cxnSpLocks/>
          </p:cNvCxnSpPr>
          <p:nvPr/>
        </p:nvCxnSpPr>
        <p:spPr>
          <a:xfrm>
            <a:off x="8069484" y="1673521"/>
            <a:ext cx="0" cy="3600000"/>
          </a:xfrm>
          <a:prstGeom prst="line">
            <a:avLst/>
          </a:prstGeom>
          <a:ln>
            <a:solidFill>
              <a:schemeClr val="bg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079B4C7B-717D-DE28-A6AB-3377892DB884}"/>
              </a:ext>
            </a:extLst>
          </p:cNvPr>
          <p:cNvSpPr txBox="1"/>
          <p:nvPr/>
        </p:nvSpPr>
        <p:spPr>
          <a:xfrm>
            <a:off x="601886" y="1974424"/>
            <a:ext cx="3472406" cy="299819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6600" b="1" dirty="0">
                <a:solidFill>
                  <a:srgbClr val="BAAD9D"/>
                </a:solidFill>
                <a:latin typeface="Noto Serif KR Black" panose="02020200000000000000" pitchFamily="18" charset="-127"/>
                <a:ea typeface="Noto Serif KR Black" panose="02020200000000000000" pitchFamily="18" charset="-127"/>
              </a:rPr>
              <a:t>01.</a:t>
            </a:r>
          </a:p>
          <a:p>
            <a:endParaRPr lang="en-US" altLang="ko-KR" b="1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r>
              <a:rPr lang="ko-KR" altLang="en-US" b="1" dirty="0">
                <a:latin typeface="Noto Sans KR" panose="020B0200000000000000" pitchFamily="50" charset="-127"/>
                <a:ea typeface="Noto Sans KR" panose="020B0200000000000000" pitchFamily="50" charset="-127"/>
              </a:rPr>
              <a:t>예약 의사결정 지원</a:t>
            </a:r>
            <a:endParaRPr lang="en-US" altLang="ko-KR" b="1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r>
              <a:rPr lang="en-US" altLang="ko-KR" sz="3200" b="1" dirty="0"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endParaRPr lang="en-US" altLang="ko-KR" sz="3200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pPr>
              <a:lnSpc>
                <a:spcPct val="150000"/>
              </a:lnSpc>
            </a:pPr>
            <a:r>
              <a:rPr lang="en-US" altLang="ko-KR" dirty="0">
                <a:latin typeface="Noto Sans KR" panose="020B0200000000000000" pitchFamily="50" charset="-127"/>
                <a:ea typeface="Noto Sans KR" panose="020B0200000000000000" pitchFamily="50" charset="-127"/>
              </a:rPr>
              <a:t>AI </a:t>
            </a:r>
            <a:r>
              <a:rPr lang="ko-KR" altLang="en-US" dirty="0">
                <a:latin typeface="Noto Sans KR" panose="020B0200000000000000" pitchFamily="50" charset="-127"/>
                <a:ea typeface="Noto Sans KR" panose="020B0200000000000000" pitchFamily="50" charset="-127"/>
              </a:rPr>
              <a:t>기반 취소 확률 예측</a:t>
            </a:r>
            <a:endParaRPr lang="en-US" altLang="ko-KR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pPr>
              <a:lnSpc>
                <a:spcPct val="150000"/>
              </a:lnSpc>
            </a:pPr>
            <a:r>
              <a:rPr lang="ko-KR" altLang="en-US" dirty="0">
                <a:latin typeface="Noto Sans KR" panose="020B0200000000000000" pitchFamily="50" charset="-127"/>
                <a:ea typeface="Noto Sans KR" panose="020B0200000000000000" pitchFamily="50" charset="-127"/>
              </a:rPr>
              <a:t>실시간 예약 모니터링 제공</a:t>
            </a:r>
            <a:endParaRPr lang="en-US" altLang="ko-KR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cxnSp>
        <p:nvCxnSpPr>
          <p:cNvPr id="12" name="직선 연결선 11">
            <a:extLst>
              <a:ext uri="{FF2B5EF4-FFF2-40B4-BE49-F238E27FC236}">
                <a16:creationId xmlns:a16="http://schemas.microsoft.com/office/drawing/2014/main" id="{C8DBC1E4-4B2D-CECE-2853-06D00D905AAD}"/>
              </a:ext>
            </a:extLst>
          </p:cNvPr>
          <p:cNvCxnSpPr>
            <a:cxnSpLocks/>
          </p:cNvCxnSpPr>
          <p:nvPr/>
        </p:nvCxnSpPr>
        <p:spPr>
          <a:xfrm>
            <a:off x="4217044" y="1673521"/>
            <a:ext cx="0" cy="3600000"/>
          </a:xfrm>
          <a:prstGeom prst="line">
            <a:avLst/>
          </a:prstGeom>
          <a:ln>
            <a:solidFill>
              <a:schemeClr val="bg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6A7153A9-F302-54FF-FF3F-946D4ECE0489}"/>
              </a:ext>
            </a:extLst>
          </p:cNvPr>
          <p:cNvSpPr txBox="1"/>
          <p:nvPr/>
        </p:nvSpPr>
        <p:spPr>
          <a:xfrm>
            <a:off x="4359797" y="1974424"/>
            <a:ext cx="3472406" cy="293663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6600" b="1" dirty="0">
                <a:solidFill>
                  <a:srgbClr val="BAAD9D"/>
                </a:solidFill>
                <a:latin typeface="Noto Serif KR Black" panose="02020200000000000000" pitchFamily="18" charset="-127"/>
                <a:ea typeface="Noto Serif KR Black" panose="02020200000000000000" pitchFamily="18" charset="-127"/>
              </a:rPr>
              <a:t>02.</a:t>
            </a:r>
          </a:p>
          <a:p>
            <a:endParaRPr lang="en-US" altLang="ko-KR" b="1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r>
              <a:rPr lang="ko-KR" altLang="en-US" b="1" dirty="0">
                <a:latin typeface="Noto Sans KR" panose="020B0200000000000000" pitchFamily="50" charset="-127"/>
                <a:ea typeface="Noto Sans KR" panose="020B0200000000000000" pitchFamily="50" charset="-127"/>
              </a:rPr>
              <a:t>공간 운영 효율화</a:t>
            </a:r>
            <a:endParaRPr lang="en-US" altLang="ko-KR" b="1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r>
              <a:rPr lang="en-US" altLang="ko-KR" sz="3200" b="1" dirty="0"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endParaRPr lang="en-US" altLang="ko-KR" sz="3200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pPr>
              <a:lnSpc>
                <a:spcPct val="150000"/>
              </a:lnSpc>
            </a:pPr>
            <a:r>
              <a:rPr lang="ko-KR" altLang="en-US" dirty="0" err="1">
                <a:latin typeface="Noto Sans KR" panose="020B0200000000000000" pitchFamily="50" charset="-127"/>
                <a:ea typeface="Noto Sans KR" panose="020B0200000000000000" pitchFamily="50" charset="-127"/>
              </a:rPr>
              <a:t>노쇼</a:t>
            </a:r>
            <a:r>
              <a:rPr lang="ko-KR" altLang="en-US" dirty="0">
                <a:latin typeface="Noto Sans KR" panose="020B0200000000000000" pitchFamily="50" charset="-127"/>
                <a:ea typeface="Noto Sans KR" panose="020B0200000000000000" pitchFamily="50" charset="-127"/>
              </a:rPr>
              <a:t> 및 </a:t>
            </a:r>
            <a:r>
              <a:rPr lang="ko-KR" altLang="en-US" dirty="0" err="1">
                <a:latin typeface="Noto Sans KR" panose="020B0200000000000000" pitchFamily="50" charset="-127"/>
                <a:ea typeface="Noto Sans KR" panose="020B0200000000000000" pitchFamily="50" charset="-127"/>
              </a:rPr>
              <a:t>자리비움</a:t>
            </a:r>
            <a:r>
              <a:rPr lang="ko-KR" altLang="en-US" dirty="0">
                <a:latin typeface="Noto Sans KR" panose="020B0200000000000000" pitchFamily="50" charset="-127"/>
                <a:ea typeface="Noto Sans KR" panose="020B0200000000000000" pitchFamily="50" charset="-127"/>
              </a:rPr>
              <a:t> 자동 판별</a:t>
            </a:r>
            <a:endParaRPr lang="en-US" altLang="ko-KR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pPr>
              <a:lnSpc>
                <a:spcPct val="150000"/>
              </a:lnSpc>
            </a:pPr>
            <a:r>
              <a:rPr lang="ko-KR" altLang="en-US" dirty="0">
                <a:latin typeface="Noto Sans KR" panose="020B0200000000000000" pitchFamily="50" charset="-127"/>
                <a:ea typeface="Noto Sans KR" panose="020B0200000000000000" pitchFamily="50" charset="-127"/>
              </a:rPr>
              <a:t>공간 활용 데이터 확보</a:t>
            </a:r>
            <a:endParaRPr lang="en-US" altLang="ko-KR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8B85F253-4135-DC25-6F9F-0A473D38A15E}"/>
              </a:ext>
            </a:extLst>
          </p:cNvPr>
          <p:cNvSpPr txBox="1"/>
          <p:nvPr/>
        </p:nvSpPr>
        <p:spPr>
          <a:xfrm>
            <a:off x="8449518" y="1929903"/>
            <a:ext cx="3472406" cy="293663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6600" b="1" dirty="0">
                <a:solidFill>
                  <a:srgbClr val="BAAD9D"/>
                </a:solidFill>
                <a:latin typeface="Noto Serif KR Black" panose="02020200000000000000" pitchFamily="18" charset="-127"/>
                <a:ea typeface="Noto Serif KR Black" panose="02020200000000000000" pitchFamily="18" charset="-127"/>
              </a:rPr>
              <a:t>03.</a:t>
            </a:r>
          </a:p>
          <a:p>
            <a:endParaRPr lang="en-US" altLang="ko-KR" b="1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r>
              <a:rPr lang="ko-KR" altLang="en-US" b="1" dirty="0">
                <a:latin typeface="Noto Sans KR" panose="020B0200000000000000" pitchFamily="50" charset="-127"/>
                <a:ea typeface="Noto Sans KR" panose="020B0200000000000000" pitchFamily="50" charset="-127"/>
              </a:rPr>
              <a:t>고객 및 직원 응대 자동화</a:t>
            </a:r>
            <a:endParaRPr lang="en-US" altLang="ko-KR" b="1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r>
              <a:rPr lang="en-US" altLang="ko-KR" sz="3200" b="1" dirty="0"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endParaRPr lang="en-US" altLang="ko-KR" sz="3200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pPr>
              <a:lnSpc>
                <a:spcPct val="150000"/>
              </a:lnSpc>
            </a:pPr>
            <a:r>
              <a:rPr lang="ko-KR" altLang="en-US" dirty="0">
                <a:latin typeface="Noto Sans KR" panose="020B0200000000000000" pitchFamily="50" charset="-127"/>
                <a:ea typeface="Noto Sans KR" panose="020B0200000000000000" pitchFamily="50" charset="-127"/>
              </a:rPr>
              <a:t>호텔 규정 안내 </a:t>
            </a:r>
            <a:r>
              <a:rPr lang="ko-KR" altLang="en-US" dirty="0" err="1">
                <a:latin typeface="Noto Sans KR" panose="020B0200000000000000" pitchFamily="50" charset="-127"/>
                <a:ea typeface="Noto Sans KR" panose="020B0200000000000000" pitchFamily="50" charset="-127"/>
              </a:rPr>
              <a:t>챗봇</a:t>
            </a:r>
            <a:r>
              <a:rPr lang="ko-KR" altLang="en-US" dirty="0">
                <a:latin typeface="Noto Sans KR" panose="020B0200000000000000" pitchFamily="50" charset="-127"/>
                <a:ea typeface="Noto Sans KR" panose="020B0200000000000000" pitchFamily="50" charset="-127"/>
              </a:rPr>
              <a:t> 제공</a:t>
            </a:r>
            <a:endParaRPr lang="en-US" altLang="ko-KR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pPr>
              <a:lnSpc>
                <a:spcPct val="150000"/>
              </a:lnSpc>
            </a:pPr>
            <a:r>
              <a:rPr lang="ko-KR" altLang="en-US" dirty="0">
                <a:latin typeface="Noto Sans KR" panose="020B0200000000000000" pitchFamily="50" charset="-127"/>
                <a:ea typeface="Noto Sans KR" panose="020B0200000000000000" pitchFamily="50" charset="-127"/>
              </a:rPr>
              <a:t>매뉴얼 검색 자동화</a:t>
            </a:r>
            <a:endParaRPr lang="en-US" altLang="ko-KR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18085573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제목 1">
            <a:extLst>
              <a:ext uri="{FF2B5EF4-FFF2-40B4-BE49-F238E27FC236}">
                <a16:creationId xmlns:a16="http://schemas.microsoft.com/office/drawing/2014/main" id="{ED8C13AE-58CC-AB73-2319-A77D93DB84A2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3600000" cy="1080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ko-KR" altLang="en-US" b="1" dirty="0">
                <a:latin typeface="Noto Sans KR" panose="020B0200000000000000" pitchFamily="50" charset="-127"/>
                <a:ea typeface="Noto Sans KR" panose="020B0200000000000000" pitchFamily="50" charset="-127"/>
              </a:rPr>
              <a:t>   </a:t>
            </a:r>
            <a:r>
              <a:rPr lang="ko-KR" altLang="en-US" sz="3200" b="1" dirty="0">
                <a:latin typeface="Noto Sans KR Black" panose="020B0200000000000000" pitchFamily="50" charset="-127"/>
                <a:ea typeface="Noto Sans KR Black" panose="020B0200000000000000" pitchFamily="50" charset="-127"/>
              </a:rPr>
              <a:t>사용기술 목록</a:t>
            </a:r>
            <a:endParaRPr lang="ko-KR" altLang="en-US" sz="3600" dirty="0">
              <a:latin typeface="Noto Sans KR Black" panose="020B0200000000000000" pitchFamily="50" charset="-127"/>
              <a:ea typeface="Noto Sans KR Black" panose="020B0200000000000000" pitchFamily="50" charset="-127"/>
            </a:endParaRPr>
          </a:p>
        </p:txBody>
      </p:sp>
      <p:sp>
        <p:nvSpPr>
          <p:cNvPr id="13" name="내용 개체 틀 12">
            <a:extLst>
              <a:ext uri="{FF2B5EF4-FFF2-40B4-BE49-F238E27FC236}">
                <a16:creationId xmlns:a16="http://schemas.microsoft.com/office/drawing/2014/main" id="{C22C2BEC-F8F5-CD3B-3C01-477C6B69F22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387508" y="1174834"/>
            <a:ext cx="3600000" cy="5040000"/>
          </a:xfrm>
          <a:ln>
            <a:solidFill>
              <a:srgbClr val="8D775C"/>
            </a:solidFill>
          </a:ln>
        </p:spPr>
        <p:txBody>
          <a:bodyPr anchor="ctr" anchorCtr="0">
            <a:norm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en-US" altLang="ko-KR" sz="1000" b="1" dirty="0">
                <a:latin typeface="Noto Sans KR" panose="020B0200000000000000" pitchFamily="50" charset="-127"/>
                <a:ea typeface="Noto Sans KR" panose="020B0200000000000000" pitchFamily="50" charset="-127"/>
              </a:rPr>
              <a:t>1. </a:t>
            </a:r>
            <a:r>
              <a:rPr lang="ko-KR" altLang="en-US" sz="1000" b="1" dirty="0">
                <a:latin typeface="Noto Sans KR" panose="020B0200000000000000" pitchFamily="50" charset="-127"/>
                <a:ea typeface="Noto Sans KR" panose="020B0200000000000000" pitchFamily="50" charset="-127"/>
              </a:rPr>
              <a:t>언어 및 프레임워크</a:t>
            </a:r>
            <a:endParaRPr lang="en-US" altLang="ko-KR" sz="1000" b="1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pPr marL="0" indent="0">
              <a:lnSpc>
                <a:spcPct val="100000"/>
              </a:lnSpc>
              <a:buNone/>
            </a:pPr>
            <a:r>
              <a:rPr lang="en-US" altLang="ko-KR" sz="10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Python — v3.11.9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US" altLang="ko-KR" sz="10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Flask — v3.0.3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US" altLang="ko-KR" sz="10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HTML5 / CSS3 / JavaScript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US" altLang="ko-KR" sz="1000" b="1" dirty="0">
                <a:latin typeface="Noto Sans KR" panose="020B0200000000000000" pitchFamily="50" charset="-127"/>
                <a:ea typeface="Noto Sans KR" panose="020B0200000000000000" pitchFamily="50" charset="-127"/>
              </a:rPr>
              <a:t>2. </a:t>
            </a:r>
            <a:r>
              <a:rPr lang="ko-KR" altLang="en-US" sz="1000" b="1" dirty="0">
                <a:latin typeface="Noto Sans KR" panose="020B0200000000000000" pitchFamily="50" charset="-127"/>
                <a:ea typeface="Noto Sans KR" panose="020B0200000000000000" pitchFamily="50" charset="-127"/>
              </a:rPr>
              <a:t>데이터베이스 및 연동</a:t>
            </a:r>
            <a:endParaRPr lang="en-US" altLang="ko-KR" sz="1000" b="1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pPr marL="0" indent="0">
              <a:lnSpc>
                <a:spcPct val="100000"/>
              </a:lnSpc>
              <a:buNone/>
            </a:pPr>
            <a:r>
              <a:rPr lang="en-US" altLang="ko-KR" sz="10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Oracle Database Express Edition — 11g Release 2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US" altLang="ko-KR" sz="10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Oracle Instant Client — v19.25.0.0.0 (Thick Mode </a:t>
            </a:r>
            <a:r>
              <a:rPr lang="ko-KR" altLang="en-US" sz="10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지원</a:t>
            </a:r>
            <a:r>
              <a:rPr lang="en-US" altLang="ko-KR" sz="10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)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US" altLang="ko-KR" sz="1000" dirty="0" err="1">
                <a:latin typeface="Noto Sans KR" panose="020B0200000000000000" pitchFamily="50" charset="-127"/>
                <a:ea typeface="Noto Sans KR" panose="020B0200000000000000" pitchFamily="50" charset="-127"/>
              </a:rPr>
              <a:t>oracledb</a:t>
            </a:r>
            <a:r>
              <a:rPr lang="en-US" altLang="ko-KR" sz="10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 (Python Library) — v1.4.2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US" altLang="ko-KR" sz="10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SQL Developer — v19.2.1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US" altLang="ko-KR" sz="1000" b="1" dirty="0">
                <a:latin typeface="Noto Sans KR" panose="020B0200000000000000" pitchFamily="50" charset="-127"/>
                <a:ea typeface="Noto Sans KR" panose="020B0200000000000000" pitchFamily="50" charset="-127"/>
              </a:rPr>
              <a:t>3. </a:t>
            </a:r>
            <a:r>
              <a:rPr lang="ko-KR" altLang="en-US" sz="1000" b="1" dirty="0">
                <a:latin typeface="Noto Sans KR" panose="020B0200000000000000" pitchFamily="50" charset="-127"/>
                <a:ea typeface="Noto Sans KR" panose="020B0200000000000000" pitchFamily="50" charset="-127"/>
              </a:rPr>
              <a:t>데이터 분석 및 </a:t>
            </a:r>
            <a:r>
              <a:rPr lang="ko-KR" altLang="en-US" sz="1000" b="1" dirty="0" err="1">
                <a:latin typeface="Noto Sans KR" panose="020B0200000000000000" pitchFamily="50" charset="-127"/>
                <a:ea typeface="Noto Sans KR" panose="020B0200000000000000" pitchFamily="50" charset="-127"/>
              </a:rPr>
              <a:t>머신러닝</a:t>
            </a:r>
            <a:endParaRPr lang="en-US" altLang="ko-KR" sz="1000" b="1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pPr marL="0" indent="0">
              <a:lnSpc>
                <a:spcPct val="100000"/>
              </a:lnSpc>
              <a:buNone/>
            </a:pPr>
            <a:r>
              <a:rPr lang="en-US" altLang="ko-KR" sz="10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scikit-learn — v1.8.0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US" altLang="ko-KR" sz="10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pandas — v3.0.3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US" altLang="ko-KR" sz="1000" dirty="0" err="1">
                <a:latin typeface="Noto Sans KR" panose="020B0200000000000000" pitchFamily="50" charset="-127"/>
                <a:ea typeface="Noto Sans KR" panose="020B0200000000000000" pitchFamily="50" charset="-127"/>
              </a:rPr>
              <a:t>numpy</a:t>
            </a:r>
            <a:r>
              <a:rPr lang="en-US" altLang="ko-KR" sz="10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 — v2.4.4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US" altLang="ko-KR" sz="1000" dirty="0" err="1">
                <a:latin typeface="Noto Sans KR" panose="020B0200000000000000" pitchFamily="50" charset="-127"/>
                <a:ea typeface="Noto Sans KR" panose="020B0200000000000000" pitchFamily="50" charset="-127"/>
              </a:rPr>
              <a:t>scipy</a:t>
            </a:r>
            <a:r>
              <a:rPr lang="en-US" altLang="ko-KR" sz="10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 — v1.17.1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US" altLang="ko-KR" sz="1000" dirty="0" err="1">
                <a:latin typeface="Noto Sans KR" panose="020B0200000000000000" pitchFamily="50" charset="-127"/>
                <a:ea typeface="Noto Sans KR" panose="020B0200000000000000" pitchFamily="50" charset="-127"/>
              </a:rPr>
              <a:t>joblib</a:t>
            </a:r>
            <a:r>
              <a:rPr lang="en-US" altLang="ko-KR" sz="10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 — v1.5.3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US" altLang="ko-KR" sz="1000" b="1" dirty="0">
                <a:latin typeface="Noto Sans KR" panose="020B0200000000000000" pitchFamily="50" charset="-127"/>
                <a:ea typeface="Noto Sans KR" panose="020B0200000000000000" pitchFamily="50" charset="-127"/>
              </a:rPr>
              <a:t>4. </a:t>
            </a:r>
            <a:r>
              <a:rPr lang="ko-KR" altLang="en-US" sz="1000" b="1" dirty="0">
                <a:latin typeface="Noto Sans KR" panose="020B0200000000000000" pitchFamily="50" charset="-127"/>
                <a:ea typeface="Noto Sans KR" panose="020B0200000000000000" pitchFamily="50" charset="-127"/>
              </a:rPr>
              <a:t>개발 도구 </a:t>
            </a:r>
            <a:r>
              <a:rPr lang="en-US" altLang="ko-KR" sz="1000" b="1" dirty="0">
                <a:latin typeface="Noto Sans KR" panose="020B0200000000000000" pitchFamily="50" charset="-127"/>
                <a:ea typeface="Noto Sans KR" panose="020B0200000000000000" pitchFamily="50" charset="-127"/>
              </a:rPr>
              <a:t>(Development Tools)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US" altLang="ko-KR" sz="10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PyCharm Professional — v2025.3.3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US" altLang="ko-KR" sz="10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Java Development Kit (JDK) — v11.0.23</a:t>
            </a:r>
          </a:p>
        </p:txBody>
      </p:sp>
      <p:sp>
        <p:nvSpPr>
          <p:cNvPr id="3" name="내용 개체 틀 12">
            <a:extLst>
              <a:ext uri="{FF2B5EF4-FFF2-40B4-BE49-F238E27FC236}">
                <a16:creationId xmlns:a16="http://schemas.microsoft.com/office/drawing/2014/main" id="{6AF6D8FF-C3DB-D9F7-73E3-3B44710BB4D2}"/>
              </a:ext>
            </a:extLst>
          </p:cNvPr>
          <p:cNvSpPr txBox="1">
            <a:spLocks/>
          </p:cNvSpPr>
          <p:nvPr/>
        </p:nvSpPr>
        <p:spPr>
          <a:xfrm>
            <a:off x="4296000" y="1174834"/>
            <a:ext cx="3600000" cy="3240000"/>
          </a:xfrm>
          <a:prstGeom prst="rect">
            <a:avLst/>
          </a:prstGeom>
          <a:ln>
            <a:solidFill>
              <a:srgbClr val="8D775C"/>
            </a:solidFill>
          </a:ln>
        </p:spPr>
        <p:txBody>
          <a:bodyPr vert="horz" lIns="91440" tIns="45720" rIns="91440" bIns="45720" rtlCol="0" anchor="ctr" anchorCtr="0">
            <a:normAutofit lnSpcReduction="10000"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r>
              <a:rPr kumimoji="0" lang="en-US" altLang="ko-KR" sz="1000" b="1" i="0" u="none" strike="noStrike" cap="none" normalizeH="0" baseline="0" dirty="0">
                <a:ln>
                  <a:noFill/>
                </a:ln>
                <a:solidFill>
                  <a:srgbClr val="1F1F1F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1. </a:t>
            </a:r>
            <a:r>
              <a:rPr kumimoji="0" lang="ko-KR" altLang="ko-KR" sz="1000" b="1" i="0" u="none" strike="noStrike" cap="none" normalizeH="0" baseline="0" dirty="0">
                <a:ln>
                  <a:noFill/>
                </a:ln>
                <a:solidFill>
                  <a:srgbClr val="1F1F1F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운영체제 및 개발 환경</a:t>
            </a:r>
            <a:endParaRPr kumimoji="0" lang="en-US" altLang="ko-KR" sz="1000" b="1" i="0" u="none" strike="noStrike" cap="none" normalizeH="0" baseline="0" dirty="0">
              <a:ln>
                <a:noFill/>
              </a:ln>
              <a:solidFill>
                <a:srgbClr val="1F1F1F"/>
              </a:solidFill>
              <a:effectLst/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r>
              <a:rPr kumimoji="0" lang="ko-KR" altLang="ko-KR" sz="1000" b="0" i="0" u="none" strike="noStrike" cap="none" normalizeH="0" baseline="0" dirty="0">
                <a:ln>
                  <a:noFill/>
                </a:ln>
                <a:solidFill>
                  <a:srgbClr val="1F1F1F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Windows </a:t>
            </a:r>
            <a:r>
              <a:rPr kumimoji="0" lang="ko-KR" altLang="ko-KR" sz="1000" b="0" i="0" u="none" strike="noStrike" cap="none" normalizeH="0" baseline="0" dirty="0" err="1">
                <a:ln>
                  <a:noFill/>
                </a:ln>
                <a:solidFill>
                  <a:srgbClr val="1F1F1F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Subsystem</a:t>
            </a:r>
            <a:r>
              <a:rPr kumimoji="0" lang="ko-KR" altLang="ko-KR" sz="1000" b="0" i="0" u="none" strike="noStrike" cap="none" normalizeH="0" baseline="0" dirty="0">
                <a:ln>
                  <a:noFill/>
                </a:ln>
                <a:solidFill>
                  <a:srgbClr val="1F1F1F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kumimoji="0" lang="ko-KR" altLang="ko-KR" sz="1000" b="0" i="0" u="none" strike="noStrike" cap="none" normalizeH="0" baseline="0" dirty="0" err="1">
                <a:ln>
                  <a:noFill/>
                </a:ln>
                <a:solidFill>
                  <a:srgbClr val="1F1F1F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for</a:t>
            </a:r>
            <a:r>
              <a:rPr kumimoji="0" lang="ko-KR" altLang="ko-KR" sz="1000" b="0" i="0" u="none" strike="noStrike" cap="none" normalizeH="0" baseline="0" dirty="0">
                <a:ln>
                  <a:noFill/>
                </a:ln>
                <a:solidFill>
                  <a:srgbClr val="1F1F1F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kumimoji="0" lang="ko-KR" altLang="ko-KR" sz="1000" b="0" i="0" u="none" strike="noStrike" cap="none" normalizeH="0" baseline="0" dirty="0" err="1">
                <a:ln>
                  <a:noFill/>
                </a:ln>
                <a:solidFill>
                  <a:srgbClr val="1F1F1F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Linux</a:t>
            </a:r>
            <a:r>
              <a:rPr kumimoji="0" lang="ko-KR" altLang="ko-KR" sz="1000" b="0" i="0" u="none" strike="noStrike" cap="none" normalizeH="0" baseline="0" dirty="0">
                <a:ln>
                  <a:noFill/>
                </a:ln>
                <a:solidFill>
                  <a:srgbClr val="1F1F1F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 (WSL2)</a:t>
            </a:r>
            <a:endParaRPr kumimoji="0" lang="en-US" altLang="ko-KR" sz="1000" b="0" i="0" u="none" strike="noStrike" cap="none" normalizeH="0" baseline="0" dirty="0">
              <a:ln>
                <a:noFill/>
              </a:ln>
              <a:solidFill>
                <a:srgbClr val="1F1F1F"/>
              </a:solidFill>
              <a:effectLst/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r>
              <a:rPr kumimoji="0" lang="ko-KR" altLang="ko-KR" sz="1000" b="0" i="0" u="none" strike="noStrike" cap="none" normalizeH="0" baseline="0" dirty="0" err="1">
                <a:ln>
                  <a:noFill/>
                </a:ln>
                <a:solidFill>
                  <a:srgbClr val="1F1F1F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Linux</a:t>
            </a:r>
            <a:r>
              <a:rPr kumimoji="0" lang="ko-KR" altLang="ko-KR" sz="1000" b="0" i="0" u="none" strike="noStrike" cap="none" normalizeH="0" baseline="0" dirty="0">
                <a:ln>
                  <a:noFill/>
                </a:ln>
                <a:solidFill>
                  <a:srgbClr val="1F1F1F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kumimoji="0" lang="ko-KR" altLang="ko-KR" sz="1000" b="0" i="0" u="none" strike="noStrike" cap="none" normalizeH="0" baseline="0" dirty="0" err="1">
                <a:ln>
                  <a:noFill/>
                </a:ln>
                <a:solidFill>
                  <a:srgbClr val="1F1F1F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Ubuntu</a:t>
            </a:r>
            <a:r>
              <a:rPr kumimoji="0" lang="ko-KR" altLang="ko-KR" sz="1000" b="0" i="0" u="none" strike="noStrike" cap="none" normalizeH="0" baseline="0" dirty="0">
                <a:ln>
                  <a:noFill/>
                </a:ln>
                <a:solidFill>
                  <a:srgbClr val="1F1F1F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 — v24.04 LTS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r>
              <a:rPr kumimoji="0" lang="ko-KR" altLang="ko-KR" sz="1000" b="0" i="0" u="none" strike="noStrike" cap="none" normalizeH="0" baseline="0" dirty="0" err="1">
                <a:ln>
                  <a:noFill/>
                </a:ln>
                <a:solidFill>
                  <a:srgbClr val="1F1F1F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Visual</a:t>
            </a:r>
            <a:r>
              <a:rPr kumimoji="0" lang="ko-KR" altLang="ko-KR" sz="1000" b="0" i="0" u="none" strike="noStrike" cap="none" normalizeH="0" baseline="0" dirty="0">
                <a:ln>
                  <a:noFill/>
                </a:ln>
                <a:solidFill>
                  <a:srgbClr val="1F1F1F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kumimoji="0" lang="ko-KR" altLang="ko-KR" sz="1000" b="0" i="0" u="none" strike="noStrike" cap="none" normalizeH="0" baseline="0" dirty="0" err="1">
                <a:ln>
                  <a:noFill/>
                </a:ln>
                <a:solidFill>
                  <a:srgbClr val="1F1F1F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Studio</a:t>
            </a:r>
            <a:r>
              <a:rPr kumimoji="0" lang="ko-KR" altLang="ko-KR" sz="1000" b="0" i="0" u="none" strike="noStrike" cap="none" normalizeH="0" baseline="0" dirty="0">
                <a:ln>
                  <a:noFill/>
                </a:ln>
                <a:solidFill>
                  <a:srgbClr val="1F1F1F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kumimoji="0" lang="ko-KR" altLang="ko-KR" sz="1000" b="0" i="0" u="none" strike="noStrike" cap="none" normalizeH="0" baseline="0" dirty="0" err="1">
                <a:ln>
                  <a:noFill/>
                </a:ln>
                <a:solidFill>
                  <a:srgbClr val="1F1F1F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Code</a:t>
            </a:r>
            <a:r>
              <a:rPr kumimoji="0" lang="ko-KR" altLang="ko-KR" sz="1000" b="0" i="0" u="none" strike="noStrike" cap="none" normalizeH="0" baseline="0" dirty="0">
                <a:ln>
                  <a:noFill/>
                </a:ln>
                <a:solidFill>
                  <a:srgbClr val="1F1F1F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 (VS </a:t>
            </a:r>
            <a:r>
              <a:rPr kumimoji="0" lang="ko-KR" altLang="ko-KR" sz="1000" b="0" i="0" u="none" strike="noStrike" cap="none" normalizeH="0" baseline="0" dirty="0" err="1">
                <a:ln>
                  <a:noFill/>
                </a:ln>
                <a:solidFill>
                  <a:srgbClr val="1F1F1F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Code</a:t>
            </a:r>
            <a:r>
              <a:rPr kumimoji="0" lang="ko-KR" altLang="ko-KR" sz="1000" b="0" i="0" u="none" strike="noStrike" cap="none" normalizeH="0" baseline="0" dirty="0">
                <a:ln>
                  <a:noFill/>
                </a:ln>
                <a:solidFill>
                  <a:srgbClr val="1F1F1F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) — v1.124.2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ko-KR" altLang="ko-KR" sz="1000" b="1" i="0" u="none" strike="noStrike" cap="none" normalizeH="0" baseline="0" dirty="0">
              <a:ln>
                <a:noFill/>
              </a:ln>
              <a:solidFill>
                <a:srgbClr val="1F1F1F"/>
              </a:solidFill>
              <a:effectLst/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000" b="1" i="0" u="none" strike="noStrike" cap="none" normalizeH="0" baseline="0" dirty="0">
                <a:ln>
                  <a:noFill/>
                </a:ln>
                <a:solidFill>
                  <a:srgbClr val="1F1F1F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2. 언어 및 핵심 프레임워크</a:t>
            </a:r>
            <a:endParaRPr kumimoji="0" lang="en-US" altLang="ko-KR" sz="1000" b="1" i="0" u="none" strike="noStrike" cap="none" normalizeH="0" baseline="0" dirty="0">
              <a:ln>
                <a:noFill/>
              </a:ln>
              <a:solidFill>
                <a:srgbClr val="1F1F1F"/>
              </a:solidFill>
              <a:effectLst/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000" b="0" i="0" u="none" strike="noStrike" cap="none" normalizeH="0" baseline="0" dirty="0" err="1">
                <a:ln>
                  <a:noFill/>
                </a:ln>
                <a:solidFill>
                  <a:srgbClr val="1F1F1F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Python</a:t>
            </a:r>
            <a:r>
              <a:rPr kumimoji="0" lang="ko-KR" altLang="ko-KR" sz="1000" b="0" i="0" u="none" strike="noStrike" cap="none" normalizeH="0" baseline="0" dirty="0">
                <a:ln>
                  <a:noFill/>
                </a:ln>
                <a:solidFill>
                  <a:srgbClr val="1F1F1F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 — v3.11.9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r>
              <a:rPr kumimoji="0" lang="ko-KR" altLang="ko-KR" sz="1000" b="0" i="0" u="none" strike="noStrike" cap="none" normalizeH="0" baseline="0" dirty="0" err="1">
                <a:ln>
                  <a:noFill/>
                </a:ln>
                <a:solidFill>
                  <a:srgbClr val="1F1F1F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PyTorch</a:t>
            </a:r>
            <a:r>
              <a:rPr kumimoji="0" lang="ko-KR" altLang="ko-KR" sz="1000" b="0" i="0" u="none" strike="noStrike" cap="none" normalizeH="0" baseline="0" dirty="0">
                <a:ln>
                  <a:noFill/>
                </a:ln>
                <a:solidFill>
                  <a:srgbClr val="1F1F1F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 (CUDA 12.x 호환) — v2.5.1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r>
              <a:rPr kumimoji="0" lang="ko-KR" altLang="ko-KR" sz="1000" b="0" i="0" u="none" strike="noStrike" cap="none" normalizeH="0" baseline="0" dirty="0">
                <a:ln>
                  <a:noFill/>
                </a:ln>
                <a:solidFill>
                  <a:srgbClr val="1F1F1F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CUDA </a:t>
            </a:r>
            <a:r>
              <a:rPr kumimoji="0" lang="ko-KR" altLang="ko-KR" sz="1000" b="0" i="0" u="none" strike="noStrike" cap="none" normalizeH="0" baseline="0" dirty="0" err="1">
                <a:ln>
                  <a:noFill/>
                </a:ln>
                <a:solidFill>
                  <a:srgbClr val="1F1F1F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Toolkit</a:t>
            </a:r>
            <a:r>
              <a:rPr kumimoji="0" lang="ko-KR" altLang="ko-KR" sz="1000" b="0" i="0" u="none" strike="noStrike" cap="none" normalizeH="0" baseline="0" dirty="0">
                <a:ln>
                  <a:noFill/>
                </a:ln>
                <a:solidFill>
                  <a:srgbClr val="1F1F1F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 — v12.4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ko-KR" altLang="ko-KR" sz="1000" b="1" i="0" u="none" strike="noStrike" cap="none" normalizeH="0" baseline="0" dirty="0">
              <a:ln>
                <a:noFill/>
              </a:ln>
              <a:solidFill>
                <a:srgbClr val="1F1F1F"/>
              </a:solidFill>
              <a:effectLst/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000" b="1" i="0" u="none" strike="noStrike" cap="none" normalizeH="0" baseline="0" dirty="0">
                <a:ln>
                  <a:noFill/>
                </a:ln>
                <a:solidFill>
                  <a:srgbClr val="1F1F1F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3. 컴퓨터 비전 및 객체 인식</a:t>
            </a:r>
            <a:endParaRPr kumimoji="0" lang="en-US" altLang="ko-KR" sz="1000" b="1" i="0" u="none" strike="noStrike" cap="none" normalizeH="0" baseline="0" dirty="0">
              <a:ln>
                <a:noFill/>
              </a:ln>
              <a:solidFill>
                <a:srgbClr val="1F1F1F"/>
              </a:solidFill>
              <a:effectLst/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000" b="0" i="0" u="none" strike="noStrike" cap="none" normalizeH="0" baseline="0" dirty="0" err="1">
                <a:ln>
                  <a:noFill/>
                </a:ln>
                <a:solidFill>
                  <a:srgbClr val="1F1F1F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ultralytics</a:t>
            </a:r>
            <a:r>
              <a:rPr kumimoji="0" lang="ko-KR" altLang="ko-KR" sz="1000" b="0" i="0" u="none" strike="noStrike" cap="none" normalizeH="0" baseline="0" dirty="0">
                <a:ln>
                  <a:noFill/>
                </a:ln>
                <a:solidFill>
                  <a:srgbClr val="1F1F1F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 (YOLOv11) — v8.3.0 (최신 안정 빌드 버전)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r>
              <a:rPr kumimoji="0" lang="ko-KR" altLang="ko-KR" sz="1000" b="0" i="0" u="none" strike="noStrike" cap="none" normalizeH="0" baseline="0" dirty="0" err="1">
                <a:ln>
                  <a:noFill/>
                </a:ln>
                <a:solidFill>
                  <a:srgbClr val="1F1F1F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opencv-python</a:t>
            </a:r>
            <a:r>
              <a:rPr kumimoji="0" lang="ko-KR" altLang="ko-KR" sz="1000" b="0" i="0" u="none" strike="noStrike" cap="none" normalizeH="0" baseline="0" dirty="0">
                <a:ln>
                  <a:noFill/>
                </a:ln>
                <a:solidFill>
                  <a:srgbClr val="1F1F1F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 — v4.10.0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r>
              <a:rPr kumimoji="0" lang="ko-KR" altLang="ko-KR" sz="1000" b="0" i="0" u="none" strike="noStrike" cap="none" normalizeH="0" baseline="0" dirty="0" err="1">
                <a:ln>
                  <a:noFill/>
                </a:ln>
                <a:solidFill>
                  <a:srgbClr val="1F1F1F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Roboflow</a:t>
            </a:r>
            <a:r>
              <a:rPr kumimoji="0" lang="ko-KR" altLang="ko-KR" sz="1000" b="0" i="0" u="none" strike="noStrike" cap="none" normalizeH="0" baseline="0" dirty="0">
                <a:ln>
                  <a:noFill/>
                </a:ln>
                <a:solidFill>
                  <a:srgbClr val="1F1F1F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 (Data </a:t>
            </a:r>
            <a:r>
              <a:rPr kumimoji="0" lang="ko-KR" altLang="ko-KR" sz="1000" b="0" i="0" u="none" strike="noStrike" cap="none" normalizeH="0" baseline="0" dirty="0" err="1">
                <a:ln>
                  <a:noFill/>
                </a:ln>
                <a:solidFill>
                  <a:srgbClr val="1F1F1F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Sourcing</a:t>
            </a:r>
            <a:r>
              <a:rPr kumimoji="0" lang="ko-KR" altLang="ko-KR" sz="1000" b="0" i="0" u="none" strike="noStrike" cap="none" normalizeH="0" baseline="0" dirty="0">
                <a:ln>
                  <a:noFill/>
                </a:ln>
                <a:solidFill>
                  <a:srgbClr val="1F1F1F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 API)</a:t>
            </a:r>
          </a:p>
        </p:txBody>
      </p:sp>
      <p:sp>
        <p:nvSpPr>
          <p:cNvPr id="15" name="내용 개체 틀 12">
            <a:extLst>
              <a:ext uri="{FF2B5EF4-FFF2-40B4-BE49-F238E27FC236}">
                <a16:creationId xmlns:a16="http://schemas.microsoft.com/office/drawing/2014/main" id="{C98C7AED-D062-D59C-AFEE-03ACD777209F}"/>
              </a:ext>
            </a:extLst>
          </p:cNvPr>
          <p:cNvSpPr txBox="1">
            <a:spLocks/>
          </p:cNvSpPr>
          <p:nvPr/>
        </p:nvSpPr>
        <p:spPr>
          <a:xfrm>
            <a:off x="8204492" y="1174834"/>
            <a:ext cx="3600000" cy="1440000"/>
          </a:xfrm>
          <a:prstGeom prst="rect">
            <a:avLst/>
          </a:prstGeom>
          <a:ln>
            <a:solidFill>
              <a:srgbClr val="8D775C"/>
            </a:solidFill>
          </a:ln>
        </p:spPr>
        <p:txBody>
          <a:bodyPr vert="horz" lIns="91440" tIns="45720" rIns="91440" bIns="45720" rtlCol="0" anchor="ctr" anchorCtr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ko-KR" sz="1000" b="1" dirty="0">
                <a:solidFill>
                  <a:srgbClr val="1F1F1F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1. </a:t>
            </a:r>
            <a:r>
              <a:rPr kumimoji="0" lang="ko-KR" altLang="ko-KR" sz="1000" b="1" i="0" u="none" strike="noStrike" cap="none" normalizeH="0" baseline="0" dirty="0">
                <a:ln>
                  <a:noFill/>
                </a:ln>
                <a:solidFill>
                  <a:srgbClr val="1F1F1F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자연어 처리 및 </a:t>
            </a:r>
            <a:r>
              <a:rPr kumimoji="0" lang="en-US" altLang="ko-KR" sz="1000" b="1" i="0" u="none" strike="noStrike" cap="none" normalizeH="0" baseline="0" dirty="0">
                <a:ln>
                  <a:noFill/>
                </a:ln>
                <a:solidFill>
                  <a:srgbClr val="1F1F1F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SLM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000" b="0" i="0" u="none" strike="noStrike" cap="none" normalizeH="0" baseline="0" dirty="0" err="1">
                <a:ln>
                  <a:noFill/>
                </a:ln>
                <a:solidFill>
                  <a:srgbClr val="1F1F1F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transformers</a:t>
            </a:r>
            <a:r>
              <a:rPr kumimoji="0" lang="ko-KR" altLang="ko-KR" sz="1000" b="0" i="0" u="none" strike="noStrike" cap="none" normalizeH="0" baseline="0" dirty="0">
                <a:ln>
                  <a:noFill/>
                </a:ln>
                <a:solidFill>
                  <a:srgbClr val="1F1F1F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 (</a:t>
            </a:r>
            <a:r>
              <a:rPr kumimoji="0" lang="ko-KR" altLang="ko-KR" sz="1000" b="0" i="0" u="none" strike="noStrike" cap="none" normalizeH="0" baseline="0" dirty="0" err="1">
                <a:ln>
                  <a:noFill/>
                </a:ln>
                <a:solidFill>
                  <a:srgbClr val="1F1F1F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Hugging</a:t>
            </a:r>
            <a:r>
              <a:rPr kumimoji="0" lang="ko-KR" altLang="ko-KR" sz="1000" b="0" i="0" u="none" strike="noStrike" cap="none" normalizeH="0" baseline="0" dirty="0">
                <a:ln>
                  <a:noFill/>
                </a:ln>
                <a:solidFill>
                  <a:srgbClr val="1F1F1F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kumimoji="0" lang="ko-KR" altLang="ko-KR" sz="1000" b="0" i="0" u="none" strike="noStrike" cap="none" normalizeH="0" baseline="0" dirty="0" err="1">
                <a:ln>
                  <a:noFill/>
                </a:ln>
                <a:solidFill>
                  <a:srgbClr val="1F1F1F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Face</a:t>
            </a:r>
            <a:r>
              <a:rPr kumimoji="0" lang="ko-KR" altLang="ko-KR" sz="1000" b="0" i="0" u="none" strike="noStrike" cap="none" normalizeH="0" baseline="0" dirty="0">
                <a:ln>
                  <a:noFill/>
                </a:ln>
                <a:solidFill>
                  <a:srgbClr val="1F1F1F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 라이브러리) — v4.48.2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r>
              <a:rPr kumimoji="0" lang="ko-KR" altLang="ko-KR" sz="1000" b="0" i="0" u="none" strike="noStrike" cap="none" normalizeH="0" baseline="0" dirty="0" err="1">
                <a:ln>
                  <a:noFill/>
                </a:ln>
                <a:solidFill>
                  <a:srgbClr val="1F1F1F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tokenizers</a:t>
            </a:r>
            <a:r>
              <a:rPr kumimoji="0" lang="ko-KR" altLang="ko-KR" sz="1000" b="0" i="0" u="none" strike="noStrike" cap="none" normalizeH="0" baseline="0" dirty="0">
                <a:ln>
                  <a:noFill/>
                </a:ln>
                <a:solidFill>
                  <a:srgbClr val="1F1F1F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 — v0.21.0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r>
              <a:rPr kumimoji="0" lang="ko-KR" altLang="ko-KR" sz="1000" b="0" i="0" u="none" strike="noStrike" cap="none" normalizeH="0" baseline="0" dirty="0" err="1">
                <a:ln>
                  <a:noFill/>
                </a:ln>
                <a:solidFill>
                  <a:srgbClr val="1F1F1F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huggingface_hub</a:t>
            </a:r>
            <a:r>
              <a:rPr kumimoji="0" lang="ko-KR" altLang="ko-KR" sz="1000" b="0" i="0" u="none" strike="noStrike" cap="none" normalizeH="0" baseline="0" dirty="0">
                <a:ln>
                  <a:noFill/>
                </a:ln>
                <a:solidFill>
                  <a:srgbClr val="1F1F1F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 — v0.28.0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r>
              <a:rPr kumimoji="0" lang="ko-KR" altLang="ko-KR" sz="1000" b="0" i="0" u="none" strike="noStrike" cap="none" normalizeH="0" baseline="0" dirty="0" err="1">
                <a:ln>
                  <a:noFill/>
                </a:ln>
                <a:solidFill>
                  <a:srgbClr val="1F1F1F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accelerate</a:t>
            </a:r>
            <a:r>
              <a:rPr kumimoji="0" lang="ko-KR" altLang="ko-KR" sz="1000" b="0" i="0" u="none" strike="noStrike" cap="none" normalizeH="0" baseline="0" dirty="0">
                <a:ln>
                  <a:noFill/>
                </a:ln>
                <a:solidFill>
                  <a:srgbClr val="1F1F1F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 (GPU 가속 최적화 라이브러리) — v1.3.0</a:t>
            </a:r>
          </a:p>
        </p:txBody>
      </p:sp>
    </p:spTree>
    <p:extLst>
      <p:ext uri="{BB962C8B-B14F-4D97-AF65-F5344CB8AC3E}">
        <p14:creationId xmlns:p14="http://schemas.microsoft.com/office/powerpoint/2010/main" val="5832913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제목 1">
            <a:extLst>
              <a:ext uri="{FF2B5EF4-FFF2-40B4-BE49-F238E27FC236}">
                <a16:creationId xmlns:a16="http://schemas.microsoft.com/office/drawing/2014/main" id="{ED8C13AE-58CC-AB73-2319-A77D93DB84A2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3600000" cy="1080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ko-KR" altLang="en-US" b="1" dirty="0">
                <a:latin typeface="Noto Sans KR" panose="020B0200000000000000" pitchFamily="50" charset="-127"/>
                <a:ea typeface="Noto Sans KR" panose="020B0200000000000000" pitchFamily="50" charset="-127"/>
              </a:rPr>
              <a:t>   </a:t>
            </a:r>
            <a:r>
              <a:rPr lang="ko-KR" altLang="en-US" sz="3200" b="1" dirty="0">
                <a:latin typeface="Noto Sans KR Black" panose="020B0200000000000000" pitchFamily="50" charset="-127"/>
                <a:ea typeface="Noto Sans KR Black" panose="020B0200000000000000" pitchFamily="50" charset="-127"/>
              </a:rPr>
              <a:t>사용기술 경험</a:t>
            </a:r>
            <a:endParaRPr lang="ko-KR" altLang="en-US" sz="3600" dirty="0">
              <a:latin typeface="Noto Sans KR Black" panose="020B0200000000000000" pitchFamily="50" charset="-127"/>
              <a:ea typeface="Noto Sans KR Black" panose="020B0200000000000000" pitchFamily="50" charset="-127"/>
            </a:endParaRPr>
          </a:p>
        </p:txBody>
      </p:sp>
      <p:sp>
        <p:nvSpPr>
          <p:cNvPr id="3" name="Rectangle 1">
            <a:extLst>
              <a:ext uri="{FF2B5EF4-FFF2-40B4-BE49-F238E27FC236}">
                <a16:creationId xmlns:a16="http://schemas.microsoft.com/office/drawing/2014/main" id="{DDFF77BE-D210-87F7-804F-A672093E61F9}"/>
              </a:ext>
            </a:extLst>
          </p:cNvPr>
          <p:cNvSpPr>
            <a:spLocks noGrp="1" noChangeArrowheads="1"/>
          </p:cNvSpPr>
          <p:nvPr>
            <p:ph sz="half" idx="1"/>
          </p:nvPr>
        </p:nvSpPr>
        <p:spPr bwMode="auto">
          <a:xfrm>
            <a:off x="783248" y="1080000"/>
            <a:ext cx="3240000" cy="5478423"/>
          </a:xfrm>
          <a:prstGeom prst="rect">
            <a:avLst/>
          </a:prstGeom>
          <a:noFill/>
          <a:ln w="9525">
            <a:solidFill>
              <a:srgbClr val="8D775C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Machine</a:t>
            </a:r>
            <a:r>
              <a:rPr kumimoji="0" lang="ko-KR" altLang="ko-KR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kumimoji="0" lang="ko-KR" altLang="ko-KR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Learning</a:t>
            </a:r>
            <a:r>
              <a:rPr kumimoji="0" lang="ko-KR" altLang="ko-KR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 &amp; Data </a:t>
            </a:r>
            <a:r>
              <a:rPr kumimoji="0" lang="ko-KR" altLang="ko-KR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Science</a:t>
            </a:r>
            <a:endParaRPr kumimoji="0" lang="ko-KR" altLang="ko-KR" sz="10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ko-KR" altLang="ko-KR" sz="10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0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Supervised</a:t>
            </a:r>
            <a:r>
              <a:rPr kumimoji="0" lang="ko-KR" altLang="ko-KR" sz="10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kumimoji="0" lang="ko-KR" altLang="ko-KR" sz="10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Learning</a:t>
            </a:r>
            <a:r>
              <a:rPr kumimoji="0" lang="ko-KR" altLang="ko-KR" sz="10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 (지도학습)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r>
              <a:rPr kumimoji="0" lang="ko-KR" altLang="ko-KR" sz="10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RandomForestClassifier</a:t>
            </a:r>
            <a:r>
              <a:rPr kumimoji="0" lang="ko-KR" altLang="ko-KR" sz="10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ko-KR" altLang="ko-KR" sz="10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0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Preprocessing</a:t>
            </a:r>
            <a:r>
              <a:rPr kumimoji="0" lang="ko-KR" altLang="ko-KR" sz="10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 (</a:t>
            </a:r>
            <a:r>
              <a:rPr kumimoji="0" lang="ko-KR" altLang="ko-KR" sz="10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전처리</a:t>
            </a:r>
            <a:r>
              <a:rPr kumimoji="0" lang="ko-KR" altLang="ko-KR" sz="10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r>
              <a:rPr kumimoji="0" lang="ko-KR" altLang="ko-KR" sz="10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Feature</a:t>
            </a:r>
            <a:r>
              <a:rPr kumimoji="0" lang="ko-KR" altLang="ko-KR" sz="10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kumimoji="0" lang="ko-KR" altLang="ko-KR" sz="10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Importance</a:t>
            </a:r>
            <a:r>
              <a:rPr kumimoji="0" lang="ko-KR" altLang="ko-KR" sz="10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 (변수 중요도 분석)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ko-KR" altLang="ko-KR" sz="10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0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Data </a:t>
            </a:r>
            <a:r>
              <a:rPr kumimoji="0" lang="ko-KR" altLang="ko-KR" sz="10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Manipulation</a:t>
            </a:r>
            <a:r>
              <a:rPr kumimoji="0" lang="ko-KR" altLang="ko-KR" sz="10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 &amp; </a:t>
            </a:r>
            <a:r>
              <a:rPr kumimoji="0" lang="ko-KR" altLang="ko-KR" sz="10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Analytics</a:t>
            </a:r>
            <a:r>
              <a:rPr kumimoji="0" lang="ko-KR" altLang="ko-KR" sz="10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 (데이터 핸들링)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r>
              <a:rPr kumimoji="0" lang="ko-KR" altLang="ko-KR" sz="10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pandas</a:t>
            </a:r>
            <a:r>
              <a:rPr kumimoji="0" lang="ko-KR" altLang="ko-KR" sz="10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 / </a:t>
            </a:r>
            <a:r>
              <a:rPr kumimoji="0" lang="ko-KR" altLang="ko-KR" sz="10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numpy</a:t>
            </a:r>
            <a:r>
              <a:rPr kumimoji="0" lang="ko-KR" altLang="ko-KR" sz="10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 / </a:t>
            </a:r>
            <a:r>
              <a:rPr kumimoji="0" lang="ko-KR" altLang="ko-KR" sz="10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scipy</a:t>
            </a:r>
            <a:r>
              <a:rPr kumimoji="0" lang="ko-KR" altLang="ko-KR" sz="10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kumimoji="0" lang="en-US" altLang="ko-KR" sz="10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/ </a:t>
            </a:r>
            <a:r>
              <a:rPr kumimoji="0" lang="ko-KR" altLang="ko-KR" sz="10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joblib</a:t>
            </a:r>
            <a:r>
              <a:rPr kumimoji="0" lang="ko-KR" altLang="ko-KR" sz="10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ko-KR" altLang="ko-KR" sz="10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Database</a:t>
            </a:r>
            <a:r>
              <a:rPr kumimoji="0" lang="ko-KR" altLang="ko-KR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 &amp; </a:t>
            </a:r>
            <a:r>
              <a:rPr kumimoji="0" lang="ko-KR" altLang="ko-KR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Web</a:t>
            </a:r>
            <a:r>
              <a:rPr kumimoji="0" lang="ko-KR" altLang="ko-KR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 System </a:t>
            </a:r>
            <a:r>
              <a:rPr kumimoji="0" lang="ko-KR" altLang="ko-KR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Integration</a:t>
            </a:r>
            <a:endParaRPr kumimoji="0" lang="ko-KR" altLang="ko-KR" sz="10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0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Database</a:t>
            </a:r>
            <a:r>
              <a:rPr kumimoji="0" lang="ko-KR" altLang="ko-KR" sz="10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kumimoji="0" lang="ko-KR" altLang="ko-KR" sz="10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Operations</a:t>
            </a:r>
            <a:r>
              <a:rPr kumimoji="0" lang="ko-KR" altLang="ko-KR" sz="10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 (Oracle 11g)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r>
              <a:rPr kumimoji="0" lang="ko-KR" altLang="ko-KR" sz="10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Oracle </a:t>
            </a:r>
            <a:r>
              <a:rPr kumimoji="0" lang="ko-KR" altLang="ko-KR" sz="10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Instant</a:t>
            </a:r>
            <a:r>
              <a:rPr kumimoji="0" lang="ko-KR" altLang="ko-KR" sz="10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kumimoji="0" lang="ko-KR" altLang="ko-KR" sz="10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Client</a:t>
            </a:r>
            <a:r>
              <a:rPr kumimoji="0" lang="ko-KR" altLang="ko-KR" sz="10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 (</a:t>
            </a:r>
            <a:r>
              <a:rPr kumimoji="0" lang="ko-KR" altLang="ko-KR" sz="10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Thick</a:t>
            </a:r>
            <a:r>
              <a:rPr kumimoji="0" lang="ko-KR" altLang="ko-KR" sz="10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kumimoji="0" lang="ko-KR" altLang="ko-KR" sz="10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Mode</a:t>
            </a:r>
            <a:r>
              <a:rPr kumimoji="0" lang="ko-KR" altLang="ko-KR" sz="10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) </a:t>
            </a:r>
            <a:endParaRPr kumimoji="0" lang="en-US" altLang="ko-KR" sz="10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r>
              <a:rPr kumimoji="0" lang="ko-KR" altLang="ko-KR" sz="10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oracledb</a:t>
            </a:r>
            <a:r>
              <a:rPr kumimoji="0" lang="ko-KR" altLang="ko-KR" sz="10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ko-KR" altLang="ko-KR" sz="10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0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Web</a:t>
            </a:r>
            <a:r>
              <a:rPr kumimoji="0" lang="ko-KR" altLang="ko-KR" sz="10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kumimoji="0" lang="ko-KR" altLang="ko-KR" sz="10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Backend</a:t>
            </a:r>
            <a:r>
              <a:rPr kumimoji="0" lang="ko-KR" altLang="ko-KR" sz="10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kumimoji="0" lang="ko-KR" altLang="ko-KR" sz="10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Architecture</a:t>
            </a:r>
            <a:r>
              <a:rPr kumimoji="0" lang="ko-KR" altLang="ko-KR" sz="10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 (</a:t>
            </a:r>
            <a:r>
              <a:rPr kumimoji="0" lang="ko-KR" altLang="ko-KR" sz="10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Flask</a:t>
            </a:r>
            <a:r>
              <a:rPr kumimoji="0" lang="ko-KR" altLang="ko-KR" sz="10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)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r>
              <a:rPr kumimoji="0" lang="ko-KR" altLang="ko-KR" sz="10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Flask</a:t>
            </a:r>
            <a:r>
              <a:rPr kumimoji="0" lang="ko-KR" altLang="ko-KR" sz="10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kumimoji="0" lang="ko-KR" altLang="ko-KR" sz="10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Router</a:t>
            </a:r>
            <a:r>
              <a:rPr kumimoji="0" lang="ko-KR" altLang="ko-KR" sz="10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 (@app.route) &amp; API 구현 </a:t>
            </a:r>
            <a:endParaRPr kumimoji="0" lang="en-US" altLang="ko-KR" sz="10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r>
              <a:rPr kumimoji="0" lang="ko-KR" altLang="ko-KR" sz="10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/</a:t>
            </a:r>
            <a:r>
              <a:rPr kumimoji="0" lang="ko-KR" altLang="ko-KR" sz="10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api</a:t>
            </a:r>
            <a:r>
              <a:rPr kumimoji="0" lang="ko-KR" altLang="ko-KR" sz="10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/</a:t>
            </a:r>
            <a:r>
              <a:rPr kumimoji="0" lang="ko-KR" altLang="ko-KR" sz="10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chart-data</a:t>
            </a:r>
            <a:r>
              <a:rPr kumimoji="0" lang="ko-KR" altLang="ko-KR" sz="10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 (GET) </a:t>
            </a:r>
            <a:endParaRPr lang="en-US" altLang="ko-KR" sz="1000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r>
              <a:rPr kumimoji="0" lang="ko-KR" altLang="ko-KR" sz="10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/</a:t>
            </a:r>
            <a:r>
              <a:rPr kumimoji="0" lang="ko-KR" altLang="ko-KR" sz="10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api</a:t>
            </a:r>
            <a:r>
              <a:rPr kumimoji="0" lang="ko-KR" altLang="ko-KR" sz="10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/</a:t>
            </a:r>
            <a:r>
              <a:rPr kumimoji="0" lang="ko-KR" altLang="ko-KR" sz="10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predict</a:t>
            </a:r>
            <a:r>
              <a:rPr kumimoji="0" lang="ko-KR" altLang="ko-KR" sz="10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 (POST)</a:t>
            </a:r>
            <a:endParaRPr lang="en-US" altLang="ko-KR" sz="1000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r>
              <a:rPr kumimoji="0" lang="ko-KR" altLang="ko-KR" sz="10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/</a:t>
            </a:r>
            <a:r>
              <a:rPr kumimoji="0" lang="ko-KR" altLang="ko-KR" sz="10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api</a:t>
            </a:r>
            <a:r>
              <a:rPr kumimoji="0" lang="ko-KR" altLang="ko-KR" sz="10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/</a:t>
            </a:r>
            <a:r>
              <a:rPr kumimoji="0" lang="ko-KR" altLang="ko-KR" sz="10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reserve</a:t>
            </a:r>
            <a:r>
              <a:rPr kumimoji="0" lang="ko-KR" altLang="ko-KR" sz="10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 (POST)</a:t>
            </a:r>
            <a:endParaRPr kumimoji="0" lang="en-US" altLang="ko-KR" sz="10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pPr marL="457200" marR="0" lvl="1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endParaRPr kumimoji="0" lang="ko-KR" altLang="ko-KR" sz="10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0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Asynchronous</a:t>
            </a:r>
            <a:r>
              <a:rPr kumimoji="0" lang="ko-KR" altLang="ko-KR" sz="10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kumimoji="0" lang="ko-KR" altLang="ko-KR" sz="10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Frontend</a:t>
            </a:r>
            <a:r>
              <a:rPr kumimoji="0" lang="ko-KR" altLang="ko-KR" sz="10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kumimoji="0" lang="ko-KR" altLang="ko-KR" sz="10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Action</a:t>
            </a:r>
            <a:r>
              <a:rPr kumimoji="0" lang="ko-KR" altLang="ko-KR" sz="10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 (비동기 통신)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r>
              <a:rPr kumimoji="0" lang="ko-KR" altLang="ko-KR" sz="10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JavaScript</a:t>
            </a:r>
            <a:r>
              <a:rPr kumimoji="0" lang="ko-KR" altLang="ko-KR" sz="10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kumimoji="0" lang="ko-KR" altLang="ko-KR" sz="10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Fetch</a:t>
            </a:r>
            <a:r>
              <a:rPr kumimoji="0" lang="ko-KR" altLang="ko-KR" sz="10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 API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r>
              <a:rPr kumimoji="0" lang="ko-KR" altLang="ko-KR" sz="10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Dynamic</a:t>
            </a:r>
            <a:r>
              <a:rPr kumimoji="0" lang="ko-KR" altLang="ko-KR" sz="10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 Chart.js (시각화)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ko-KR" altLang="ko-KR" sz="10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Python</a:t>
            </a:r>
            <a:r>
              <a:rPr kumimoji="0" lang="ko-KR" altLang="ko-KR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kumimoji="0" lang="ko-KR" altLang="ko-KR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Core</a:t>
            </a:r>
            <a:r>
              <a:rPr kumimoji="0" lang="ko-KR" altLang="ko-KR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kumimoji="0" lang="ko-KR" altLang="ko-KR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Development</a:t>
            </a:r>
            <a:endParaRPr kumimoji="0" lang="ko-KR" altLang="ko-KR" sz="10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0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파일 입출력 및 환경 관리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r>
              <a:rPr kumimoji="0" lang="ko-KR" altLang="ko-KR" sz="10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db_config.py / upload_to_oracle.py </a:t>
            </a:r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1C37DDE3-176A-546B-EFC8-AB8FF4D0D45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476000" y="1079999"/>
            <a:ext cx="3240000" cy="3788729"/>
          </a:xfrm>
          <a:prstGeom prst="rect">
            <a:avLst/>
          </a:prstGeom>
          <a:noFill/>
          <a:ln w="9525">
            <a:solidFill>
              <a:srgbClr val="8D775C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  <a:sp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altLang="ko-KR" sz="800" b="1" dirty="0"/>
              <a:t>Deep Learning &amp; Computer Vision</a:t>
            </a:r>
          </a:p>
          <a:p>
            <a:pPr marL="0" indent="0">
              <a:buNone/>
            </a:pPr>
            <a:r>
              <a:rPr lang="en-US" altLang="ko-KR" sz="800" dirty="0"/>
              <a:t>Neural Networks (</a:t>
            </a:r>
            <a:r>
              <a:rPr lang="ko-KR" altLang="en-US" sz="800" dirty="0"/>
              <a:t>신경망 구조</a:t>
            </a:r>
            <a:r>
              <a:rPr lang="en-US" altLang="ko-KR" sz="800" dirty="0"/>
              <a:t>)</a:t>
            </a:r>
          </a:p>
          <a:p>
            <a:pPr marL="0" indent="0">
              <a:buNone/>
            </a:pPr>
            <a:r>
              <a:rPr lang="en-US" altLang="ko-KR" sz="800" dirty="0"/>
              <a:t>CNN (Convolutional Neural Network)</a:t>
            </a:r>
            <a:r>
              <a:rPr lang="ko-KR" altLang="en-US" sz="800" dirty="0"/>
              <a:t> </a:t>
            </a:r>
            <a:endParaRPr lang="en-US" altLang="ko-KR" sz="800" dirty="0"/>
          </a:p>
          <a:p>
            <a:pPr marL="0" indent="0">
              <a:buNone/>
            </a:pPr>
            <a:r>
              <a:rPr lang="en-US" altLang="ko-KR" sz="800" dirty="0"/>
              <a:t>YOLOv11 (You Only Look Once v11)</a:t>
            </a:r>
            <a:r>
              <a:rPr lang="ko-KR" altLang="en-US" sz="800" dirty="0"/>
              <a:t> </a:t>
            </a:r>
          </a:p>
          <a:p>
            <a:pPr marL="0" indent="0">
              <a:buNone/>
            </a:pPr>
            <a:r>
              <a:rPr lang="en-US" altLang="ko-KR" sz="800" dirty="0"/>
              <a:t>Multi-Class Detection (</a:t>
            </a:r>
            <a:r>
              <a:rPr lang="ko-KR" altLang="en-US" sz="800" dirty="0"/>
              <a:t>다중 객체 인식</a:t>
            </a:r>
            <a:r>
              <a:rPr lang="en-US" altLang="ko-KR" sz="800" dirty="0"/>
              <a:t>)</a:t>
            </a:r>
          </a:p>
          <a:p>
            <a:pPr marL="0" indent="0">
              <a:buNone/>
            </a:pPr>
            <a:r>
              <a:rPr lang="en-US" altLang="ko-KR" sz="800" dirty="0"/>
              <a:t>Person, Laptop, Bag </a:t>
            </a:r>
            <a:r>
              <a:rPr lang="ko-KR" altLang="en-US" sz="800" dirty="0"/>
              <a:t>동시 인식 </a:t>
            </a:r>
            <a:endParaRPr lang="en-US" altLang="ko-KR" sz="800" dirty="0"/>
          </a:p>
          <a:p>
            <a:pPr marL="0" indent="0">
              <a:buNone/>
            </a:pPr>
            <a:r>
              <a:rPr lang="en-US" altLang="ko-KR" sz="800" b="1" dirty="0"/>
              <a:t>Business Logic &amp; Server Integration</a:t>
            </a:r>
          </a:p>
          <a:p>
            <a:pPr marL="0" indent="0">
              <a:buNone/>
            </a:pPr>
            <a:r>
              <a:rPr lang="en-US" altLang="ko-KR" sz="800" dirty="0"/>
              <a:t>Conditional Recognition Logic (</a:t>
            </a:r>
            <a:r>
              <a:rPr lang="ko-KR" altLang="en-US" sz="800" dirty="0"/>
              <a:t>조건부 인지 로직</a:t>
            </a:r>
            <a:r>
              <a:rPr lang="en-US" altLang="ko-KR" sz="800" dirty="0"/>
              <a:t>)</a:t>
            </a:r>
          </a:p>
          <a:p>
            <a:pPr marL="0" indent="0">
              <a:buNone/>
            </a:pPr>
            <a:r>
              <a:rPr lang="ko-KR" altLang="en-US" sz="800" dirty="0"/>
              <a:t>객체 간 관계 분석 알고리즘 설계 </a:t>
            </a:r>
            <a:endParaRPr lang="en-US" altLang="ko-KR" sz="800" dirty="0"/>
          </a:p>
          <a:p>
            <a:pPr marL="0" indent="0">
              <a:buNone/>
            </a:pPr>
            <a:r>
              <a:rPr lang="en-US" altLang="ko-KR" sz="800" dirty="0"/>
              <a:t>- </a:t>
            </a:r>
            <a:r>
              <a:rPr lang="ko-KR" altLang="en-US" sz="800" dirty="0" err="1"/>
              <a:t>노쇼</a:t>
            </a:r>
            <a:r>
              <a:rPr lang="en-US" altLang="ko-KR" sz="800" dirty="0"/>
              <a:t>(No-Show) / </a:t>
            </a:r>
            <a:r>
              <a:rPr lang="ko-KR" altLang="en-US" sz="800" dirty="0" err="1"/>
              <a:t>자리비움</a:t>
            </a:r>
            <a:r>
              <a:rPr lang="en-US" altLang="ko-KR" sz="800" dirty="0"/>
              <a:t> / </a:t>
            </a:r>
            <a:r>
              <a:rPr lang="ko-KR" altLang="en-US" sz="800" dirty="0"/>
              <a:t>이용률 저조</a:t>
            </a:r>
            <a:endParaRPr lang="en-US" altLang="ko-KR" sz="800" dirty="0"/>
          </a:p>
          <a:p>
            <a:pPr marL="0" indent="0">
              <a:buNone/>
            </a:pPr>
            <a:r>
              <a:rPr lang="en-US" altLang="ko-KR" sz="800" dirty="0"/>
              <a:t>Backend Infrastructure &amp; Communication (</a:t>
            </a:r>
            <a:r>
              <a:rPr lang="ko-KR" altLang="en-US" sz="800" dirty="0"/>
              <a:t>네트워크 및 통신</a:t>
            </a:r>
            <a:r>
              <a:rPr lang="en-US" altLang="ko-KR" sz="800" dirty="0"/>
              <a:t>)</a:t>
            </a:r>
          </a:p>
          <a:p>
            <a:pPr marL="0" indent="0">
              <a:buNone/>
            </a:pPr>
            <a:r>
              <a:rPr lang="en-US" altLang="ko-KR" sz="800" dirty="0"/>
              <a:t>RESTful API </a:t>
            </a:r>
            <a:r>
              <a:rPr lang="ko-KR" altLang="en-US" sz="800" dirty="0"/>
              <a:t>아키텍처 </a:t>
            </a:r>
          </a:p>
          <a:p>
            <a:pPr marL="0" indent="0">
              <a:buNone/>
            </a:pPr>
            <a:r>
              <a:rPr lang="en-US" altLang="ko-KR" sz="800" dirty="0"/>
              <a:t>Scalable Architecture (</a:t>
            </a:r>
            <a:r>
              <a:rPr lang="ko-KR" altLang="en-US" sz="800" dirty="0"/>
              <a:t>확장성 설계</a:t>
            </a:r>
            <a:r>
              <a:rPr lang="en-US" altLang="ko-KR" sz="800" dirty="0"/>
              <a:t>)</a:t>
            </a:r>
            <a:r>
              <a:rPr lang="ko-KR" altLang="en-US" sz="800" dirty="0"/>
              <a:t> </a:t>
            </a:r>
          </a:p>
          <a:p>
            <a:pPr marL="0" indent="0">
              <a:buNone/>
            </a:pPr>
            <a:r>
              <a:rPr lang="en-US" altLang="ko-KR" sz="800" b="1" dirty="0"/>
              <a:t>Performance Optimization</a:t>
            </a:r>
          </a:p>
          <a:p>
            <a:pPr marL="0" indent="0">
              <a:buNone/>
            </a:pPr>
            <a:r>
              <a:rPr lang="ko-KR" altLang="en-US" sz="800" dirty="0"/>
              <a:t>실시간성 확보 </a:t>
            </a:r>
            <a:r>
              <a:rPr lang="en-US" altLang="ko-KR" sz="800" dirty="0"/>
              <a:t>(Latency Control)</a:t>
            </a:r>
          </a:p>
          <a:p>
            <a:pPr marL="0" indent="0">
              <a:buNone/>
            </a:pPr>
            <a:r>
              <a:rPr lang="en-US" altLang="ko-KR" sz="800" dirty="0"/>
              <a:t>1</a:t>
            </a:r>
            <a:r>
              <a:rPr lang="ko-KR" altLang="en-US" sz="800" dirty="0"/>
              <a:t>초 이내 지연 시간</a:t>
            </a:r>
            <a:r>
              <a:rPr lang="en-US" altLang="ko-KR" sz="800" dirty="0"/>
              <a:t>(Latency </a:t>
            </a:r>
            <a:r>
              <a:rPr lang="ko-KR" altLang="en-US" sz="800" dirty="0"/>
              <a:t>＜ </a:t>
            </a:r>
            <a:r>
              <a:rPr lang="en-US" altLang="ko-KR" sz="800" dirty="0"/>
              <a:t>1s) </a:t>
            </a:r>
            <a:r>
              <a:rPr lang="ko-KR" altLang="en-US" sz="800" dirty="0"/>
              <a:t>달성 </a:t>
            </a:r>
          </a:p>
        </p:txBody>
      </p:sp>
      <p:sp>
        <p:nvSpPr>
          <p:cNvPr id="11" name="Rectangle 1">
            <a:extLst>
              <a:ext uri="{FF2B5EF4-FFF2-40B4-BE49-F238E27FC236}">
                <a16:creationId xmlns:a16="http://schemas.microsoft.com/office/drawing/2014/main" id="{F1D5DD4B-7C12-E238-04DF-F49CFB0268B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168754" y="1079999"/>
            <a:ext cx="3037162" cy="3788729"/>
          </a:xfrm>
          <a:prstGeom prst="rect">
            <a:avLst/>
          </a:prstGeom>
          <a:noFill/>
          <a:ln w="9525">
            <a:solidFill>
              <a:srgbClr val="8D775C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  <a:sp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altLang="ko-KR" sz="800" b="1" dirty="0"/>
              <a:t>Natural Language Processing &amp; Generative AI</a:t>
            </a:r>
          </a:p>
          <a:p>
            <a:pPr marL="0" indent="0">
              <a:buNone/>
            </a:pPr>
            <a:r>
              <a:rPr lang="en-US" altLang="ko-KR" sz="800" dirty="0"/>
              <a:t>LLM &amp; Applications (</a:t>
            </a:r>
            <a:r>
              <a:rPr lang="ko-KR" altLang="en-US" sz="800" dirty="0"/>
              <a:t>대형 언어 모델 및 응용</a:t>
            </a:r>
            <a:r>
              <a:rPr lang="en-US" altLang="ko-KR" sz="800" dirty="0"/>
              <a:t>)</a:t>
            </a:r>
          </a:p>
          <a:p>
            <a:pPr marL="0" indent="0">
              <a:buNone/>
            </a:pPr>
            <a:r>
              <a:rPr lang="en-US" altLang="ko-KR" sz="800" dirty="0"/>
              <a:t>SLM (Small Language Model / </a:t>
            </a:r>
            <a:r>
              <a:rPr lang="ko-KR" altLang="en-US" sz="800" dirty="0"/>
              <a:t>소형 언어 모델</a:t>
            </a:r>
            <a:r>
              <a:rPr lang="en-US" altLang="ko-KR" sz="800" dirty="0"/>
              <a:t>)</a:t>
            </a:r>
            <a:r>
              <a:rPr lang="ko-KR" altLang="en-US" sz="800" dirty="0"/>
              <a:t> </a:t>
            </a:r>
          </a:p>
          <a:p>
            <a:pPr marL="0" indent="0">
              <a:buNone/>
            </a:pPr>
            <a:r>
              <a:rPr lang="en-US" altLang="ko-KR" sz="800" dirty="0"/>
              <a:t>Hugging Face Transformers</a:t>
            </a:r>
            <a:r>
              <a:rPr lang="ko-KR" altLang="en-US" sz="800" dirty="0"/>
              <a:t> </a:t>
            </a:r>
          </a:p>
          <a:p>
            <a:pPr marL="0" indent="0">
              <a:buNone/>
            </a:pPr>
            <a:r>
              <a:rPr lang="en-US" altLang="ko-KR" sz="800" dirty="0"/>
              <a:t>NLP Pipeline (</a:t>
            </a:r>
            <a:r>
              <a:rPr lang="ko-KR" altLang="en-US" sz="800" dirty="0"/>
              <a:t>자연어 처리 파이프라인</a:t>
            </a:r>
            <a:r>
              <a:rPr lang="en-US" altLang="ko-KR" sz="800" dirty="0"/>
              <a:t>)</a:t>
            </a:r>
          </a:p>
          <a:p>
            <a:pPr marL="0" indent="0">
              <a:buNone/>
            </a:pPr>
            <a:r>
              <a:rPr lang="en-US" altLang="ko-KR" sz="800" dirty="0"/>
              <a:t>NER (Named Entity Recognition / </a:t>
            </a:r>
            <a:r>
              <a:rPr lang="ko-KR" altLang="en-US" sz="800" dirty="0" err="1"/>
              <a:t>개체명</a:t>
            </a:r>
            <a:r>
              <a:rPr lang="ko-KR" altLang="en-US" sz="800" dirty="0"/>
              <a:t> 인식</a:t>
            </a:r>
            <a:r>
              <a:rPr lang="en-US" altLang="ko-KR" sz="800" dirty="0"/>
              <a:t>)</a:t>
            </a:r>
            <a:r>
              <a:rPr lang="ko-KR" altLang="en-US" sz="800" dirty="0"/>
              <a:t> </a:t>
            </a:r>
          </a:p>
          <a:p>
            <a:pPr marL="0" indent="0">
              <a:buNone/>
            </a:pPr>
            <a:r>
              <a:rPr lang="en-US" altLang="ko-KR" sz="800" dirty="0" err="1"/>
              <a:t>QnA</a:t>
            </a:r>
            <a:r>
              <a:rPr lang="en-US" altLang="ko-KR" sz="800" dirty="0"/>
              <a:t> (Question Answering) System</a:t>
            </a:r>
            <a:r>
              <a:rPr lang="ko-KR" altLang="en-US" sz="800" dirty="0"/>
              <a:t> </a:t>
            </a:r>
          </a:p>
          <a:p>
            <a:pPr marL="0" indent="0">
              <a:buNone/>
            </a:pPr>
            <a:r>
              <a:rPr lang="en-US" altLang="ko-KR" sz="800" b="1" dirty="0"/>
              <a:t>Safety &amp; Security Engineering </a:t>
            </a:r>
          </a:p>
          <a:p>
            <a:pPr marL="0" indent="0">
              <a:buNone/>
            </a:pPr>
            <a:r>
              <a:rPr lang="en-US" altLang="ko-KR" sz="800" dirty="0"/>
              <a:t>Hallucination Control (</a:t>
            </a:r>
            <a:r>
              <a:rPr lang="ko-KR" altLang="en-US" sz="800" dirty="0"/>
              <a:t>환각 현상 제어</a:t>
            </a:r>
            <a:r>
              <a:rPr lang="en-US" altLang="ko-KR" sz="800" dirty="0"/>
              <a:t>)</a:t>
            </a:r>
          </a:p>
          <a:p>
            <a:pPr marL="0" indent="0">
              <a:buNone/>
            </a:pPr>
            <a:r>
              <a:rPr lang="ko-KR" altLang="en-US" sz="800" dirty="0"/>
              <a:t>규정 기반 팩트 </a:t>
            </a:r>
            <a:r>
              <a:rPr lang="ko-KR" altLang="en-US" sz="800" dirty="0" err="1"/>
              <a:t>체킹</a:t>
            </a:r>
            <a:r>
              <a:rPr lang="ko-KR" altLang="en-US" sz="800" dirty="0"/>
              <a:t> </a:t>
            </a:r>
            <a:r>
              <a:rPr lang="en-US" altLang="ko-KR" sz="800" dirty="0"/>
              <a:t>(Fact Checking)</a:t>
            </a:r>
            <a:r>
              <a:rPr lang="ko-KR" altLang="en-US" sz="800" dirty="0"/>
              <a:t> </a:t>
            </a:r>
          </a:p>
          <a:p>
            <a:pPr marL="0" indent="0">
              <a:buNone/>
            </a:pPr>
            <a:r>
              <a:rPr lang="ko-KR" altLang="en-US" sz="800" dirty="0"/>
              <a:t>방어형 예외 처리 </a:t>
            </a:r>
            <a:r>
              <a:rPr lang="en-US" altLang="ko-KR" sz="800" dirty="0"/>
              <a:t>(Exception Handling)</a:t>
            </a:r>
            <a:r>
              <a:rPr lang="ko-KR" altLang="en-US" sz="800" dirty="0"/>
              <a:t> </a:t>
            </a:r>
          </a:p>
          <a:p>
            <a:pPr marL="0" indent="0">
              <a:buNone/>
            </a:pPr>
            <a:r>
              <a:rPr lang="en-US" altLang="ko-KR" sz="800" dirty="0"/>
              <a:t>Data Sovereignty (</a:t>
            </a:r>
            <a:r>
              <a:rPr lang="ko-KR" altLang="en-US" sz="800" dirty="0"/>
              <a:t>데이터 독립성 및 보안</a:t>
            </a:r>
            <a:r>
              <a:rPr lang="en-US" altLang="ko-KR" sz="800" dirty="0"/>
              <a:t>)</a:t>
            </a:r>
          </a:p>
          <a:p>
            <a:pPr marL="0" indent="0">
              <a:buNone/>
            </a:pPr>
            <a:r>
              <a:rPr lang="en-US" altLang="ko-KR" sz="800" dirty="0"/>
              <a:t>On-Premise / </a:t>
            </a:r>
            <a:r>
              <a:rPr lang="ko-KR" altLang="en-US" sz="800" dirty="0"/>
              <a:t>로컬 환경 추론 </a:t>
            </a:r>
          </a:p>
          <a:p>
            <a:pPr marL="0" indent="0">
              <a:buNone/>
            </a:pPr>
            <a:r>
              <a:rPr lang="en-US" altLang="ko-KR" sz="800" dirty="0"/>
              <a:t>Context Management (</a:t>
            </a:r>
            <a:r>
              <a:rPr lang="ko-KR" altLang="en-US" sz="800" dirty="0"/>
              <a:t>대화 흐름 관리</a:t>
            </a:r>
            <a:r>
              <a:rPr lang="en-US" altLang="ko-KR" sz="800" dirty="0"/>
              <a:t>)</a:t>
            </a:r>
          </a:p>
          <a:p>
            <a:pPr marL="0" indent="0">
              <a:buNone/>
            </a:pPr>
            <a:r>
              <a:rPr lang="ko-KR" altLang="en-US" sz="800" dirty="0"/>
              <a:t>가벼운 컨텍스트 유지 기능 </a:t>
            </a:r>
          </a:p>
          <a:p>
            <a:pPr marL="0" indent="0">
              <a:buNone/>
            </a:pPr>
            <a:endParaRPr lang="ko-KR" altLang="en-US" sz="800" dirty="0"/>
          </a:p>
        </p:txBody>
      </p:sp>
    </p:spTree>
    <p:extLst>
      <p:ext uri="{BB962C8B-B14F-4D97-AF65-F5344CB8AC3E}">
        <p14:creationId xmlns:p14="http://schemas.microsoft.com/office/powerpoint/2010/main" val="405276140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제목 1">
            <a:extLst>
              <a:ext uri="{FF2B5EF4-FFF2-40B4-BE49-F238E27FC236}">
                <a16:creationId xmlns:a16="http://schemas.microsoft.com/office/drawing/2014/main" id="{67BCF6BD-0DE3-693F-558E-46D224F3BF53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3240000" cy="1080000"/>
          </a:xfrm>
          <a:prstGeom prst="rect">
            <a:avLst/>
          </a:prstGeom>
        </p:spPr>
        <p:txBody>
          <a:bodyPr anchor="ctr" anchorCtr="0"/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ko-KR" altLang="en-US" b="1" dirty="0">
                <a:latin typeface="Noto Sans KR" panose="020B0200000000000000" pitchFamily="50" charset="-127"/>
                <a:ea typeface="Noto Sans KR" panose="020B0200000000000000" pitchFamily="50" charset="-127"/>
              </a:rPr>
              <a:t>   </a:t>
            </a:r>
            <a:r>
              <a:rPr lang="ko-KR" altLang="en-US" sz="3200" b="1" dirty="0">
                <a:latin typeface="Noto Sans KR Black" panose="020B0200000000000000" pitchFamily="50" charset="-127"/>
                <a:ea typeface="Noto Sans KR Black" panose="020B0200000000000000" pitchFamily="50" charset="-127"/>
              </a:rPr>
              <a:t>개발 스케줄</a:t>
            </a:r>
            <a:endParaRPr lang="ko-KR" altLang="en-US" sz="3600" dirty="0">
              <a:latin typeface="Noto Sans KR Black" panose="020B0200000000000000" pitchFamily="50" charset="-127"/>
              <a:ea typeface="Noto Sans KR Black" panose="020B0200000000000000" pitchFamily="50" charset="-127"/>
            </a:endParaRPr>
          </a:p>
        </p:txBody>
      </p:sp>
      <p:pic>
        <p:nvPicPr>
          <p:cNvPr id="14" name="그림 13">
            <a:extLst>
              <a:ext uri="{FF2B5EF4-FFF2-40B4-BE49-F238E27FC236}">
                <a16:creationId xmlns:a16="http://schemas.microsoft.com/office/drawing/2014/main" id="{3D39B9A3-757B-50E1-CAC6-3407243ADFA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19450" y="1479550"/>
            <a:ext cx="5753100" cy="3898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2173937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제목 1">
            <a:extLst>
              <a:ext uri="{FF2B5EF4-FFF2-40B4-BE49-F238E27FC236}">
                <a16:creationId xmlns:a16="http://schemas.microsoft.com/office/drawing/2014/main" id="{67BCF6BD-0DE3-693F-558E-46D224F3BF53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3600000" cy="1080000"/>
          </a:xfrm>
          <a:prstGeom prst="rect">
            <a:avLst/>
          </a:prstGeom>
        </p:spPr>
        <p:txBody>
          <a:bodyPr anchor="ctr" anchorCtr="0"/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ko-KR" altLang="en-US" sz="4000" b="1" dirty="0">
                <a:latin typeface="Noto Sans KR" panose="020B0200000000000000" pitchFamily="50" charset="-127"/>
                <a:ea typeface="Noto Sans KR" panose="020B0200000000000000" pitchFamily="50" charset="-127"/>
              </a:rPr>
              <a:t>   </a:t>
            </a:r>
            <a:r>
              <a:rPr lang="ko-KR" altLang="en-US" sz="3200" b="1" dirty="0">
                <a:latin typeface="Noto Sans KR Black" panose="020B0200000000000000" pitchFamily="50" charset="-127"/>
                <a:ea typeface="Noto Sans KR Black" panose="020B0200000000000000" pitchFamily="50" charset="-127"/>
              </a:rPr>
              <a:t>요구사항 정의서</a:t>
            </a:r>
            <a:endParaRPr lang="ko-KR" altLang="en-US" sz="3200" dirty="0">
              <a:latin typeface="Noto Sans KR Black" panose="020B0200000000000000" pitchFamily="50" charset="-127"/>
              <a:ea typeface="Noto Sans KR Black" panose="020B0200000000000000" pitchFamily="50" charset="-127"/>
            </a:endParaRPr>
          </a:p>
        </p:txBody>
      </p:sp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F241B492-0CB0-DC36-958F-8876D73A238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72378801"/>
              </p:ext>
            </p:extLst>
          </p:nvPr>
        </p:nvGraphicFramePr>
        <p:xfrm>
          <a:off x="336000" y="1088401"/>
          <a:ext cx="11592000" cy="4680000"/>
        </p:xfrm>
        <a:graphic>
          <a:graphicData uri="http://schemas.openxmlformats.org/drawingml/2006/table">
            <a:tbl>
              <a:tblPr/>
              <a:tblGrid>
                <a:gridCol w="864000">
                  <a:extLst>
                    <a:ext uri="{9D8B030D-6E8A-4147-A177-3AD203B41FA5}">
                      <a16:colId xmlns:a16="http://schemas.microsoft.com/office/drawing/2014/main" val="1365139266"/>
                    </a:ext>
                  </a:extLst>
                </a:gridCol>
                <a:gridCol w="504000">
                  <a:extLst>
                    <a:ext uri="{9D8B030D-6E8A-4147-A177-3AD203B41FA5}">
                      <a16:colId xmlns:a16="http://schemas.microsoft.com/office/drawing/2014/main" val="1452505922"/>
                    </a:ext>
                  </a:extLst>
                </a:gridCol>
                <a:gridCol w="1584000">
                  <a:extLst>
                    <a:ext uri="{9D8B030D-6E8A-4147-A177-3AD203B41FA5}">
                      <a16:colId xmlns:a16="http://schemas.microsoft.com/office/drawing/2014/main" val="1790792719"/>
                    </a:ext>
                  </a:extLst>
                </a:gridCol>
                <a:gridCol w="8640000">
                  <a:extLst>
                    <a:ext uri="{9D8B030D-6E8A-4147-A177-3AD203B41FA5}">
                      <a16:colId xmlns:a16="http://schemas.microsoft.com/office/drawing/2014/main" val="3821103449"/>
                    </a:ext>
                  </a:extLst>
                </a:gridCol>
              </a:tblGrid>
              <a:tr h="360000">
                <a:tc>
                  <a:txBody>
                    <a:bodyPr/>
                    <a:lstStyle/>
                    <a:p>
                      <a:pPr rtl="0"/>
                      <a:r>
                        <a:rPr lang="ko-KR" altLang="en-US" sz="1000" b="0" dirty="0">
                          <a:solidFill>
                            <a:srgbClr val="1F1F1F"/>
                          </a:solidFill>
                          <a:effectLst/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요구사항 </a:t>
                      </a:r>
                      <a:r>
                        <a:rPr lang="en-US" sz="1000" b="0" dirty="0">
                          <a:solidFill>
                            <a:srgbClr val="1F1F1F"/>
                          </a:solidFill>
                          <a:effectLst/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ID</a:t>
                      </a:r>
                    </a:p>
                  </a:txBody>
                  <a:tcPr marL="43398" marR="43398" marT="28932" marB="28932" anchor="ctr">
                    <a:lnL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ko-KR" altLang="en-US" sz="1000" b="0" dirty="0">
                          <a:solidFill>
                            <a:srgbClr val="1F1F1F"/>
                          </a:solidFill>
                          <a:effectLst/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분류</a:t>
                      </a:r>
                    </a:p>
                  </a:txBody>
                  <a:tcPr marL="43398" marR="43398" marT="28932" marB="28932" anchor="ctr">
                    <a:lnL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ko-KR" altLang="en-US" sz="1000" b="0" dirty="0">
                          <a:solidFill>
                            <a:srgbClr val="1F1F1F"/>
                          </a:solidFill>
                          <a:effectLst/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요구사항 명칭</a:t>
                      </a:r>
                    </a:p>
                  </a:txBody>
                  <a:tcPr marL="43398" marR="43398" marT="28932" marB="28932" anchor="ctr">
                    <a:lnL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ko-KR" altLang="en-US" sz="1000" b="0" dirty="0">
                          <a:solidFill>
                            <a:srgbClr val="1F1F1F"/>
                          </a:solidFill>
                          <a:effectLst/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상세 명세 </a:t>
                      </a:r>
                      <a:r>
                        <a:rPr lang="en-US" altLang="ko-KR" sz="1000" b="0" dirty="0">
                          <a:solidFill>
                            <a:srgbClr val="1F1F1F"/>
                          </a:solidFill>
                          <a:effectLst/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(</a:t>
                      </a:r>
                      <a:r>
                        <a:rPr lang="ko-KR" altLang="en-US" sz="1000" b="0" dirty="0">
                          <a:solidFill>
                            <a:srgbClr val="1F1F1F"/>
                          </a:solidFill>
                          <a:effectLst/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기능 및 제약조건</a:t>
                      </a:r>
                      <a:r>
                        <a:rPr lang="en-US" altLang="ko-KR" sz="1000" b="0" dirty="0">
                          <a:solidFill>
                            <a:srgbClr val="1F1F1F"/>
                          </a:solidFill>
                          <a:effectLst/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)</a:t>
                      </a:r>
                      <a:endParaRPr lang="ko-KR" altLang="en-US" sz="1000" b="0" dirty="0">
                        <a:solidFill>
                          <a:srgbClr val="1F1F1F"/>
                        </a:solidFill>
                        <a:effectLst/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 marL="43398" marR="43398" marT="28932" marB="28932" anchor="ctr">
                    <a:lnL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29607631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pPr rtl="0"/>
                      <a:r>
                        <a:rPr lang="en-US" sz="1000" b="0" dirty="0">
                          <a:solidFill>
                            <a:srgbClr val="1F1F1F"/>
                          </a:solidFill>
                          <a:effectLst/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REQ-ML-01</a:t>
                      </a:r>
                    </a:p>
                  </a:txBody>
                  <a:tcPr marL="43398" marR="43398" marT="28932" marB="28932" anchor="ctr">
                    <a:lnL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ko-KR" altLang="en-US" sz="1000" b="0" dirty="0">
                          <a:solidFill>
                            <a:srgbClr val="1F1F1F"/>
                          </a:solidFill>
                          <a:effectLst/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기능</a:t>
                      </a:r>
                    </a:p>
                  </a:txBody>
                  <a:tcPr marL="43398" marR="43398" marT="28932" marB="28932" anchor="ctr">
                    <a:lnL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ko-KR" altLang="en-US" sz="1000" b="0" dirty="0">
                          <a:solidFill>
                            <a:srgbClr val="1F1F1F"/>
                          </a:solidFill>
                          <a:effectLst/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실시간 </a:t>
                      </a:r>
                      <a:r>
                        <a:rPr lang="ko-KR" altLang="en-US" sz="1000" b="0" dirty="0" err="1">
                          <a:solidFill>
                            <a:srgbClr val="1F1F1F"/>
                          </a:solidFill>
                          <a:effectLst/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취소율</a:t>
                      </a:r>
                      <a:r>
                        <a:rPr lang="ko-KR" altLang="en-US" sz="1000" b="0" dirty="0">
                          <a:solidFill>
                            <a:srgbClr val="1F1F1F"/>
                          </a:solidFill>
                          <a:effectLst/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 예측 기능</a:t>
                      </a:r>
                    </a:p>
                  </a:txBody>
                  <a:tcPr marL="43398" marR="43398" marT="28932" marB="28932" anchor="ctr">
                    <a:lnL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ko-KR" altLang="en-US" sz="1000" b="0" dirty="0">
                          <a:solidFill>
                            <a:srgbClr val="1F1F1F"/>
                          </a:solidFill>
                          <a:effectLst/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사용자가 </a:t>
                      </a:r>
                      <a:r>
                        <a:rPr lang="en-US" altLang="ko-KR" sz="1000" b="0" dirty="0">
                          <a:solidFill>
                            <a:srgbClr val="1F1F1F"/>
                          </a:solidFill>
                          <a:effectLst/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7</a:t>
                      </a:r>
                      <a:r>
                        <a:rPr lang="ko-KR" altLang="en-US" sz="1000" b="0" dirty="0">
                          <a:solidFill>
                            <a:srgbClr val="1F1F1F"/>
                          </a:solidFill>
                          <a:effectLst/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가지 핵심 변수</a:t>
                      </a:r>
                      <a:r>
                        <a:rPr lang="en-US" altLang="ko-KR" sz="1000" b="0" dirty="0">
                          <a:solidFill>
                            <a:srgbClr val="1F1F1F"/>
                          </a:solidFill>
                          <a:effectLst/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(lead time, country </a:t>
                      </a:r>
                      <a:r>
                        <a:rPr lang="ko-KR" altLang="en-US" sz="1000" b="0" dirty="0">
                          <a:solidFill>
                            <a:srgbClr val="1F1F1F"/>
                          </a:solidFill>
                          <a:effectLst/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등</a:t>
                      </a:r>
                      <a:r>
                        <a:rPr lang="en-US" altLang="ko-KR" sz="1000" b="0" dirty="0">
                          <a:solidFill>
                            <a:srgbClr val="1F1F1F"/>
                          </a:solidFill>
                          <a:effectLst/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)</a:t>
                      </a:r>
                      <a:r>
                        <a:rPr lang="ko-KR" altLang="en-US" sz="1000" b="0" dirty="0">
                          <a:solidFill>
                            <a:srgbClr val="1F1F1F"/>
                          </a:solidFill>
                          <a:effectLst/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를 변경할 때마다 </a:t>
                      </a:r>
                      <a:r>
                        <a:rPr lang="en-US" altLang="ko-KR" sz="1000" b="0" dirty="0">
                          <a:solidFill>
                            <a:srgbClr val="1F1F1F"/>
                          </a:solidFill>
                          <a:effectLst/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AI </a:t>
                      </a:r>
                      <a:r>
                        <a:rPr lang="ko-KR" altLang="en-US" sz="1000" b="0" dirty="0">
                          <a:solidFill>
                            <a:srgbClr val="1F1F1F"/>
                          </a:solidFill>
                          <a:effectLst/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모델이 취소 확률을 실시간으로 계산하여 반환해야 함</a:t>
                      </a:r>
                      <a:r>
                        <a:rPr lang="en-US" altLang="ko-KR" sz="1000" b="0" dirty="0">
                          <a:solidFill>
                            <a:srgbClr val="1F1F1F"/>
                          </a:solidFill>
                          <a:effectLst/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.</a:t>
                      </a:r>
                    </a:p>
                  </a:txBody>
                  <a:tcPr marL="43398" marR="43398" marT="28932" marB="28932" anchor="ctr">
                    <a:lnL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38755778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pPr rtl="0"/>
                      <a:r>
                        <a:rPr lang="en-US" sz="1000" b="0" dirty="0">
                          <a:solidFill>
                            <a:srgbClr val="1F1F1F"/>
                          </a:solidFill>
                          <a:effectLst/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REQ-ML-02</a:t>
                      </a:r>
                    </a:p>
                  </a:txBody>
                  <a:tcPr marL="43398" marR="43398" marT="28932" marB="28932" anchor="ctr">
                    <a:lnL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ko-KR" altLang="en-US" sz="1000" b="0" dirty="0">
                          <a:solidFill>
                            <a:srgbClr val="1F1F1F"/>
                          </a:solidFill>
                          <a:effectLst/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기능</a:t>
                      </a:r>
                    </a:p>
                  </a:txBody>
                  <a:tcPr marL="43398" marR="43398" marT="28932" marB="28932" anchor="ctr">
                    <a:lnL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ko-KR" altLang="en-US" sz="1000" b="0" dirty="0">
                          <a:solidFill>
                            <a:srgbClr val="1F1F1F"/>
                          </a:solidFill>
                          <a:effectLst/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비동기 대시보드 연동</a:t>
                      </a:r>
                    </a:p>
                  </a:txBody>
                  <a:tcPr marL="43398" marR="43398" marT="28932" marB="28932" anchor="ctr">
                    <a:lnL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ko-KR" altLang="en-US" sz="1000" b="0" dirty="0">
                          <a:solidFill>
                            <a:srgbClr val="1F1F1F"/>
                          </a:solidFill>
                          <a:effectLst/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화면 전체의 </a:t>
                      </a:r>
                      <a:r>
                        <a:rPr lang="ko-KR" altLang="en-US" sz="1000" b="0" dirty="0" err="1">
                          <a:solidFill>
                            <a:srgbClr val="1F1F1F"/>
                          </a:solidFill>
                          <a:effectLst/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새로고침</a:t>
                      </a:r>
                      <a:r>
                        <a:rPr lang="ko-KR" altLang="en-US" sz="1000" b="0" dirty="0">
                          <a:solidFill>
                            <a:srgbClr val="1F1F1F"/>
                          </a:solidFill>
                          <a:effectLst/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 없이 </a:t>
                      </a:r>
                      <a:r>
                        <a:rPr lang="en-US" altLang="ko-KR" sz="1000" b="0" dirty="0">
                          <a:solidFill>
                            <a:srgbClr val="1F1F1F"/>
                          </a:solidFill>
                          <a:effectLst/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Fetch API</a:t>
                      </a:r>
                      <a:r>
                        <a:rPr lang="ko-KR" altLang="en-US" sz="1000" b="0" dirty="0">
                          <a:solidFill>
                            <a:srgbClr val="1F1F1F"/>
                          </a:solidFill>
                          <a:effectLst/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를 통해 실시간 예측 데이터가 그래프에 즉각 반영되어야 함</a:t>
                      </a:r>
                      <a:r>
                        <a:rPr lang="en-US" altLang="ko-KR" sz="1000" b="0" dirty="0">
                          <a:solidFill>
                            <a:srgbClr val="1F1F1F"/>
                          </a:solidFill>
                          <a:effectLst/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.</a:t>
                      </a:r>
                    </a:p>
                  </a:txBody>
                  <a:tcPr marL="43398" marR="43398" marT="28932" marB="28932" anchor="ctr">
                    <a:lnL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15921024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pPr rtl="0"/>
                      <a:r>
                        <a:rPr lang="en-US" sz="1000" b="0">
                          <a:solidFill>
                            <a:srgbClr val="1F1F1F"/>
                          </a:solidFill>
                          <a:effectLst/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REQ-ML-03</a:t>
                      </a:r>
                    </a:p>
                  </a:txBody>
                  <a:tcPr marL="43398" marR="43398" marT="28932" marB="28932" anchor="ctr">
                    <a:lnL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ko-KR" altLang="en-US" sz="1000" b="0">
                          <a:solidFill>
                            <a:srgbClr val="1F1F1F"/>
                          </a:solidFill>
                          <a:effectLst/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기능</a:t>
                      </a:r>
                    </a:p>
                  </a:txBody>
                  <a:tcPr marL="43398" marR="43398" marT="28932" marB="28932" anchor="ctr">
                    <a:lnL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ko-KR" altLang="en-US" sz="1000" b="0">
                          <a:solidFill>
                            <a:srgbClr val="1F1F1F"/>
                          </a:solidFill>
                          <a:effectLst/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예약 취소 및 가중치 반영</a:t>
                      </a:r>
                    </a:p>
                  </a:txBody>
                  <a:tcPr marL="43398" marR="43398" marT="28932" marB="28932" anchor="ctr">
                    <a:lnL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ko-KR" altLang="en-US" sz="1000" b="0" dirty="0">
                          <a:solidFill>
                            <a:srgbClr val="1F1F1F"/>
                          </a:solidFill>
                          <a:effectLst/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예약 내역 검색 후 </a:t>
                      </a:r>
                      <a:r>
                        <a:rPr lang="en-US" altLang="ko-KR" sz="1000" b="0" dirty="0">
                          <a:solidFill>
                            <a:srgbClr val="1F1F1F"/>
                          </a:solidFill>
                          <a:effectLst/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[</a:t>
                      </a:r>
                      <a:r>
                        <a:rPr lang="ko-KR" altLang="en-US" sz="1000" b="0" dirty="0">
                          <a:solidFill>
                            <a:srgbClr val="1F1F1F"/>
                          </a:solidFill>
                          <a:effectLst/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예약 취소</a:t>
                      </a:r>
                      <a:r>
                        <a:rPr lang="en-US" altLang="ko-KR" sz="1000" b="0" dirty="0">
                          <a:solidFill>
                            <a:srgbClr val="1F1F1F"/>
                          </a:solidFill>
                          <a:effectLst/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] </a:t>
                      </a:r>
                      <a:r>
                        <a:rPr lang="ko-KR" altLang="en-US" sz="1000" b="0" dirty="0">
                          <a:solidFill>
                            <a:srgbClr val="1F1F1F"/>
                          </a:solidFill>
                          <a:effectLst/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수행 시</a:t>
                      </a:r>
                      <a:r>
                        <a:rPr lang="en-US" altLang="ko-KR" sz="1000" b="0" dirty="0">
                          <a:solidFill>
                            <a:srgbClr val="1F1F1F"/>
                          </a:solidFill>
                          <a:effectLst/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, </a:t>
                      </a:r>
                      <a:r>
                        <a:rPr lang="ko-KR" altLang="en-US" sz="1000" b="0" dirty="0">
                          <a:solidFill>
                            <a:srgbClr val="1F1F1F"/>
                          </a:solidFill>
                          <a:effectLst/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해당 고객의 과거 취소 이력을 </a:t>
                      </a:r>
                      <a:r>
                        <a:rPr lang="en-US" altLang="ko-KR" sz="1000" b="0" dirty="0">
                          <a:solidFill>
                            <a:srgbClr val="1F1F1F"/>
                          </a:solidFill>
                          <a:effectLst/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+1 </a:t>
                      </a:r>
                      <a:r>
                        <a:rPr lang="ko-KR" altLang="en-US" sz="1000" b="0" dirty="0">
                          <a:solidFill>
                            <a:srgbClr val="1F1F1F"/>
                          </a:solidFill>
                          <a:effectLst/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누적하여 차후 예측 및 </a:t>
                      </a:r>
                      <a:r>
                        <a:rPr lang="en-US" altLang="ko-KR" sz="1000" b="0" dirty="0">
                          <a:solidFill>
                            <a:srgbClr val="1F1F1F"/>
                          </a:solidFill>
                          <a:effectLst/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DB </a:t>
                      </a:r>
                      <a:r>
                        <a:rPr lang="ko-KR" altLang="en-US" sz="1000" b="0" dirty="0">
                          <a:solidFill>
                            <a:srgbClr val="1F1F1F"/>
                          </a:solidFill>
                          <a:effectLst/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전체 통계 지표에 반영해야 함</a:t>
                      </a:r>
                      <a:r>
                        <a:rPr lang="en-US" altLang="ko-KR" sz="1000" b="0" dirty="0">
                          <a:solidFill>
                            <a:srgbClr val="1F1F1F"/>
                          </a:solidFill>
                          <a:effectLst/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.</a:t>
                      </a:r>
                    </a:p>
                  </a:txBody>
                  <a:tcPr marL="43398" marR="43398" marT="28932" marB="28932" anchor="ctr">
                    <a:lnL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30235461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pPr rtl="0"/>
                      <a:r>
                        <a:rPr lang="en-US" sz="1000" b="0" dirty="0">
                          <a:solidFill>
                            <a:srgbClr val="1F1F1F"/>
                          </a:solidFill>
                          <a:effectLst/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REQ-ML-04</a:t>
                      </a:r>
                    </a:p>
                  </a:txBody>
                  <a:tcPr marL="43398" marR="43398" marT="28932" marB="28932" anchor="ctr">
                    <a:lnL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ko-KR" altLang="en-US" sz="1000" b="0" dirty="0" err="1">
                          <a:solidFill>
                            <a:srgbClr val="1F1F1F"/>
                          </a:solidFill>
                          <a:effectLst/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비기능</a:t>
                      </a:r>
                      <a:endParaRPr lang="ko-KR" altLang="en-US" sz="1000" b="0" dirty="0">
                        <a:solidFill>
                          <a:srgbClr val="1F1F1F"/>
                        </a:solidFill>
                        <a:effectLst/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 marL="43398" marR="43398" marT="28932" marB="28932" anchor="ctr">
                    <a:lnL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ko-KR" altLang="en-US" sz="1000" b="0">
                          <a:solidFill>
                            <a:srgbClr val="1F1F1F"/>
                          </a:solidFill>
                          <a:effectLst/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데이터베이스 호환성</a:t>
                      </a:r>
                    </a:p>
                  </a:txBody>
                  <a:tcPr marL="43398" marR="43398" marT="28932" marB="28932" anchor="ctr">
                    <a:lnL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US" altLang="ko-KR" sz="1000" b="0" dirty="0">
                          <a:solidFill>
                            <a:srgbClr val="1F1F1F"/>
                          </a:solidFill>
                          <a:effectLst/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Oracle 11g Express Edition </a:t>
                      </a:r>
                      <a:r>
                        <a:rPr lang="ko-KR" altLang="en-US" sz="1000" b="0" dirty="0">
                          <a:solidFill>
                            <a:srgbClr val="1F1F1F"/>
                          </a:solidFill>
                          <a:effectLst/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환경과의 호환성을 위해 </a:t>
                      </a:r>
                      <a:r>
                        <a:rPr lang="en-US" altLang="ko-KR" sz="1000" b="0" dirty="0" err="1">
                          <a:solidFill>
                            <a:srgbClr val="1F1F1F"/>
                          </a:solidFill>
                          <a:effectLst/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oracledb</a:t>
                      </a:r>
                      <a:r>
                        <a:rPr lang="en-US" altLang="ko-KR" sz="1000" b="0" dirty="0">
                          <a:solidFill>
                            <a:srgbClr val="1F1F1F"/>
                          </a:solidFill>
                          <a:effectLst/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 </a:t>
                      </a:r>
                      <a:r>
                        <a:rPr lang="ko-KR" altLang="en-US" sz="1000" b="0" dirty="0">
                          <a:solidFill>
                            <a:srgbClr val="1F1F1F"/>
                          </a:solidFill>
                          <a:effectLst/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라이브러리의 </a:t>
                      </a:r>
                      <a:r>
                        <a:rPr lang="en-US" altLang="ko-KR" sz="1000" b="0" dirty="0">
                          <a:solidFill>
                            <a:srgbClr val="1F1F1F"/>
                          </a:solidFill>
                          <a:effectLst/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Thick Mode </a:t>
                      </a:r>
                      <a:r>
                        <a:rPr lang="ko-KR" altLang="en-US" sz="1000" b="0" dirty="0">
                          <a:solidFill>
                            <a:srgbClr val="1F1F1F"/>
                          </a:solidFill>
                          <a:effectLst/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클라이언트를 활성화하여 안정적인 커넥션을 유지해야 함</a:t>
                      </a:r>
                      <a:r>
                        <a:rPr lang="en-US" altLang="ko-KR" sz="1000" b="0" dirty="0">
                          <a:solidFill>
                            <a:srgbClr val="1F1F1F"/>
                          </a:solidFill>
                          <a:effectLst/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.</a:t>
                      </a:r>
                    </a:p>
                  </a:txBody>
                  <a:tcPr marL="43398" marR="43398" marT="28932" marB="28932" anchor="ctr">
                    <a:lnL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8570425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pPr rtl="0"/>
                      <a:r>
                        <a:rPr lang="en-US" sz="1000" b="0" dirty="0">
                          <a:solidFill>
                            <a:srgbClr val="1F1F1F"/>
                          </a:solidFill>
                          <a:effectLst/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REQ-CV-01</a:t>
                      </a:r>
                    </a:p>
                  </a:txBody>
                  <a:tcPr marL="46755" marR="46755" marT="31170" marB="31170" anchor="ctr">
                    <a:lnL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ko-KR" altLang="en-US" sz="1000" b="0">
                          <a:solidFill>
                            <a:srgbClr val="1F1F1F"/>
                          </a:solidFill>
                          <a:effectLst/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기능</a:t>
                      </a:r>
                    </a:p>
                  </a:txBody>
                  <a:tcPr marL="46755" marR="46755" marT="31170" marB="31170" anchor="ctr">
                    <a:lnL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ko-KR" altLang="en-US" sz="1000" b="0">
                          <a:solidFill>
                            <a:srgbClr val="1F1F1F"/>
                          </a:solidFill>
                          <a:effectLst/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멀티 클래스 객체 탐지</a:t>
                      </a:r>
                    </a:p>
                  </a:txBody>
                  <a:tcPr marL="46755" marR="46755" marT="31170" marB="31170" anchor="ctr">
                    <a:lnL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ko-KR" altLang="en-US" sz="1000" b="0" dirty="0">
                          <a:solidFill>
                            <a:srgbClr val="1F1F1F"/>
                          </a:solidFill>
                          <a:effectLst/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입력되는 실시간 영상 프레임에서 사람</a:t>
                      </a:r>
                      <a:r>
                        <a:rPr lang="en-US" altLang="ko-KR" sz="1000" b="0" dirty="0">
                          <a:solidFill>
                            <a:srgbClr val="1F1F1F"/>
                          </a:solidFill>
                          <a:effectLst/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, </a:t>
                      </a:r>
                      <a:r>
                        <a:rPr lang="ko-KR" altLang="en-US" sz="1000" b="0" dirty="0">
                          <a:solidFill>
                            <a:srgbClr val="1F1F1F"/>
                          </a:solidFill>
                          <a:effectLst/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노트북</a:t>
                      </a:r>
                      <a:r>
                        <a:rPr lang="en-US" altLang="ko-KR" sz="1000" b="0" dirty="0">
                          <a:solidFill>
                            <a:srgbClr val="1F1F1F"/>
                          </a:solidFill>
                          <a:effectLst/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, </a:t>
                      </a:r>
                      <a:r>
                        <a:rPr lang="ko-KR" altLang="en-US" sz="1000" b="0" dirty="0">
                          <a:solidFill>
                            <a:srgbClr val="1F1F1F"/>
                          </a:solidFill>
                          <a:effectLst/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종이</a:t>
                      </a:r>
                      <a:r>
                        <a:rPr lang="en-US" altLang="ko-KR" sz="1000" b="0" dirty="0">
                          <a:solidFill>
                            <a:srgbClr val="1F1F1F"/>
                          </a:solidFill>
                          <a:effectLst/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, </a:t>
                      </a:r>
                      <a:r>
                        <a:rPr lang="ko-KR" altLang="en-US" sz="1000" b="0" dirty="0">
                          <a:solidFill>
                            <a:srgbClr val="1F1F1F"/>
                          </a:solidFill>
                          <a:effectLst/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컵</a:t>
                      </a:r>
                      <a:r>
                        <a:rPr lang="en-US" altLang="ko-KR" sz="1000" b="0" dirty="0">
                          <a:solidFill>
                            <a:srgbClr val="1F1F1F"/>
                          </a:solidFill>
                          <a:effectLst/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  </a:t>
                      </a:r>
                      <a:r>
                        <a:rPr lang="ko-KR" altLang="en-US" sz="1000" b="0" dirty="0">
                          <a:solidFill>
                            <a:srgbClr val="1F1F1F"/>
                          </a:solidFill>
                          <a:effectLst/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객체를 동시에 식별해야 함</a:t>
                      </a:r>
                      <a:r>
                        <a:rPr lang="en-US" altLang="ko-KR" sz="1000" b="0" dirty="0">
                          <a:solidFill>
                            <a:srgbClr val="1F1F1F"/>
                          </a:solidFill>
                          <a:effectLst/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.</a:t>
                      </a:r>
                    </a:p>
                  </a:txBody>
                  <a:tcPr marL="46755" marR="46755" marT="31170" marB="31170" anchor="ctr">
                    <a:lnL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63664424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pPr rtl="0"/>
                      <a:r>
                        <a:rPr lang="en-US" sz="1000" b="0" dirty="0">
                          <a:solidFill>
                            <a:srgbClr val="1F1F1F"/>
                          </a:solidFill>
                          <a:effectLst/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REQ-CV-02</a:t>
                      </a:r>
                    </a:p>
                  </a:txBody>
                  <a:tcPr marL="46755" marR="46755" marT="31170" marB="31170" anchor="ctr">
                    <a:lnL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ko-KR" altLang="en-US" sz="1000" b="0" dirty="0">
                          <a:solidFill>
                            <a:srgbClr val="1F1F1F"/>
                          </a:solidFill>
                          <a:effectLst/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기능</a:t>
                      </a:r>
                    </a:p>
                  </a:txBody>
                  <a:tcPr marL="46755" marR="46755" marT="31170" marB="31170" anchor="ctr">
                    <a:lnL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ko-KR" altLang="en-US" sz="1000" b="0" dirty="0">
                          <a:solidFill>
                            <a:srgbClr val="1F1F1F"/>
                          </a:solidFill>
                          <a:effectLst/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관계 인지형 </a:t>
                      </a:r>
                      <a:r>
                        <a:rPr lang="ko-KR" altLang="en-US" sz="1000" b="0" dirty="0" err="1">
                          <a:solidFill>
                            <a:srgbClr val="1F1F1F"/>
                          </a:solidFill>
                          <a:effectLst/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노쇼</a:t>
                      </a:r>
                      <a:r>
                        <a:rPr lang="ko-KR" altLang="en-US" sz="1000" b="0" dirty="0">
                          <a:solidFill>
                            <a:srgbClr val="1F1F1F"/>
                          </a:solidFill>
                          <a:effectLst/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 판별 로직</a:t>
                      </a:r>
                    </a:p>
                  </a:txBody>
                  <a:tcPr marL="46755" marR="46755" marT="31170" marB="31170" anchor="ctr">
                    <a:lnL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ko-KR" altLang="en-US" sz="1000" b="0" dirty="0">
                          <a:solidFill>
                            <a:srgbClr val="1F1F1F"/>
                          </a:solidFill>
                          <a:effectLst/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단순히 사람 수만 세는 것이 아니라</a:t>
                      </a:r>
                      <a:r>
                        <a:rPr lang="en-US" altLang="ko-KR" sz="1000" b="0" dirty="0">
                          <a:solidFill>
                            <a:srgbClr val="1F1F1F"/>
                          </a:solidFill>
                          <a:effectLst/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, </a:t>
                      </a:r>
                      <a:r>
                        <a:rPr lang="ko-KR" altLang="en-US" sz="1000" b="0" dirty="0">
                          <a:solidFill>
                            <a:srgbClr val="1F1F1F"/>
                          </a:solidFill>
                          <a:effectLst/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객체 간의 관계를 파악하여 </a:t>
                      </a:r>
                      <a:r>
                        <a:rPr lang="ko-KR" altLang="en-US" sz="1000" b="0" dirty="0" err="1">
                          <a:solidFill>
                            <a:srgbClr val="1F1F1F"/>
                          </a:solidFill>
                          <a:effectLst/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노쇼</a:t>
                      </a:r>
                      <a:r>
                        <a:rPr lang="en-US" altLang="ko-KR" sz="1000" b="0" dirty="0">
                          <a:solidFill>
                            <a:srgbClr val="1F1F1F"/>
                          </a:solidFill>
                          <a:effectLst/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, </a:t>
                      </a:r>
                      <a:r>
                        <a:rPr lang="ko-KR" altLang="en-US" sz="1000" b="0" dirty="0" err="1">
                          <a:solidFill>
                            <a:srgbClr val="1F1F1F"/>
                          </a:solidFill>
                          <a:effectLst/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자리비움</a:t>
                      </a:r>
                      <a:r>
                        <a:rPr lang="en-US" altLang="ko-KR" sz="1000" b="0" dirty="0">
                          <a:solidFill>
                            <a:srgbClr val="1F1F1F"/>
                          </a:solidFill>
                          <a:effectLst/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, </a:t>
                      </a:r>
                      <a:r>
                        <a:rPr lang="ko-KR" altLang="en-US" sz="1000" b="0" dirty="0">
                          <a:solidFill>
                            <a:srgbClr val="1F1F1F"/>
                          </a:solidFill>
                          <a:effectLst/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이용률 저조 상태를 조건부로 인지해야 함</a:t>
                      </a:r>
                      <a:r>
                        <a:rPr lang="en-US" altLang="ko-KR" sz="1000" b="0" dirty="0">
                          <a:solidFill>
                            <a:srgbClr val="1F1F1F"/>
                          </a:solidFill>
                          <a:effectLst/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.</a:t>
                      </a:r>
                    </a:p>
                  </a:txBody>
                  <a:tcPr marL="46755" marR="46755" marT="31170" marB="31170" anchor="ctr">
                    <a:lnL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67694680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pPr rtl="0"/>
                      <a:r>
                        <a:rPr lang="en-US" sz="1000" b="0">
                          <a:solidFill>
                            <a:srgbClr val="1F1F1F"/>
                          </a:solidFill>
                          <a:effectLst/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REQ-CV-03</a:t>
                      </a:r>
                    </a:p>
                  </a:txBody>
                  <a:tcPr marL="46755" marR="46755" marT="31170" marB="31170" anchor="ctr">
                    <a:lnL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ko-KR" altLang="en-US" sz="1000" b="0">
                          <a:solidFill>
                            <a:srgbClr val="1F1F1F"/>
                          </a:solidFill>
                          <a:effectLst/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기능</a:t>
                      </a:r>
                    </a:p>
                  </a:txBody>
                  <a:tcPr marL="46755" marR="46755" marT="31170" marB="31170" anchor="ctr">
                    <a:lnL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ko-KR" altLang="en-US" sz="1000" b="0" dirty="0">
                          <a:solidFill>
                            <a:srgbClr val="1F1F1F"/>
                          </a:solidFill>
                          <a:effectLst/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확장형 </a:t>
                      </a:r>
                      <a:r>
                        <a:rPr lang="en-US" sz="1000" b="0" dirty="0">
                          <a:solidFill>
                            <a:srgbClr val="1F1F1F"/>
                          </a:solidFill>
                          <a:effectLst/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REST API </a:t>
                      </a:r>
                      <a:r>
                        <a:rPr lang="ko-KR" altLang="en-US" sz="1000" b="0" dirty="0">
                          <a:solidFill>
                            <a:srgbClr val="1F1F1F"/>
                          </a:solidFill>
                          <a:effectLst/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통신</a:t>
                      </a:r>
                    </a:p>
                  </a:txBody>
                  <a:tcPr marL="46755" marR="46755" marT="31170" marB="31170" anchor="ctr">
                    <a:lnL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US" altLang="ko-KR" sz="1000" b="0" dirty="0">
                          <a:solidFill>
                            <a:srgbClr val="1F1F1F"/>
                          </a:solidFill>
                          <a:effectLst/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CCTV </a:t>
                      </a:r>
                      <a:r>
                        <a:rPr lang="ko-KR" altLang="en-US" sz="1000" b="0" dirty="0">
                          <a:solidFill>
                            <a:srgbClr val="1F1F1F"/>
                          </a:solidFill>
                          <a:effectLst/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스트리밍 스크립트와 </a:t>
                      </a:r>
                      <a:r>
                        <a:rPr lang="en-US" altLang="ko-KR" sz="1000" b="0" dirty="0">
                          <a:solidFill>
                            <a:srgbClr val="1F1F1F"/>
                          </a:solidFill>
                          <a:effectLst/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YOLOv11 </a:t>
                      </a:r>
                      <a:r>
                        <a:rPr lang="ko-KR" altLang="en-US" sz="1000" b="0" dirty="0">
                          <a:solidFill>
                            <a:srgbClr val="1F1F1F"/>
                          </a:solidFill>
                          <a:effectLst/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추론 엔진 간의 데이터 송수신은 </a:t>
                      </a:r>
                      <a:r>
                        <a:rPr lang="en-US" altLang="ko-KR" sz="1000" b="0" dirty="0">
                          <a:solidFill>
                            <a:srgbClr val="1F1F1F"/>
                          </a:solidFill>
                          <a:effectLst/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JSON </a:t>
                      </a:r>
                      <a:r>
                        <a:rPr lang="ko-KR" altLang="en-US" sz="1000" b="0" dirty="0">
                          <a:solidFill>
                            <a:srgbClr val="1F1F1F"/>
                          </a:solidFill>
                          <a:effectLst/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포맷의 </a:t>
                      </a:r>
                      <a:r>
                        <a:rPr lang="en-US" altLang="ko-KR" sz="1000" b="0" dirty="0">
                          <a:solidFill>
                            <a:srgbClr val="1F1F1F"/>
                          </a:solidFill>
                          <a:effectLst/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REST API</a:t>
                      </a:r>
                      <a:r>
                        <a:rPr lang="ko-KR" altLang="en-US" sz="1000" b="0" dirty="0">
                          <a:solidFill>
                            <a:srgbClr val="1F1F1F"/>
                          </a:solidFill>
                          <a:effectLst/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를 통해 처리하며</a:t>
                      </a:r>
                      <a:r>
                        <a:rPr lang="en-US" altLang="ko-KR" sz="1000" b="0" dirty="0">
                          <a:solidFill>
                            <a:srgbClr val="1F1F1F"/>
                          </a:solidFill>
                          <a:effectLst/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, </a:t>
                      </a:r>
                      <a:r>
                        <a:rPr lang="ko-KR" altLang="en-US" sz="1000" b="0" dirty="0">
                          <a:solidFill>
                            <a:srgbClr val="1F1F1F"/>
                          </a:solidFill>
                          <a:effectLst/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향후 </a:t>
                      </a:r>
                      <a:r>
                        <a:rPr lang="en-US" altLang="ko-KR" sz="1000" b="0" dirty="0">
                          <a:solidFill>
                            <a:srgbClr val="1F1F1F"/>
                          </a:solidFill>
                          <a:effectLst/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Room ID </a:t>
                      </a:r>
                      <a:r>
                        <a:rPr lang="ko-KR" altLang="en-US" sz="1000" b="0" dirty="0">
                          <a:solidFill>
                            <a:srgbClr val="1F1F1F"/>
                          </a:solidFill>
                          <a:effectLst/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확장이 가능해야 함</a:t>
                      </a:r>
                      <a:r>
                        <a:rPr lang="en-US" altLang="ko-KR" sz="1000" b="0" dirty="0">
                          <a:solidFill>
                            <a:srgbClr val="1F1F1F"/>
                          </a:solidFill>
                          <a:effectLst/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.</a:t>
                      </a:r>
                    </a:p>
                  </a:txBody>
                  <a:tcPr marL="46755" marR="46755" marT="31170" marB="31170" anchor="ctr">
                    <a:lnL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3741340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pPr rtl="0"/>
                      <a:r>
                        <a:rPr lang="en-US" sz="1000" b="0" dirty="0">
                          <a:solidFill>
                            <a:srgbClr val="1F1F1F"/>
                          </a:solidFill>
                          <a:effectLst/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REQ-CV-04</a:t>
                      </a:r>
                    </a:p>
                  </a:txBody>
                  <a:tcPr marL="46755" marR="46755" marT="31170" marB="31170" anchor="ctr">
                    <a:lnL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ko-KR" altLang="en-US" sz="1000" b="0">
                          <a:solidFill>
                            <a:srgbClr val="1F1F1F"/>
                          </a:solidFill>
                          <a:effectLst/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비기능</a:t>
                      </a:r>
                    </a:p>
                  </a:txBody>
                  <a:tcPr marL="46755" marR="46755" marT="31170" marB="31170" anchor="ctr">
                    <a:lnL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ko-KR" altLang="en-US" sz="1000" b="0" dirty="0">
                          <a:solidFill>
                            <a:srgbClr val="1F1F1F"/>
                          </a:solidFill>
                          <a:effectLst/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실시간성</a:t>
                      </a:r>
                      <a:endParaRPr lang="en-US" sz="1000" b="0" dirty="0">
                        <a:solidFill>
                          <a:srgbClr val="1F1F1F"/>
                        </a:solidFill>
                        <a:effectLst/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 marL="46755" marR="46755" marT="31170" marB="31170" anchor="ctr">
                    <a:lnL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ko-KR" altLang="en-US" sz="1000" b="0" dirty="0">
                          <a:solidFill>
                            <a:srgbClr val="1F1F1F"/>
                          </a:solidFill>
                          <a:effectLst/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이미지 분석 요청부터 응답 및 </a:t>
                      </a:r>
                      <a:r>
                        <a:rPr lang="en-US" altLang="ko-KR" sz="1000" b="0" dirty="0">
                          <a:solidFill>
                            <a:srgbClr val="1F1F1F"/>
                          </a:solidFill>
                          <a:effectLst/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UI </a:t>
                      </a:r>
                      <a:r>
                        <a:rPr lang="ko-KR" altLang="en-US" sz="1000" b="0" dirty="0">
                          <a:solidFill>
                            <a:srgbClr val="1F1F1F"/>
                          </a:solidFill>
                          <a:effectLst/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업데이트까지 걸리는 총 지연 시간은 </a:t>
                      </a:r>
                      <a:r>
                        <a:rPr lang="en-US" altLang="ko-KR" sz="1000" b="0" dirty="0">
                          <a:solidFill>
                            <a:srgbClr val="1F1F1F"/>
                          </a:solidFill>
                          <a:effectLst/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1</a:t>
                      </a:r>
                      <a:r>
                        <a:rPr lang="ko-KR" altLang="en-US" sz="1000" b="0" dirty="0">
                          <a:solidFill>
                            <a:srgbClr val="1F1F1F"/>
                          </a:solidFill>
                          <a:effectLst/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초 이내여야 함</a:t>
                      </a:r>
                      <a:r>
                        <a:rPr lang="en-US" altLang="ko-KR" sz="1000" b="0" dirty="0">
                          <a:solidFill>
                            <a:srgbClr val="1F1F1F"/>
                          </a:solidFill>
                          <a:effectLst/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.</a:t>
                      </a:r>
                    </a:p>
                  </a:txBody>
                  <a:tcPr marL="46755" marR="46755" marT="31170" marB="31170" anchor="ctr">
                    <a:lnL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02281877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pPr rtl="0"/>
                      <a:r>
                        <a:rPr lang="en-US" sz="1000" b="0" dirty="0">
                          <a:solidFill>
                            <a:srgbClr val="1F1F1F"/>
                          </a:solidFill>
                          <a:effectLst/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REQ-NLP-01</a:t>
                      </a:r>
                    </a:p>
                  </a:txBody>
                  <a:tcPr marL="46755" marR="46755" marT="31170" marB="31170" anchor="ctr">
                    <a:lnL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ko-KR" altLang="en-US" sz="1000" b="0" dirty="0">
                          <a:solidFill>
                            <a:srgbClr val="1F1F1F"/>
                          </a:solidFill>
                          <a:effectLst/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기능</a:t>
                      </a:r>
                    </a:p>
                  </a:txBody>
                  <a:tcPr marL="46755" marR="46755" marT="31170" marB="31170" anchor="ctr">
                    <a:lnL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ko-KR" altLang="en-US" sz="1000" b="0" dirty="0">
                          <a:solidFill>
                            <a:srgbClr val="1F1F1F"/>
                          </a:solidFill>
                          <a:effectLst/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구어체 및 의도 추출</a:t>
                      </a:r>
                      <a:endParaRPr lang="en-US" altLang="ko-KR" sz="1000" b="0" dirty="0">
                        <a:solidFill>
                          <a:srgbClr val="1F1F1F"/>
                        </a:solidFill>
                        <a:effectLst/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 marL="46755" marR="46755" marT="31170" marB="31170" anchor="ctr">
                    <a:lnL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ko-KR" altLang="en-US" sz="1000" b="0">
                          <a:solidFill>
                            <a:srgbClr val="1F1F1F"/>
                          </a:solidFill>
                          <a:effectLst/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문법에 완벽하지 않은 일상 대화체나 구어체 질문 속에서 핵심 엔티티</a:t>
                      </a:r>
                      <a:r>
                        <a:rPr lang="en-US" altLang="ko-KR" sz="1000" b="0">
                          <a:solidFill>
                            <a:srgbClr val="1F1F1F"/>
                          </a:solidFill>
                          <a:effectLst/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(</a:t>
                      </a:r>
                      <a:r>
                        <a:rPr lang="ko-KR" altLang="en-US" sz="1000" b="0">
                          <a:solidFill>
                            <a:srgbClr val="1F1F1F"/>
                          </a:solidFill>
                          <a:effectLst/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장소</a:t>
                      </a:r>
                      <a:r>
                        <a:rPr lang="en-US" altLang="ko-KR" sz="1000" b="0">
                          <a:solidFill>
                            <a:srgbClr val="1F1F1F"/>
                          </a:solidFill>
                          <a:effectLst/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, </a:t>
                      </a:r>
                      <a:r>
                        <a:rPr lang="ko-KR" altLang="en-US" sz="1000" b="0">
                          <a:solidFill>
                            <a:srgbClr val="1F1F1F"/>
                          </a:solidFill>
                          <a:effectLst/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물품 등</a:t>
                      </a:r>
                      <a:r>
                        <a:rPr lang="en-US" altLang="ko-KR" sz="1000" b="0">
                          <a:solidFill>
                            <a:srgbClr val="1F1F1F"/>
                          </a:solidFill>
                          <a:effectLst/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)</a:t>
                      </a:r>
                      <a:r>
                        <a:rPr lang="ko-KR" altLang="en-US" sz="1000" b="0">
                          <a:solidFill>
                            <a:srgbClr val="1F1F1F"/>
                          </a:solidFill>
                          <a:effectLst/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와 의도를 정확히 식별해야 함</a:t>
                      </a:r>
                      <a:r>
                        <a:rPr lang="en-US" altLang="ko-KR" sz="1000" b="0">
                          <a:solidFill>
                            <a:srgbClr val="1F1F1F"/>
                          </a:solidFill>
                          <a:effectLst/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.</a:t>
                      </a:r>
                    </a:p>
                  </a:txBody>
                  <a:tcPr marL="46755" marR="46755" marT="31170" marB="31170" anchor="ctr">
                    <a:lnL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03881758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pPr rtl="0"/>
                      <a:r>
                        <a:rPr lang="en-US" sz="1000" b="0">
                          <a:solidFill>
                            <a:srgbClr val="1F1F1F"/>
                          </a:solidFill>
                          <a:effectLst/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REQ-NLP-02</a:t>
                      </a:r>
                    </a:p>
                  </a:txBody>
                  <a:tcPr marL="46755" marR="46755" marT="31170" marB="31170" anchor="ctr">
                    <a:lnL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ko-KR" altLang="en-US" sz="1000" b="0" dirty="0">
                          <a:solidFill>
                            <a:srgbClr val="1F1F1F"/>
                          </a:solidFill>
                          <a:effectLst/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기능</a:t>
                      </a:r>
                    </a:p>
                  </a:txBody>
                  <a:tcPr marL="46755" marR="46755" marT="31170" marB="31170" anchor="ctr">
                    <a:lnL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ko-KR" altLang="en-US" sz="1000" b="0" dirty="0">
                          <a:solidFill>
                            <a:srgbClr val="1F1F1F"/>
                          </a:solidFill>
                          <a:effectLst/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매뉴얼 기반 확인</a:t>
                      </a:r>
                      <a:endParaRPr lang="en-US" altLang="ko-KR" sz="1000" b="0" dirty="0">
                        <a:solidFill>
                          <a:srgbClr val="1F1F1F"/>
                        </a:solidFill>
                        <a:effectLst/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 marL="46755" marR="46755" marT="31170" marB="31170" anchor="ctr">
                    <a:lnL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ko-KR" altLang="en-US" sz="1000" b="0" dirty="0">
                          <a:solidFill>
                            <a:srgbClr val="1F1F1F"/>
                          </a:solidFill>
                          <a:effectLst/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반드시 탑재된 호텔 사내 운영 규정 문서 범위 내에서만 정답을 도출해야 함</a:t>
                      </a:r>
                      <a:r>
                        <a:rPr lang="en-US" altLang="ko-KR" sz="1000" b="0" dirty="0">
                          <a:solidFill>
                            <a:srgbClr val="1F1F1F"/>
                          </a:solidFill>
                          <a:effectLst/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.</a:t>
                      </a:r>
                    </a:p>
                  </a:txBody>
                  <a:tcPr marL="46755" marR="46755" marT="31170" marB="31170" anchor="ctr">
                    <a:lnL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37505629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pPr rtl="0"/>
                      <a:r>
                        <a:rPr lang="en-US" sz="1000" b="0">
                          <a:solidFill>
                            <a:srgbClr val="1F1F1F"/>
                          </a:solidFill>
                          <a:effectLst/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REQ-NLP-03</a:t>
                      </a:r>
                    </a:p>
                  </a:txBody>
                  <a:tcPr marL="46755" marR="46755" marT="31170" marB="31170" anchor="ctr">
                    <a:lnL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ko-KR" altLang="en-US" sz="1000" b="0">
                          <a:solidFill>
                            <a:srgbClr val="1F1F1F"/>
                          </a:solidFill>
                          <a:effectLst/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기능</a:t>
                      </a:r>
                    </a:p>
                  </a:txBody>
                  <a:tcPr marL="46755" marR="46755" marT="31170" marB="31170" anchor="ctr">
                    <a:lnL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ko-KR" altLang="en-US" sz="1000" b="0" dirty="0">
                          <a:solidFill>
                            <a:srgbClr val="1F1F1F"/>
                          </a:solidFill>
                          <a:effectLst/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환각제어</a:t>
                      </a:r>
                    </a:p>
                  </a:txBody>
                  <a:tcPr marL="46755" marR="46755" marT="31170" marB="31170" anchor="ctr">
                    <a:lnL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ko-KR" altLang="en-US" sz="1000" b="0" dirty="0">
                          <a:solidFill>
                            <a:srgbClr val="1F1F1F"/>
                          </a:solidFill>
                          <a:effectLst/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매뉴얼 범위를 벗어난 질의에 대해서는 답변을 지어내지 않고</a:t>
                      </a:r>
                      <a:r>
                        <a:rPr lang="en-US" altLang="ko-KR" sz="1000" b="0" dirty="0">
                          <a:solidFill>
                            <a:srgbClr val="1F1F1F"/>
                          </a:solidFill>
                          <a:effectLst/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, </a:t>
                      </a:r>
                      <a:r>
                        <a:rPr lang="ko-KR" altLang="en-US" sz="1000" b="0" dirty="0">
                          <a:solidFill>
                            <a:srgbClr val="1F1F1F"/>
                          </a:solidFill>
                          <a:effectLst/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고정된 방어형 답변을 출력해야 함</a:t>
                      </a:r>
                      <a:r>
                        <a:rPr lang="en-US" altLang="ko-KR" sz="1000" b="0" dirty="0">
                          <a:solidFill>
                            <a:srgbClr val="1F1F1F"/>
                          </a:solidFill>
                          <a:effectLst/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.</a:t>
                      </a:r>
                    </a:p>
                  </a:txBody>
                  <a:tcPr marL="46755" marR="46755" marT="31170" marB="31170" anchor="ctr">
                    <a:lnL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71165936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pPr rtl="0"/>
                      <a:r>
                        <a:rPr lang="en-US" sz="1000" b="0">
                          <a:solidFill>
                            <a:srgbClr val="1F1F1F"/>
                          </a:solidFill>
                          <a:effectLst/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REQ-NLP-04</a:t>
                      </a:r>
                    </a:p>
                  </a:txBody>
                  <a:tcPr marL="46755" marR="46755" marT="31170" marB="31170" anchor="ctr">
                    <a:lnL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ko-KR" altLang="en-US" sz="1000" b="0">
                          <a:solidFill>
                            <a:srgbClr val="1F1F1F"/>
                          </a:solidFill>
                          <a:effectLst/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비기능</a:t>
                      </a:r>
                    </a:p>
                  </a:txBody>
                  <a:tcPr marL="46755" marR="46755" marT="31170" marB="31170" anchor="ctr">
                    <a:lnL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ko-KR" altLang="en-US" sz="1000" b="0">
                          <a:solidFill>
                            <a:srgbClr val="1F1F1F"/>
                          </a:solidFill>
                          <a:effectLst/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추론 속도 및 자원 효율성</a:t>
                      </a:r>
                    </a:p>
                  </a:txBody>
                  <a:tcPr marL="46755" marR="46755" marT="31170" marB="31170" anchor="ctr">
                    <a:lnL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ko-KR" altLang="en-US" sz="1000" b="0" dirty="0">
                          <a:solidFill>
                            <a:srgbClr val="1F1F1F"/>
                          </a:solidFill>
                          <a:effectLst/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답변 출력까지의 시간은 최대 </a:t>
                      </a:r>
                      <a:r>
                        <a:rPr lang="en-US" altLang="ko-KR" sz="1000" b="0" dirty="0">
                          <a:solidFill>
                            <a:srgbClr val="1F1F1F"/>
                          </a:solidFill>
                          <a:effectLst/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3</a:t>
                      </a:r>
                      <a:r>
                        <a:rPr lang="ko-KR" altLang="en-US" sz="1000" b="0" dirty="0">
                          <a:solidFill>
                            <a:srgbClr val="1F1F1F"/>
                          </a:solidFill>
                          <a:effectLst/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초 이내여야 하며</a:t>
                      </a:r>
                      <a:r>
                        <a:rPr lang="en-US" altLang="ko-KR" sz="1000" b="0" dirty="0">
                          <a:solidFill>
                            <a:srgbClr val="1F1F1F"/>
                          </a:solidFill>
                          <a:effectLst/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, </a:t>
                      </a:r>
                      <a:r>
                        <a:rPr lang="ko-KR" altLang="en-US" sz="1000" b="0" dirty="0">
                          <a:solidFill>
                            <a:srgbClr val="1F1F1F"/>
                          </a:solidFill>
                          <a:effectLst/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고가의 다중 </a:t>
                      </a:r>
                      <a:r>
                        <a:rPr lang="en-US" altLang="ko-KR" sz="1000" b="0" dirty="0">
                          <a:solidFill>
                            <a:srgbClr val="1F1F1F"/>
                          </a:solidFill>
                          <a:effectLst/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GPU</a:t>
                      </a:r>
                      <a:r>
                        <a:rPr lang="ko-KR" altLang="en-US" sz="1000" b="0" dirty="0">
                          <a:solidFill>
                            <a:srgbClr val="1F1F1F"/>
                          </a:solidFill>
                          <a:effectLst/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가 아닌 단일 </a:t>
                      </a:r>
                      <a:r>
                        <a:rPr lang="en-US" altLang="ko-KR" sz="1000" b="0" dirty="0">
                          <a:solidFill>
                            <a:srgbClr val="1F1F1F"/>
                          </a:solidFill>
                          <a:effectLst/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GPU </a:t>
                      </a:r>
                      <a:r>
                        <a:rPr lang="ko-KR" altLang="en-US" sz="1000" b="0" dirty="0">
                          <a:solidFill>
                            <a:srgbClr val="1F1F1F"/>
                          </a:solidFill>
                          <a:effectLst/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혹은 로컬 환경에서 구동 가능해야 함 </a:t>
                      </a:r>
                      <a:r>
                        <a:rPr lang="en-US" altLang="ko-KR" sz="1000" b="0" dirty="0">
                          <a:solidFill>
                            <a:srgbClr val="1F1F1F"/>
                          </a:solidFill>
                          <a:effectLst/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(</a:t>
                      </a:r>
                      <a:r>
                        <a:rPr lang="ko-KR" altLang="en-US" sz="1000" b="0" dirty="0">
                          <a:solidFill>
                            <a:srgbClr val="1F1F1F"/>
                          </a:solidFill>
                          <a:effectLst/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보안 및 독립성 유지</a:t>
                      </a:r>
                      <a:r>
                        <a:rPr lang="en-US" altLang="ko-KR" sz="1000" b="0" dirty="0">
                          <a:solidFill>
                            <a:srgbClr val="1F1F1F"/>
                          </a:solidFill>
                          <a:effectLst/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).</a:t>
                      </a:r>
                    </a:p>
                  </a:txBody>
                  <a:tcPr marL="46755" marR="46755" marT="31170" marB="31170" anchor="ctr">
                    <a:lnL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78634995"/>
                  </a:ext>
                </a:extLst>
              </a:tr>
            </a:tbl>
          </a:graphicData>
        </a:graphic>
      </p:graphicFrame>
      <p:sp>
        <p:nvSpPr>
          <p:cNvPr id="12" name="TextBox 11">
            <a:extLst>
              <a:ext uri="{FF2B5EF4-FFF2-40B4-BE49-F238E27FC236}">
                <a16:creationId xmlns:a16="http://schemas.microsoft.com/office/drawing/2014/main" id="{5C576001-5583-5558-A731-F6B137C87FD8}"/>
              </a:ext>
            </a:extLst>
          </p:cNvPr>
          <p:cNvSpPr txBox="1"/>
          <p:nvPr/>
        </p:nvSpPr>
        <p:spPr>
          <a:xfrm>
            <a:off x="336000" y="5886904"/>
            <a:ext cx="254030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9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요구사항 </a:t>
            </a:r>
            <a:r>
              <a:rPr lang="en-US" altLang="ko-KR" sz="9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ID</a:t>
            </a:r>
            <a:br>
              <a:rPr lang="en-US" altLang="ko-KR" sz="900" dirty="0">
                <a:latin typeface="Noto Sans KR" panose="020B0200000000000000" pitchFamily="50" charset="-127"/>
                <a:ea typeface="Noto Sans KR" panose="020B0200000000000000" pitchFamily="50" charset="-127"/>
              </a:rPr>
            </a:br>
            <a:r>
              <a:rPr lang="en-US" altLang="ko-KR" sz="9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ML: [Flask] </a:t>
            </a:r>
            <a:r>
              <a:rPr lang="ko-KR" altLang="en-US" sz="9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호텔 예약 취소 확률 예측 시스템</a:t>
            </a:r>
            <a:endParaRPr lang="en-US" altLang="ko-KR" sz="900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r>
              <a:rPr lang="en-US" altLang="ko-KR" sz="9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CV: [YOLOv11] </a:t>
            </a:r>
            <a:r>
              <a:rPr lang="ko-KR" altLang="en-US" sz="9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공유 공간 이용 실태 분석 시스템</a:t>
            </a:r>
          </a:p>
          <a:p>
            <a:r>
              <a:rPr lang="en-US" altLang="ko-KR" sz="9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NLP: [SLM] </a:t>
            </a:r>
            <a:r>
              <a:rPr lang="ko-KR" altLang="en-US" sz="9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가상 호텔 사내 규정 안내 </a:t>
            </a:r>
            <a:r>
              <a:rPr lang="ko-KR" altLang="en-US" sz="900" dirty="0" err="1">
                <a:latin typeface="Noto Sans KR" panose="020B0200000000000000" pitchFamily="50" charset="-127"/>
                <a:ea typeface="Noto Sans KR" panose="020B0200000000000000" pitchFamily="50" charset="-127"/>
              </a:rPr>
              <a:t>챗봇</a:t>
            </a:r>
            <a:endParaRPr lang="ko-KR" altLang="en-US" sz="900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19935097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제목 1">
            <a:extLst>
              <a:ext uri="{FF2B5EF4-FFF2-40B4-BE49-F238E27FC236}">
                <a16:creationId xmlns:a16="http://schemas.microsoft.com/office/drawing/2014/main" id="{67BCF6BD-0DE3-693F-558E-46D224F3BF53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2880000" cy="1080000"/>
          </a:xfrm>
          <a:prstGeom prst="rect">
            <a:avLst/>
          </a:prstGeom>
        </p:spPr>
        <p:txBody>
          <a:bodyPr anchor="ctr" anchorCtr="0"/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ko-KR" altLang="en-US" b="1" dirty="0">
                <a:latin typeface="Noto Sans KR" panose="020B0200000000000000" pitchFamily="50" charset="-127"/>
                <a:ea typeface="Noto Sans KR" panose="020B0200000000000000" pitchFamily="50" charset="-127"/>
              </a:rPr>
              <a:t>   </a:t>
            </a:r>
            <a:r>
              <a:rPr lang="ko-KR" altLang="en-US" sz="3200" b="1" dirty="0">
                <a:latin typeface="Noto Sans KR Black" panose="020B0200000000000000" pitchFamily="50" charset="-127"/>
                <a:ea typeface="Noto Sans KR Black" panose="020B0200000000000000" pitchFamily="50" charset="-127"/>
              </a:rPr>
              <a:t>화면설계서</a:t>
            </a:r>
            <a:endParaRPr lang="ko-KR" altLang="en-US" sz="3600" dirty="0">
              <a:latin typeface="Noto Sans KR Black" panose="020B0200000000000000" pitchFamily="50" charset="-127"/>
              <a:ea typeface="Noto Sans KR Black" panose="020B0200000000000000" pitchFamily="50" charset="-127"/>
            </a:endParaRPr>
          </a:p>
        </p:txBody>
      </p:sp>
      <p:pic>
        <p:nvPicPr>
          <p:cNvPr id="14" name="그림 13">
            <a:extLst>
              <a:ext uri="{FF2B5EF4-FFF2-40B4-BE49-F238E27FC236}">
                <a16:creationId xmlns:a16="http://schemas.microsoft.com/office/drawing/2014/main" id="{5851AB10-9A35-E519-0351-802D6855E43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440000"/>
            <a:ext cx="8140190" cy="4320000"/>
          </a:xfrm>
          <a:prstGeom prst="rect">
            <a:avLst/>
          </a:prstGeom>
        </p:spPr>
      </p:pic>
      <p:graphicFrame>
        <p:nvGraphicFramePr>
          <p:cNvPr id="15" name="표 14">
            <a:extLst>
              <a:ext uri="{FF2B5EF4-FFF2-40B4-BE49-F238E27FC236}">
                <a16:creationId xmlns:a16="http://schemas.microsoft.com/office/drawing/2014/main" id="{F89837B3-A748-268F-FFBC-20EBE847EDF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33416409"/>
              </p:ext>
            </p:extLst>
          </p:nvPr>
        </p:nvGraphicFramePr>
        <p:xfrm>
          <a:off x="8352000" y="1440000"/>
          <a:ext cx="3672000" cy="504000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288000">
                  <a:extLst>
                    <a:ext uri="{9D8B030D-6E8A-4147-A177-3AD203B41FA5}">
                      <a16:colId xmlns:a16="http://schemas.microsoft.com/office/drawing/2014/main" val="1909459315"/>
                    </a:ext>
                  </a:extLst>
                </a:gridCol>
                <a:gridCol w="3384000">
                  <a:extLst>
                    <a:ext uri="{9D8B030D-6E8A-4147-A177-3AD203B41FA5}">
                      <a16:colId xmlns:a16="http://schemas.microsoft.com/office/drawing/2014/main" val="1052583633"/>
                    </a:ext>
                  </a:extLst>
                </a:gridCol>
              </a:tblGrid>
              <a:tr h="288000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900" dirty="0">
                          <a:solidFill>
                            <a:sysClr val="windowText" lastClr="000000"/>
                          </a:solidFill>
                        </a:rPr>
                        <a:t>Description</a:t>
                      </a:r>
                      <a:endParaRPr lang="ko-KR" altLang="en-US" sz="9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70028340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sz="9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900" b="1" dirty="0"/>
                        <a:t>내비게이션 바</a:t>
                      </a:r>
                      <a:r>
                        <a:rPr lang="en-US" altLang="ko-KR" sz="900" b="1" dirty="0"/>
                        <a:t>:</a:t>
                      </a:r>
                      <a:r>
                        <a:rPr lang="ko-KR" altLang="en-US" sz="900" dirty="0"/>
                        <a:t> 페이지 스크롤과 관계없이 상단에 고정 노출</a:t>
                      </a:r>
                      <a:endParaRPr lang="ko-KR" altLang="en-US" sz="9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77411503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dirty="0">
                          <a:solidFill>
                            <a:sysClr val="windowText" lastClr="000000"/>
                          </a:solidFill>
                        </a:rPr>
                        <a:t>2</a:t>
                      </a:r>
                      <a:endParaRPr lang="ko-KR" altLang="en-US" sz="9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900" b="1" dirty="0">
                          <a:solidFill>
                            <a:sysClr val="windowText" lastClr="000000"/>
                          </a:solidFill>
                        </a:rPr>
                        <a:t>로고</a:t>
                      </a:r>
                      <a:r>
                        <a:rPr lang="en-US" altLang="ko-KR" sz="900" dirty="0">
                          <a:solidFill>
                            <a:sysClr val="windowText" lastClr="000000"/>
                          </a:solidFill>
                        </a:rPr>
                        <a:t>: </a:t>
                      </a:r>
                      <a:r>
                        <a:rPr lang="ko-KR" altLang="en-US" sz="900" dirty="0">
                          <a:solidFill>
                            <a:sysClr val="windowText" lastClr="000000"/>
                          </a:solidFill>
                        </a:rPr>
                        <a:t>버튼 클릭 시 </a:t>
                      </a:r>
                      <a:r>
                        <a:rPr lang="ko-KR" altLang="en-US" sz="900" dirty="0" err="1">
                          <a:solidFill>
                            <a:sysClr val="windowText" lastClr="000000"/>
                          </a:solidFill>
                        </a:rPr>
                        <a:t>메인페이지로</a:t>
                      </a:r>
                      <a:r>
                        <a:rPr lang="ko-KR" altLang="en-US" sz="900" dirty="0">
                          <a:solidFill>
                            <a:sysClr val="windowText" lastClr="000000"/>
                          </a:solidFill>
                        </a:rPr>
                        <a:t> 이동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66604721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dirty="0">
                          <a:solidFill>
                            <a:sysClr val="windowText" lastClr="000000"/>
                          </a:solidFill>
                        </a:rPr>
                        <a:t>3</a:t>
                      </a:r>
                      <a:endParaRPr lang="ko-KR" altLang="en-US" sz="9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900" b="1" dirty="0">
                          <a:solidFill>
                            <a:sysClr val="windowText" lastClr="000000"/>
                          </a:solidFill>
                        </a:rPr>
                        <a:t>예약 정보 검색</a:t>
                      </a:r>
                      <a:r>
                        <a:rPr lang="en-US" altLang="ko-KR" sz="900" dirty="0">
                          <a:solidFill>
                            <a:sysClr val="windowText" lastClr="000000"/>
                          </a:solidFill>
                        </a:rPr>
                        <a:t>: </a:t>
                      </a:r>
                      <a:r>
                        <a:rPr lang="ko-KR" altLang="en-US" sz="900" dirty="0">
                          <a:solidFill>
                            <a:sysClr val="windowText" lastClr="000000"/>
                          </a:solidFill>
                        </a:rPr>
                        <a:t>버튼 클릭 시 고객 정보 검색 페이지</a:t>
                      </a:r>
                      <a:r>
                        <a:rPr lang="en-US" altLang="ko-KR" sz="900" dirty="0">
                          <a:solidFill>
                            <a:sysClr val="windowText" lastClr="000000"/>
                          </a:solidFill>
                        </a:rPr>
                        <a:t>(search.html)</a:t>
                      </a:r>
                      <a:r>
                        <a:rPr lang="ko-KR" altLang="en-US" sz="900" dirty="0">
                          <a:solidFill>
                            <a:sysClr val="windowText" lastClr="000000"/>
                          </a:solidFill>
                        </a:rPr>
                        <a:t>로 이동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28697922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dirty="0">
                          <a:solidFill>
                            <a:sysClr val="windowText" lastClr="000000"/>
                          </a:solidFill>
                        </a:rPr>
                        <a:t>4</a:t>
                      </a:r>
                      <a:endParaRPr lang="ko-KR" altLang="en-US" sz="9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900" dirty="0"/>
                        <a:t>Predict Now: </a:t>
                      </a:r>
                      <a:r>
                        <a:rPr lang="ko-KR" altLang="en-US" sz="900" dirty="0"/>
                        <a:t>버튼 클릭 시 예측 페이지</a:t>
                      </a:r>
                      <a:r>
                        <a:rPr lang="en-US" altLang="ko-KR" sz="900" dirty="0"/>
                        <a:t>(predict.html)</a:t>
                      </a:r>
                      <a:r>
                        <a:rPr lang="ko-KR" altLang="en-US" sz="900" dirty="0"/>
                        <a:t>로 즉시 라우팅을 수행함</a:t>
                      </a:r>
                      <a:r>
                        <a:rPr lang="en-US" altLang="ko-KR" sz="900" dirty="0"/>
                        <a:t>.</a:t>
                      </a:r>
                      <a:endParaRPr lang="ko-KR" altLang="en-US" sz="9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41179575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dirty="0">
                          <a:solidFill>
                            <a:sysClr val="windowText" lastClr="000000"/>
                          </a:solidFill>
                        </a:rPr>
                        <a:t>5</a:t>
                      </a:r>
                      <a:endParaRPr lang="ko-KR" altLang="en-US" sz="9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900" b="1" dirty="0"/>
                        <a:t>좌측 고정 내비게이션 바</a:t>
                      </a:r>
                      <a:r>
                        <a:rPr lang="en-US" altLang="ko-KR" sz="900" b="1" dirty="0"/>
                        <a:t>: </a:t>
                      </a:r>
                      <a:r>
                        <a:rPr lang="ko-KR" altLang="en-US" sz="900" b="0" dirty="0"/>
                        <a:t>마우스를 올리면 글자가 나타남</a:t>
                      </a:r>
                      <a:r>
                        <a:rPr lang="en-US" altLang="ko-KR" sz="900" b="0" dirty="0"/>
                        <a:t>. </a:t>
                      </a:r>
                      <a:r>
                        <a:rPr lang="ko-KR" altLang="en-US" sz="900" b="0" dirty="0"/>
                        <a:t>글자 클릭 시 해당 페이지로 이동함</a:t>
                      </a:r>
                      <a:r>
                        <a:rPr lang="en-US" altLang="ko-KR" sz="900" b="0" dirty="0"/>
                        <a:t>.</a:t>
                      </a:r>
                      <a:endParaRPr lang="ko-KR" altLang="en-US" sz="9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67321734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dirty="0">
                          <a:solidFill>
                            <a:sysClr val="windowText" lastClr="000000"/>
                          </a:solidFill>
                        </a:rPr>
                        <a:t>6</a:t>
                      </a:r>
                      <a:endParaRPr lang="ko-KR" altLang="en-US" sz="9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900" b="1" dirty="0"/>
                        <a:t>Home :</a:t>
                      </a:r>
                      <a:r>
                        <a:rPr lang="ko-KR" altLang="en-US" sz="900" dirty="0"/>
                        <a:t> 세 페이지의 </a:t>
                      </a:r>
                      <a:r>
                        <a:rPr lang="ko-KR" altLang="en-US" sz="900" dirty="0" err="1"/>
                        <a:t>캐러셀이</a:t>
                      </a:r>
                      <a:r>
                        <a:rPr lang="ko-KR" altLang="en-US" sz="900" dirty="0"/>
                        <a:t> 자동으로 슬라이드 됨</a:t>
                      </a:r>
                      <a:r>
                        <a:rPr lang="en-US" altLang="ko-KR" sz="900" dirty="0"/>
                        <a:t>.</a:t>
                      </a:r>
                      <a:endParaRPr lang="ko-KR" altLang="en-US" sz="9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22145157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dirty="0">
                          <a:solidFill>
                            <a:sysClr val="windowText" lastClr="000000"/>
                          </a:solidFill>
                        </a:rPr>
                        <a:t>4</a:t>
                      </a:r>
                      <a:endParaRPr lang="ko-KR" altLang="en-US" sz="9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900" b="1" dirty="0"/>
                        <a:t>Why Prediction Matters (Section 2):</a:t>
                      </a:r>
                      <a:r>
                        <a:rPr lang="ko-KR" altLang="en-US" sz="900" dirty="0"/>
                        <a:t> 예측 모델의 필요성을 세 가지로 나누어 설명함</a:t>
                      </a:r>
                      <a:r>
                        <a:rPr lang="en-US" altLang="ko-KR" sz="900" dirty="0"/>
                        <a:t>.</a:t>
                      </a:r>
                      <a:endParaRPr lang="ko-KR" altLang="en-US" sz="9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94010486"/>
                  </a:ext>
                </a:extLst>
              </a:tr>
              <a:tr h="576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dirty="0">
                          <a:solidFill>
                            <a:sysClr val="windowText" lastClr="000000"/>
                          </a:solidFill>
                        </a:rPr>
                        <a:t>5</a:t>
                      </a:r>
                      <a:endParaRPr lang="ko-KR" altLang="en-US" sz="9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900" b="1" dirty="0"/>
                        <a:t>How</a:t>
                      </a:r>
                      <a:r>
                        <a:rPr lang="ko-KR" altLang="en-US" sz="900" b="1" dirty="0"/>
                        <a:t> </a:t>
                      </a:r>
                      <a:r>
                        <a:rPr lang="en-US" altLang="ko-KR" sz="900" b="1" dirty="0"/>
                        <a:t>It Works (Section 3):</a:t>
                      </a:r>
                      <a:r>
                        <a:rPr lang="ko-KR" altLang="en-US" sz="900" dirty="0"/>
                        <a:t> </a:t>
                      </a:r>
                      <a:r>
                        <a:rPr lang="ko-KR" altLang="en-US" sz="900" dirty="0" err="1"/>
                        <a:t>취소율</a:t>
                      </a:r>
                      <a:r>
                        <a:rPr lang="ko-KR" altLang="en-US" sz="900" dirty="0"/>
                        <a:t> 예측 및 그래프 확인 과정과 예약 정보 검색 페이지를 통한 본인 내역 확인 기능을 </a:t>
                      </a:r>
                      <a:r>
                        <a:rPr lang="en-US" altLang="ko-KR" sz="900" dirty="0"/>
                        <a:t>Step</a:t>
                      </a:r>
                      <a:r>
                        <a:rPr lang="ko-KR" altLang="en-US" sz="900" dirty="0"/>
                        <a:t>별로 안내함</a:t>
                      </a:r>
                      <a:r>
                        <a:rPr lang="en-US" altLang="ko-KR" sz="900" dirty="0"/>
                        <a:t>.</a:t>
                      </a:r>
                      <a:endParaRPr lang="ko-KR" altLang="en-US" sz="9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68676983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dirty="0">
                          <a:solidFill>
                            <a:sysClr val="windowText" lastClr="000000"/>
                          </a:solidFill>
                        </a:rPr>
                        <a:t>6</a:t>
                      </a:r>
                      <a:endParaRPr lang="ko-KR" altLang="en-US" sz="9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900" b="1" dirty="0"/>
                        <a:t>Key </a:t>
                      </a:r>
                      <a:r>
                        <a:rPr lang="en-US" altLang="ko-KR" sz="900" b="1" dirty="0" err="1"/>
                        <a:t>Feartures</a:t>
                      </a:r>
                      <a:r>
                        <a:rPr lang="en-US" altLang="ko-KR" sz="900" b="1" dirty="0"/>
                        <a:t> (Section 4):</a:t>
                      </a:r>
                      <a:r>
                        <a:rPr lang="en-US" altLang="ko-KR" sz="900" dirty="0"/>
                        <a:t> </a:t>
                      </a:r>
                      <a:r>
                        <a:rPr lang="ko-KR" altLang="en-US" sz="900" dirty="0"/>
                        <a:t>모델링에 사용된 핵심 피처가 예약 </a:t>
                      </a:r>
                      <a:r>
                        <a:rPr lang="ko-KR" altLang="en-US" sz="900" dirty="0" err="1"/>
                        <a:t>취소율</a:t>
                      </a:r>
                      <a:r>
                        <a:rPr lang="ko-KR" altLang="en-US" sz="900" dirty="0"/>
                        <a:t> 예측에 어떻게 기여하는지 소개함</a:t>
                      </a:r>
                      <a:r>
                        <a:rPr lang="en-US" altLang="ko-KR" sz="900" dirty="0"/>
                        <a:t>.</a:t>
                      </a:r>
                      <a:endParaRPr lang="ko-KR" altLang="en-US" sz="9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50544477"/>
                  </a:ext>
                </a:extLst>
              </a:tr>
              <a:tr h="288000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900" b="1" dirty="0">
                          <a:solidFill>
                            <a:sysClr val="windowText" lastClr="000000"/>
                          </a:solidFill>
                        </a:rPr>
                        <a:t>Check Point</a:t>
                      </a:r>
                      <a:endParaRPr lang="ko-KR" altLang="en-US" sz="900" b="1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9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19358335"/>
                  </a:ext>
                </a:extLst>
              </a:tr>
              <a:tr h="432000">
                <a:tc gridSpan="2">
                  <a:txBody>
                    <a:bodyPr/>
                    <a:lstStyle/>
                    <a:p>
                      <a:pPr algn="l" latinLnBrk="1"/>
                      <a:r>
                        <a:rPr lang="ko-KR" altLang="en-US" sz="800" b="1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풀페이지 스크롤</a:t>
                      </a:r>
                      <a:r>
                        <a:rPr lang="en-US" altLang="ko-KR" sz="800" b="1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:</a:t>
                      </a:r>
                      <a:r>
                        <a:rPr lang="ko-KR" altLang="en-US" sz="800" dirty="0"/>
                        <a:t> 마우스 휠 이벤트를 제어하여 일반적인 스크롤이 아닌</a:t>
                      </a:r>
                      <a:r>
                        <a:rPr lang="en-US" altLang="ko-KR" sz="800" dirty="0"/>
                        <a:t>, </a:t>
                      </a:r>
                      <a:r>
                        <a:rPr lang="ko-KR" altLang="en-US" sz="800" dirty="0"/>
                        <a:t>섹션 단위로 부드럽게 끊어 넘어가는 기능 적용</a:t>
                      </a:r>
                      <a:r>
                        <a:rPr lang="en-US" altLang="ko-KR" sz="800" dirty="0"/>
                        <a:t>.</a:t>
                      </a:r>
                      <a:endParaRPr lang="ko-KR" altLang="en-US" sz="8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9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21084806"/>
                  </a:ext>
                </a:extLst>
              </a:tr>
              <a:tr h="432000">
                <a:tc gridSpan="2">
                  <a:txBody>
                    <a:bodyPr/>
                    <a:lstStyle/>
                    <a:p>
                      <a:pPr algn="l" latinLnBrk="1"/>
                      <a:r>
                        <a:rPr lang="ko-KR" altLang="en-US" sz="900" b="1" dirty="0"/>
                        <a:t>컴포넌트 분리 구조</a:t>
                      </a:r>
                      <a:r>
                        <a:rPr lang="en-US" altLang="ko-KR" sz="900" b="1" dirty="0"/>
                        <a:t>:</a:t>
                      </a:r>
                      <a:r>
                        <a:rPr lang="ko-KR" altLang="en-US" sz="900" dirty="0"/>
                        <a:t> </a:t>
                      </a:r>
                      <a:r>
                        <a:rPr lang="en-US" altLang="ko-KR" sz="900" dirty="0"/>
                        <a:t>Flask</a:t>
                      </a:r>
                      <a:r>
                        <a:rPr lang="ko-KR" altLang="en-US" sz="900" dirty="0"/>
                        <a:t>의 </a:t>
                      </a:r>
                      <a:r>
                        <a:rPr lang="en-US" altLang="ko-KR" sz="900" dirty="0"/>
                        <a:t>Jinja2</a:t>
                      </a:r>
                      <a:r>
                        <a:rPr lang="ko-KR" altLang="en-US" sz="900" dirty="0"/>
                        <a:t>을 활용하여 각 섹션의 </a:t>
                      </a:r>
                      <a:r>
                        <a:rPr lang="en-US" altLang="ko-KR" sz="900" dirty="0"/>
                        <a:t>HTML </a:t>
                      </a:r>
                      <a:r>
                        <a:rPr lang="ko-KR" altLang="en-US" sz="900" dirty="0"/>
                        <a:t>및 </a:t>
                      </a:r>
                      <a:r>
                        <a:rPr lang="en-US" altLang="ko-KR" sz="900" dirty="0"/>
                        <a:t>CSS </a:t>
                      </a:r>
                      <a:r>
                        <a:rPr lang="ko-KR" altLang="en-US" sz="900" dirty="0"/>
                        <a:t>가독성과 유지보수성을 극대화함</a:t>
                      </a:r>
                      <a:r>
                        <a:rPr lang="en-US" altLang="ko-KR" sz="900" dirty="0"/>
                        <a:t>.</a:t>
                      </a:r>
                      <a:endParaRPr lang="ko-KR" altLang="en-US" sz="9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9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30753315"/>
                  </a:ext>
                </a:extLst>
              </a:tr>
            </a:tbl>
          </a:graphicData>
        </a:graphic>
      </p:graphicFrame>
      <p:graphicFrame>
        <p:nvGraphicFramePr>
          <p:cNvPr id="16" name="표 15">
            <a:extLst>
              <a:ext uri="{FF2B5EF4-FFF2-40B4-BE49-F238E27FC236}">
                <a16:creationId xmlns:a16="http://schemas.microsoft.com/office/drawing/2014/main" id="{59458B48-348F-904A-96FE-ADC1301FCE9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81579392"/>
              </p:ext>
            </p:extLst>
          </p:nvPr>
        </p:nvGraphicFramePr>
        <p:xfrm>
          <a:off x="2880000" y="180000"/>
          <a:ext cx="7812000" cy="72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57103">
                  <a:extLst>
                    <a:ext uri="{9D8B030D-6E8A-4147-A177-3AD203B41FA5}">
                      <a16:colId xmlns:a16="http://schemas.microsoft.com/office/drawing/2014/main" val="3761885617"/>
                    </a:ext>
                  </a:extLst>
                </a:gridCol>
                <a:gridCol w="1706069">
                  <a:extLst>
                    <a:ext uri="{9D8B030D-6E8A-4147-A177-3AD203B41FA5}">
                      <a16:colId xmlns:a16="http://schemas.microsoft.com/office/drawing/2014/main" val="3707622563"/>
                    </a:ext>
                  </a:extLst>
                </a:gridCol>
                <a:gridCol w="1257103">
                  <a:extLst>
                    <a:ext uri="{9D8B030D-6E8A-4147-A177-3AD203B41FA5}">
                      <a16:colId xmlns:a16="http://schemas.microsoft.com/office/drawing/2014/main" val="1345942057"/>
                    </a:ext>
                  </a:extLst>
                </a:gridCol>
                <a:gridCol w="1346897">
                  <a:extLst>
                    <a:ext uri="{9D8B030D-6E8A-4147-A177-3AD203B41FA5}">
                      <a16:colId xmlns:a16="http://schemas.microsoft.com/office/drawing/2014/main" val="3967854958"/>
                    </a:ext>
                  </a:extLst>
                </a:gridCol>
                <a:gridCol w="897931">
                  <a:extLst>
                    <a:ext uri="{9D8B030D-6E8A-4147-A177-3AD203B41FA5}">
                      <a16:colId xmlns:a16="http://schemas.microsoft.com/office/drawing/2014/main" val="836156341"/>
                    </a:ext>
                  </a:extLst>
                </a:gridCol>
                <a:gridCol w="1346897">
                  <a:extLst>
                    <a:ext uri="{9D8B030D-6E8A-4147-A177-3AD203B41FA5}">
                      <a16:colId xmlns:a16="http://schemas.microsoft.com/office/drawing/2014/main" val="1502511261"/>
                    </a:ext>
                  </a:extLst>
                </a:gridCol>
              </a:tblGrid>
              <a:tr h="360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Page Title</a:t>
                      </a:r>
                      <a:endParaRPr lang="ko-KR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>
                          <a:solidFill>
                            <a:schemeClr val="tx1"/>
                          </a:solidFill>
                        </a:rPr>
                        <a:t>메인 랜딩 페이지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Screen ID</a:t>
                      </a:r>
                      <a:endParaRPr lang="ko-KR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UI-MAIN-01</a:t>
                      </a:r>
                      <a:endParaRPr lang="ko-KR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Date</a:t>
                      </a:r>
                      <a:endParaRPr lang="ko-KR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2026.05.15</a:t>
                      </a:r>
                      <a:endParaRPr lang="ko-KR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47162339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Screen Path</a:t>
                      </a:r>
                      <a:endParaRPr lang="ko-KR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gridSpan="5">
                  <a:txBody>
                    <a:bodyPr/>
                    <a:lstStyle/>
                    <a:p>
                      <a:pPr algn="l" latinLnBrk="1"/>
                      <a:r>
                        <a:rPr lang="ko-KR" altLang="en-US" sz="1200" b="0" dirty="0">
                          <a:solidFill>
                            <a:schemeClr val="tx1"/>
                          </a:solidFill>
                        </a:rPr>
                        <a:t>메인 페이지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4188397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66837466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2" name="표 11">
            <a:extLst>
              <a:ext uri="{FF2B5EF4-FFF2-40B4-BE49-F238E27FC236}">
                <a16:creationId xmlns:a16="http://schemas.microsoft.com/office/drawing/2014/main" id="{56D51E58-4F90-6869-B8EE-E2681E26A61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83727519"/>
              </p:ext>
            </p:extLst>
          </p:nvPr>
        </p:nvGraphicFramePr>
        <p:xfrm>
          <a:off x="8352000" y="1440000"/>
          <a:ext cx="3672000" cy="309060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288000">
                  <a:extLst>
                    <a:ext uri="{9D8B030D-6E8A-4147-A177-3AD203B41FA5}">
                      <a16:colId xmlns:a16="http://schemas.microsoft.com/office/drawing/2014/main" val="435373391"/>
                    </a:ext>
                  </a:extLst>
                </a:gridCol>
                <a:gridCol w="3384000">
                  <a:extLst>
                    <a:ext uri="{9D8B030D-6E8A-4147-A177-3AD203B41FA5}">
                      <a16:colId xmlns:a16="http://schemas.microsoft.com/office/drawing/2014/main" val="2014592507"/>
                    </a:ext>
                  </a:extLst>
                </a:gridCol>
              </a:tblGrid>
              <a:tr h="288000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900" dirty="0">
                          <a:solidFill>
                            <a:sysClr val="windowText" lastClr="000000"/>
                          </a:solidFill>
                        </a:rPr>
                        <a:t>Description</a:t>
                      </a:r>
                      <a:endParaRPr lang="ko-KR" altLang="en-US" sz="9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71641928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sz="9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900" b="1" dirty="0"/>
                        <a:t>실시간 듀얼 차트 </a:t>
                      </a:r>
                      <a:r>
                        <a:rPr lang="en-US" altLang="ko-KR" sz="900" b="1" dirty="0"/>
                        <a:t>:</a:t>
                      </a:r>
                      <a:r>
                        <a:rPr lang="ko-KR" altLang="en-US" sz="900" b="1" dirty="0"/>
                        <a:t> </a:t>
                      </a:r>
                      <a:r>
                        <a:rPr lang="ko-KR" altLang="en-US" sz="900" b="0" dirty="0"/>
                        <a:t>휴양형 호텔</a:t>
                      </a:r>
                      <a:r>
                        <a:rPr lang="ko-KR" altLang="en-US" sz="900" dirty="0"/>
                        <a:t>과 도심형 호텔의 도넛 그래프 레이아웃</a:t>
                      </a:r>
                      <a:r>
                        <a:rPr lang="en-US" altLang="ko-KR" sz="900" dirty="0"/>
                        <a:t>. </a:t>
                      </a:r>
                      <a:r>
                        <a:rPr lang="ko-KR" altLang="en-US" sz="900" dirty="0"/>
                        <a:t>입력 폼 제어에 따라 선택된 호텔 타입의 취소 확률 데이터가 실시간으로 반영 및 업데이트됨</a:t>
                      </a:r>
                      <a:r>
                        <a:rPr lang="en-US" altLang="ko-KR" sz="900" dirty="0"/>
                        <a:t>.</a:t>
                      </a:r>
                      <a:endParaRPr lang="ko-KR" altLang="en-US" sz="9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11152381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dirty="0">
                          <a:solidFill>
                            <a:sysClr val="windowText" lastClr="000000"/>
                          </a:solidFill>
                        </a:rPr>
                        <a:t>2</a:t>
                      </a:r>
                      <a:endParaRPr lang="ko-KR" altLang="en-US" sz="9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900" b="1" dirty="0"/>
                        <a:t>실시간 분석 리포트</a:t>
                      </a:r>
                      <a:r>
                        <a:rPr lang="en-US" altLang="ko-KR" sz="900" b="1" dirty="0"/>
                        <a:t>:</a:t>
                      </a:r>
                      <a:r>
                        <a:rPr lang="ko-KR" altLang="en-US" sz="900" dirty="0"/>
                        <a:t> 계산된 예측 확률을 기반으로 현재 상태를 판별하고</a:t>
                      </a:r>
                      <a:r>
                        <a:rPr lang="en-US" altLang="ko-KR" sz="900" dirty="0"/>
                        <a:t>, </a:t>
                      </a:r>
                      <a:r>
                        <a:rPr lang="ko-KR" altLang="en-US" sz="900" dirty="0"/>
                        <a:t>텍스트 스토리텔링 방식의 맞춤형 인사이트 리포트를 렌더링함</a:t>
                      </a:r>
                      <a:r>
                        <a:rPr lang="en-US" altLang="ko-KR" sz="900" dirty="0"/>
                        <a:t>.</a:t>
                      </a:r>
                      <a:endParaRPr lang="ko-KR" altLang="en-US" sz="9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8261992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dirty="0">
                          <a:solidFill>
                            <a:sysClr val="windowText" lastClr="000000"/>
                          </a:solidFill>
                        </a:rPr>
                        <a:t>3</a:t>
                      </a:r>
                      <a:endParaRPr lang="ko-KR" altLang="en-US" sz="9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900" b="1" dirty="0"/>
                        <a:t>예약 및 개인정보 입력 폼</a:t>
                      </a:r>
                      <a:r>
                        <a:rPr lang="en-US" altLang="ko-KR" sz="900" b="1" dirty="0"/>
                        <a:t>:</a:t>
                      </a:r>
                      <a:r>
                        <a:rPr lang="ko-KR" altLang="en-US" sz="900" dirty="0"/>
                        <a:t> 개인정보와 예측에 필요한 피처를 수집하는 영역</a:t>
                      </a:r>
                      <a:r>
                        <a:rPr lang="en-US" altLang="ko-KR" sz="900" dirty="0"/>
                        <a:t>. [</a:t>
                      </a:r>
                      <a:r>
                        <a:rPr lang="ko-KR" altLang="en-US" sz="900" dirty="0"/>
                        <a:t>입력 초기화</a:t>
                      </a:r>
                      <a:r>
                        <a:rPr lang="en-US" altLang="ko-KR" sz="900" dirty="0"/>
                        <a:t>] </a:t>
                      </a:r>
                      <a:r>
                        <a:rPr lang="ko-KR" altLang="en-US" sz="900" dirty="0"/>
                        <a:t>시 데이터와 차트가 초기화되며</a:t>
                      </a:r>
                      <a:r>
                        <a:rPr lang="en-US" altLang="ko-KR" sz="900" dirty="0"/>
                        <a:t>, [</a:t>
                      </a:r>
                      <a:r>
                        <a:rPr lang="ko-KR" altLang="en-US" sz="900" dirty="0"/>
                        <a:t>예약하기</a:t>
                      </a:r>
                      <a:r>
                        <a:rPr lang="en-US" altLang="ko-KR" sz="900" dirty="0"/>
                        <a:t>] </a:t>
                      </a:r>
                      <a:r>
                        <a:rPr lang="ko-KR" altLang="en-US" sz="900" dirty="0"/>
                        <a:t>클릭 시 </a:t>
                      </a:r>
                      <a:r>
                        <a:rPr lang="en-US" altLang="ko-KR" sz="900" dirty="0"/>
                        <a:t>DB </a:t>
                      </a:r>
                      <a:r>
                        <a:rPr lang="ko-KR" altLang="en-US" sz="900" dirty="0"/>
                        <a:t>연동 기능이 수행됨</a:t>
                      </a:r>
                      <a:r>
                        <a:rPr lang="en-US" altLang="ko-KR" sz="900" dirty="0"/>
                        <a:t>.</a:t>
                      </a:r>
                      <a:endParaRPr lang="ko-KR" altLang="en-US" sz="9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2036631"/>
                  </a:ext>
                </a:extLst>
              </a:tr>
              <a:tr h="288000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900" b="1" dirty="0">
                          <a:solidFill>
                            <a:sysClr val="windowText" lastClr="000000"/>
                          </a:solidFill>
                        </a:rPr>
                        <a:t>Check Point</a:t>
                      </a:r>
                      <a:endParaRPr lang="ko-KR" altLang="en-US" sz="900" b="1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9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08949567"/>
                  </a:ext>
                </a:extLst>
              </a:tr>
              <a:tr h="432000">
                <a:tc gridSpan="2">
                  <a:txBody>
                    <a:bodyPr/>
                    <a:lstStyle/>
                    <a:p>
                      <a:pPr algn="l" latinLnBrk="1"/>
                      <a:r>
                        <a:rPr lang="ko-KR" altLang="en-US" sz="900" b="1" dirty="0"/>
                        <a:t>비동기 실시간 예측 트리거</a:t>
                      </a:r>
                      <a:r>
                        <a:rPr lang="en-US" altLang="ko-KR" sz="900" b="1" dirty="0"/>
                        <a:t>:</a:t>
                      </a:r>
                      <a:r>
                        <a:rPr lang="ko-KR" altLang="en-US" sz="900" dirty="0"/>
                        <a:t> 폼 내부의 값이 변경될 때마다 </a:t>
                      </a:r>
                      <a:r>
                        <a:rPr lang="ko-KR" altLang="en-US" sz="900" dirty="0" err="1"/>
                        <a:t>새로고침</a:t>
                      </a:r>
                      <a:r>
                        <a:rPr lang="ko-KR" altLang="en-US" sz="900" dirty="0"/>
                        <a:t> 없이 </a:t>
                      </a:r>
                      <a:r>
                        <a:rPr lang="ko-KR" altLang="en-US" sz="900" dirty="0" err="1"/>
                        <a:t>백엔드</a:t>
                      </a:r>
                      <a:r>
                        <a:rPr lang="ko-KR" altLang="en-US" sz="900" dirty="0"/>
                        <a:t> </a:t>
                      </a:r>
                      <a:r>
                        <a:rPr lang="en-US" altLang="ko-KR" sz="900" dirty="0"/>
                        <a:t>API</a:t>
                      </a:r>
                      <a:r>
                        <a:rPr lang="ko-KR" altLang="en-US" sz="900" dirty="0"/>
                        <a:t>와 실시간 통신하여 그래프와 리포트 데이터를 동적 갱신함</a:t>
                      </a:r>
                      <a:r>
                        <a:rPr lang="en-US" altLang="ko-KR" sz="900" dirty="0"/>
                        <a:t>.</a:t>
                      </a:r>
                      <a:endParaRPr lang="ko-KR" altLang="en-US" sz="9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9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39299508"/>
                  </a:ext>
                </a:extLst>
              </a:tr>
              <a:tr h="432000">
                <a:tc gridSpan="2">
                  <a:txBody>
                    <a:bodyPr/>
                    <a:lstStyle/>
                    <a:p>
                      <a:pPr algn="l" latinLnBrk="1"/>
                      <a:r>
                        <a:rPr lang="ko-KR" altLang="en-US" sz="900" b="1" dirty="0"/>
                        <a:t>파싱 및 유효성 검증 예외 처리</a:t>
                      </a:r>
                      <a:r>
                        <a:rPr lang="en-US" altLang="ko-KR" sz="900" b="1" dirty="0"/>
                        <a:t>:</a:t>
                      </a:r>
                      <a:r>
                        <a:rPr lang="ko-KR" altLang="en-US" sz="900" dirty="0"/>
                        <a:t> 예약 날짜를 기반으로 선행 기간을 자동 계산하며</a:t>
                      </a:r>
                      <a:r>
                        <a:rPr lang="en-US" altLang="ko-KR" sz="900" dirty="0"/>
                        <a:t>, </a:t>
                      </a:r>
                      <a:r>
                        <a:rPr lang="ko-KR" altLang="en-US" sz="900" dirty="0"/>
                        <a:t>추가 요청 사항의 문자열 길이에 따라 가중치 가변 처리</a:t>
                      </a:r>
                      <a:r>
                        <a:rPr lang="en-US" altLang="ko-KR" sz="900" dirty="0"/>
                        <a:t>. </a:t>
                      </a:r>
                      <a:r>
                        <a:rPr lang="ko-KR" altLang="en-US" sz="900" dirty="0"/>
                        <a:t>전화번호 입력란은 숫자 이외의 문자 입력을 차단함</a:t>
                      </a:r>
                      <a:r>
                        <a:rPr lang="en-US" altLang="ko-KR" sz="900" dirty="0"/>
                        <a:t>.</a:t>
                      </a:r>
                      <a:endParaRPr lang="ko-KR" altLang="en-US" sz="9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9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85794178"/>
                  </a:ext>
                </a:extLst>
              </a:tr>
            </a:tbl>
          </a:graphicData>
        </a:graphic>
      </p:graphicFrame>
      <p:graphicFrame>
        <p:nvGraphicFramePr>
          <p:cNvPr id="13" name="표 12">
            <a:extLst>
              <a:ext uri="{FF2B5EF4-FFF2-40B4-BE49-F238E27FC236}">
                <a16:creationId xmlns:a16="http://schemas.microsoft.com/office/drawing/2014/main" id="{7BFB3996-D455-70A0-1685-06ECE662BA6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07851820"/>
              </p:ext>
            </p:extLst>
          </p:nvPr>
        </p:nvGraphicFramePr>
        <p:xfrm>
          <a:off x="2880000" y="180000"/>
          <a:ext cx="7811999" cy="72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29012">
                  <a:extLst>
                    <a:ext uri="{9D8B030D-6E8A-4147-A177-3AD203B41FA5}">
                      <a16:colId xmlns:a16="http://schemas.microsoft.com/office/drawing/2014/main" val="3761885617"/>
                    </a:ext>
                  </a:extLst>
                </a:gridCol>
                <a:gridCol w="1948305">
                  <a:extLst>
                    <a:ext uri="{9D8B030D-6E8A-4147-A177-3AD203B41FA5}">
                      <a16:colId xmlns:a16="http://schemas.microsoft.com/office/drawing/2014/main" val="3707622563"/>
                    </a:ext>
                  </a:extLst>
                </a:gridCol>
                <a:gridCol w="1202657">
                  <a:extLst>
                    <a:ext uri="{9D8B030D-6E8A-4147-A177-3AD203B41FA5}">
                      <a16:colId xmlns:a16="http://schemas.microsoft.com/office/drawing/2014/main" val="1345942057"/>
                    </a:ext>
                  </a:extLst>
                </a:gridCol>
                <a:gridCol w="1226711">
                  <a:extLst>
                    <a:ext uri="{9D8B030D-6E8A-4147-A177-3AD203B41FA5}">
                      <a16:colId xmlns:a16="http://schemas.microsoft.com/office/drawing/2014/main" val="3967854958"/>
                    </a:ext>
                  </a:extLst>
                </a:gridCol>
                <a:gridCol w="1202657">
                  <a:extLst>
                    <a:ext uri="{9D8B030D-6E8A-4147-A177-3AD203B41FA5}">
                      <a16:colId xmlns:a16="http://schemas.microsoft.com/office/drawing/2014/main" val="836156341"/>
                    </a:ext>
                  </a:extLst>
                </a:gridCol>
                <a:gridCol w="1202657">
                  <a:extLst>
                    <a:ext uri="{9D8B030D-6E8A-4147-A177-3AD203B41FA5}">
                      <a16:colId xmlns:a16="http://schemas.microsoft.com/office/drawing/2014/main" val="1502511261"/>
                    </a:ext>
                  </a:extLst>
                </a:gridCol>
              </a:tblGrid>
              <a:tr h="360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Page Title</a:t>
                      </a:r>
                      <a:endParaRPr lang="ko-KR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>
                          <a:solidFill>
                            <a:schemeClr val="tx1"/>
                          </a:solidFill>
                        </a:rPr>
                        <a:t>예약 </a:t>
                      </a:r>
                      <a:r>
                        <a:rPr lang="ko-KR" altLang="en-US" sz="1200" b="0" dirty="0" err="1">
                          <a:solidFill>
                            <a:schemeClr val="tx1"/>
                          </a:solidFill>
                        </a:rPr>
                        <a:t>취소율</a:t>
                      </a:r>
                      <a:r>
                        <a:rPr lang="ko-KR" altLang="en-US" sz="1200" b="0" dirty="0">
                          <a:solidFill>
                            <a:schemeClr val="tx1"/>
                          </a:solidFill>
                        </a:rPr>
                        <a:t> 예측 페이지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dirty="0">
                          <a:solidFill>
                            <a:sysClr val="windowText" lastClr="000000"/>
                          </a:solidFill>
                        </a:rPr>
                        <a:t>Screen ID</a:t>
                      </a:r>
                      <a:endParaRPr lang="ko-KR" altLang="en-US" sz="12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dirty="0">
                          <a:solidFill>
                            <a:sysClr val="windowText" lastClr="000000"/>
                          </a:solidFill>
                        </a:rPr>
                        <a:t>UI-PREDICT-01</a:t>
                      </a:r>
                      <a:endParaRPr lang="ko-KR" altLang="en-US" sz="12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Date</a:t>
                      </a:r>
                      <a:endParaRPr lang="ko-KR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2026.05.16</a:t>
                      </a:r>
                      <a:endParaRPr lang="ko-KR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47162339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Screen Path</a:t>
                      </a:r>
                      <a:endParaRPr lang="ko-KR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gridSpan="5">
                  <a:txBody>
                    <a:bodyPr/>
                    <a:lstStyle/>
                    <a:p>
                      <a:pPr algn="l" latinLnBrk="1"/>
                      <a:r>
                        <a:rPr lang="ko-KR" altLang="en-US" sz="1200" b="0" dirty="0">
                          <a:solidFill>
                            <a:schemeClr val="tx1"/>
                          </a:solidFill>
                        </a:rPr>
                        <a:t>예측 페이지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41883973"/>
                  </a:ext>
                </a:extLst>
              </a:tr>
            </a:tbl>
          </a:graphicData>
        </a:graphic>
      </p:graphicFrame>
      <p:pic>
        <p:nvPicPr>
          <p:cNvPr id="15" name="그림 14">
            <a:extLst>
              <a:ext uri="{FF2B5EF4-FFF2-40B4-BE49-F238E27FC236}">
                <a16:creationId xmlns:a16="http://schemas.microsoft.com/office/drawing/2014/main" id="{587C7D1F-A8BE-278A-806A-0CF5648CF4C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440000"/>
            <a:ext cx="7966181" cy="4320000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7B70E63B-75FF-4F03-B835-0DCED878D88C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2880000" cy="1080000"/>
          </a:xfrm>
          <a:prstGeom prst="rect">
            <a:avLst/>
          </a:prstGeom>
        </p:spPr>
        <p:txBody>
          <a:bodyPr anchor="ctr" anchorCtr="0"/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ko-KR" altLang="en-US" b="1" dirty="0">
                <a:latin typeface="Noto Sans KR" panose="020B0200000000000000" pitchFamily="50" charset="-127"/>
                <a:ea typeface="Noto Sans KR" panose="020B0200000000000000" pitchFamily="50" charset="-127"/>
              </a:rPr>
              <a:t>   </a:t>
            </a:r>
            <a:r>
              <a:rPr lang="ko-KR" altLang="en-US" sz="3200" b="1" dirty="0">
                <a:latin typeface="Noto Sans KR Black" panose="020B0200000000000000" pitchFamily="50" charset="-127"/>
                <a:ea typeface="Noto Sans KR Black" panose="020B0200000000000000" pitchFamily="50" charset="-127"/>
              </a:rPr>
              <a:t>화면설계서</a:t>
            </a:r>
            <a:endParaRPr lang="ko-KR" altLang="en-US" sz="3600" dirty="0">
              <a:latin typeface="Noto Sans KR Black" panose="020B0200000000000000" pitchFamily="50" charset="-127"/>
              <a:ea typeface="Noto Sans KR Black" panose="020B0200000000000000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27410579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5" name="표 14">
            <a:extLst>
              <a:ext uri="{FF2B5EF4-FFF2-40B4-BE49-F238E27FC236}">
                <a16:creationId xmlns:a16="http://schemas.microsoft.com/office/drawing/2014/main" id="{296471FB-746A-D425-E722-9631694FC60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08298411"/>
              </p:ext>
            </p:extLst>
          </p:nvPr>
        </p:nvGraphicFramePr>
        <p:xfrm>
          <a:off x="2880000" y="180000"/>
          <a:ext cx="7811999" cy="72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29012">
                  <a:extLst>
                    <a:ext uri="{9D8B030D-6E8A-4147-A177-3AD203B41FA5}">
                      <a16:colId xmlns:a16="http://schemas.microsoft.com/office/drawing/2014/main" val="3761885617"/>
                    </a:ext>
                  </a:extLst>
                </a:gridCol>
                <a:gridCol w="1948305">
                  <a:extLst>
                    <a:ext uri="{9D8B030D-6E8A-4147-A177-3AD203B41FA5}">
                      <a16:colId xmlns:a16="http://schemas.microsoft.com/office/drawing/2014/main" val="3707622563"/>
                    </a:ext>
                  </a:extLst>
                </a:gridCol>
                <a:gridCol w="1202657">
                  <a:extLst>
                    <a:ext uri="{9D8B030D-6E8A-4147-A177-3AD203B41FA5}">
                      <a16:colId xmlns:a16="http://schemas.microsoft.com/office/drawing/2014/main" val="1345942057"/>
                    </a:ext>
                  </a:extLst>
                </a:gridCol>
                <a:gridCol w="1226711">
                  <a:extLst>
                    <a:ext uri="{9D8B030D-6E8A-4147-A177-3AD203B41FA5}">
                      <a16:colId xmlns:a16="http://schemas.microsoft.com/office/drawing/2014/main" val="3967854958"/>
                    </a:ext>
                  </a:extLst>
                </a:gridCol>
                <a:gridCol w="1202657">
                  <a:extLst>
                    <a:ext uri="{9D8B030D-6E8A-4147-A177-3AD203B41FA5}">
                      <a16:colId xmlns:a16="http://schemas.microsoft.com/office/drawing/2014/main" val="836156341"/>
                    </a:ext>
                  </a:extLst>
                </a:gridCol>
                <a:gridCol w="1202657">
                  <a:extLst>
                    <a:ext uri="{9D8B030D-6E8A-4147-A177-3AD203B41FA5}">
                      <a16:colId xmlns:a16="http://schemas.microsoft.com/office/drawing/2014/main" val="1502511261"/>
                    </a:ext>
                  </a:extLst>
                </a:gridCol>
              </a:tblGrid>
              <a:tr h="360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Page Title</a:t>
                      </a:r>
                      <a:endParaRPr lang="ko-KR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>
                          <a:solidFill>
                            <a:schemeClr val="tx1"/>
                          </a:solidFill>
                        </a:rPr>
                        <a:t>예약 정보 찾기 및 관리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Screen ID</a:t>
                      </a:r>
                      <a:endParaRPr lang="ko-KR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UI-SEARCH-01</a:t>
                      </a:r>
                      <a:endParaRPr lang="ko-KR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Date</a:t>
                      </a:r>
                      <a:endParaRPr lang="ko-KR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2026.05.18</a:t>
                      </a:r>
                      <a:endParaRPr lang="ko-KR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47162339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Screen Path</a:t>
                      </a:r>
                      <a:endParaRPr lang="ko-KR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gridSpan="5">
                  <a:txBody>
                    <a:bodyPr/>
                    <a:lstStyle/>
                    <a:p>
                      <a:pPr algn="l" latinLnBrk="1"/>
                      <a:r>
                        <a:rPr lang="ko-KR" altLang="en-US" sz="1200" b="0" dirty="0">
                          <a:solidFill>
                            <a:schemeClr val="tx1"/>
                          </a:solidFill>
                        </a:rPr>
                        <a:t>예약 정보 찾기 및 관리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41883973"/>
                  </a:ext>
                </a:extLst>
              </a:tr>
            </a:tbl>
          </a:graphicData>
        </a:graphic>
      </p:graphicFrame>
      <p:graphicFrame>
        <p:nvGraphicFramePr>
          <p:cNvPr id="17" name="표 16">
            <a:extLst>
              <a:ext uri="{FF2B5EF4-FFF2-40B4-BE49-F238E27FC236}">
                <a16:creationId xmlns:a16="http://schemas.microsoft.com/office/drawing/2014/main" id="{7880DB03-7F35-B46A-A643-9542DE66DE3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95995298"/>
              </p:ext>
            </p:extLst>
          </p:nvPr>
        </p:nvGraphicFramePr>
        <p:xfrm>
          <a:off x="8352000" y="1440000"/>
          <a:ext cx="3672000" cy="388368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288000">
                  <a:extLst>
                    <a:ext uri="{9D8B030D-6E8A-4147-A177-3AD203B41FA5}">
                      <a16:colId xmlns:a16="http://schemas.microsoft.com/office/drawing/2014/main" val="435373391"/>
                    </a:ext>
                  </a:extLst>
                </a:gridCol>
                <a:gridCol w="3384000">
                  <a:extLst>
                    <a:ext uri="{9D8B030D-6E8A-4147-A177-3AD203B41FA5}">
                      <a16:colId xmlns:a16="http://schemas.microsoft.com/office/drawing/2014/main" val="2014592507"/>
                    </a:ext>
                  </a:extLst>
                </a:gridCol>
              </a:tblGrid>
              <a:tr h="288000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900" dirty="0">
                          <a:solidFill>
                            <a:sysClr val="windowText" lastClr="000000"/>
                          </a:solidFill>
                        </a:rPr>
                        <a:t>Description</a:t>
                      </a:r>
                      <a:endParaRPr lang="ko-KR" altLang="en-US" sz="9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71641928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sz="9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900" b="1" dirty="0"/>
                        <a:t>실시간 누적 </a:t>
                      </a:r>
                      <a:r>
                        <a:rPr lang="ko-KR" altLang="en-US" sz="900" b="1" dirty="0" err="1"/>
                        <a:t>취소율</a:t>
                      </a:r>
                      <a:r>
                        <a:rPr lang="ko-KR" altLang="en-US" sz="900" b="1" dirty="0"/>
                        <a:t> 대시보드</a:t>
                      </a:r>
                      <a:r>
                        <a:rPr lang="en-US" altLang="ko-KR" sz="900" b="1" dirty="0"/>
                        <a:t>:</a:t>
                      </a:r>
                      <a:r>
                        <a:rPr lang="ko-KR" altLang="en-US" sz="900" dirty="0"/>
                        <a:t> 페이지 로드 시 </a:t>
                      </a:r>
                      <a:r>
                        <a:rPr lang="ko-KR" altLang="en-US" sz="900" dirty="0" err="1"/>
                        <a:t>백엔드</a:t>
                      </a:r>
                      <a:r>
                        <a:rPr lang="ko-KR" altLang="en-US" sz="900" dirty="0"/>
                        <a:t> </a:t>
                      </a:r>
                      <a:r>
                        <a:rPr lang="en-US" altLang="ko-KR" sz="900" dirty="0"/>
                        <a:t>API</a:t>
                      </a:r>
                      <a:r>
                        <a:rPr lang="ko-KR" altLang="en-US" sz="900" dirty="0"/>
                        <a:t>를 호출하여 휴양형 호텔과 도심형</a:t>
                      </a:r>
                      <a:r>
                        <a:rPr lang="en-US" altLang="ko-KR" sz="900" dirty="0"/>
                        <a:t> </a:t>
                      </a:r>
                      <a:r>
                        <a:rPr lang="ko-KR" altLang="en-US" sz="900" dirty="0"/>
                        <a:t>호텔의 누적 취소 현황 지표를 도넛 그래프로 </a:t>
                      </a:r>
                      <a:r>
                        <a:rPr lang="ko-KR" altLang="en-US" sz="900" dirty="0" err="1"/>
                        <a:t>시각화함</a:t>
                      </a:r>
                      <a:r>
                        <a:rPr lang="en-US" altLang="ko-KR" sz="900" dirty="0"/>
                        <a:t>.</a:t>
                      </a:r>
                      <a:endParaRPr lang="ko-KR" altLang="en-US" sz="9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11152381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dirty="0">
                          <a:solidFill>
                            <a:sysClr val="windowText" lastClr="000000"/>
                          </a:solidFill>
                        </a:rPr>
                        <a:t>2</a:t>
                      </a:r>
                      <a:endParaRPr lang="ko-KR" altLang="en-US" sz="9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900" b="1" dirty="0"/>
                        <a:t>예약 내역 조회 정보 입력 폼</a:t>
                      </a:r>
                      <a:r>
                        <a:rPr lang="en-US" altLang="ko-KR" sz="900" b="1" dirty="0"/>
                        <a:t>:</a:t>
                      </a:r>
                      <a:r>
                        <a:rPr lang="ko-KR" altLang="en-US" sz="900" dirty="0"/>
                        <a:t> 고객 이름</a:t>
                      </a:r>
                      <a:r>
                        <a:rPr lang="en-US" altLang="ko-KR" sz="900" dirty="0"/>
                        <a:t>, </a:t>
                      </a:r>
                      <a:r>
                        <a:rPr lang="ko-KR" altLang="en-US" sz="900" dirty="0"/>
                        <a:t>생년월일</a:t>
                      </a:r>
                      <a:r>
                        <a:rPr lang="en-US" altLang="ko-KR" sz="900" dirty="0"/>
                        <a:t>, </a:t>
                      </a:r>
                      <a:r>
                        <a:rPr lang="ko-KR" altLang="en-US" sz="900" dirty="0"/>
                        <a:t>전화번호를 </a:t>
                      </a:r>
                      <a:r>
                        <a:rPr lang="ko-KR" altLang="en-US" sz="900" dirty="0" err="1"/>
                        <a:t>입력받는</a:t>
                      </a:r>
                      <a:r>
                        <a:rPr lang="ko-KR" altLang="en-US" sz="900" dirty="0"/>
                        <a:t> 영역</a:t>
                      </a:r>
                      <a:r>
                        <a:rPr lang="en-US" altLang="ko-KR" sz="900" dirty="0"/>
                        <a:t>. </a:t>
                      </a:r>
                      <a:r>
                        <a:rPr lang="ko-KR" altLang="en-US" sz="900" dirty="0"/>
                        <a:t>생년월일 선택 시 윤년 및 월별 일수를 자바스크립트로 자동 계산하여 필터링함</a:t>
                      </a:r>
                      <a:r>
                        <a:rPr lang="en-US" altLang="ko-KR" sz="900" dirty="0"/>
                        <a:t>.</a:t>
                      </a:r>
                      <a:endParaRPr lang="ko-KR" altLang="en-US" sz="9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8261992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dirty="0">
                          <a:solidFill>
                            <a:sysClr val="windowText" lastClr="000000"/>
                          </a:solidFill>
                        </a:rPr>
                        <a:t>3</a:t>
                      </a:r>
                      <a:endParaRPr lang="ko-KR" altLang="en-US" sz="9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900" b="1" dirty="0"/>
                        <a:t>비동기 예약 내역 리스트창</a:t>
                      </a:r>
                      <a:r>
                        <a:rPr lang="en-US" altLang="ko-KR" sz="900" b="1" dirty="0"/>
                        <a:t>:</a:t>
                      </a:r>
                      <a:r>
                        <a:rPr lang="ko-KR" altLang="en-US" sz="900" dirty="0"/>
                        <a:t> </a:t>
                      </a:r>
                      <a:r>
                        <a:rPr lang="en-US" altLang="ko-KR" sz="900" dirty="0"/>
                        <a:t>[</a:t>
                      </a:r>
                      <a:r>
                        <a:rPr lang="ko-KR" altLang="en-US" sz="900" dirty="0"/>
                        <a:t>예약정보조회</a:t>
                      </a:r>
                      <a:r>
                        <a:rPr lang="en-US" altLang="ko-KR" sz="900" dirty="0"/>
                        <a:t>] </a:t>
                      </a:r>
                      <a:r>
                        <a:rPr lang="ko-KR" altLang="en-US" sz="900" dirty="0"/>
                        <a:t>버튼 클릭 시 비동기 요청을 통해 일치하는 고객 데이터를 수신하고</a:t>
                      </a:r>
                      <a:r>
                        <a:rPr lang="en-US" altLang="ko-KR" sz="900" dirty="0"/>
                        <a:t>, </a:t>
                      </a:r>
                      <a:r>
                        <a:rPr lang="ko-KR" altLang="en-US" sz="900" dirty="0"/>
                        <a:t>하단 영역에 카드 레이아웃 형태로 동적 렌더링함</a:t>
                      </a:r>
                      <a:r>
                        <a:rPr lang="en-US" altLang="ko-KR" sz="900" dirty="0"/>
                        <a:t>.</a:t>
                      </a:r>
                      <a:endParaRPr lang="ko-KR" altLang="en-US" sz="9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18688297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dirty="0">
                          <a:solidFill>
                            <a:sysClr val="windowText" lastClr="000000"/>
                          </a:solidFill>
                        </a:rPr>
                        <a:t>4</a:t>
                      </a:r>
                      <a:endParaRPr lang="ko-KR" altLang="en-US" sz="9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900" b="1" dirty="0"/>
                        <a:t>예약 취소 트리거 버튼</a:t>
                      </a:r>
                      <a:r>
                        <a:rPr lang="en-US" altLang="ko-KR" sz="900" b="1" dirty="0"/>
                        <a:t>:</a:t>
                      </a:r>
                      <a:r>
                        <a:rPr lang="ko-KR" altLang="en-US" sz="900" dirty="0"/>
                        <a:t> 조회된 개별 예약 카드 내 활성화된 </a:t>
                      </a:r>
                      <a:r>
                        <a:rPr lang="en-US" altLang="ko-KR" sz="900" dirty="0"/>
                        <a:t>[</a:t>
                      </a:r>
                      <a:r>
                        <a:rPr lang="ko-KR" altLang="en-US" sz="900" dirty="0"/>
                        <a:t>예약취소</a:t>
                      </a:r>
                      <a:r>
                        <a:rPr lang="en-US" altLang="ko-KR" sz="900" dirty="0"/>
                        <a:t>] </a:t>
                      </a:r>
                      <a:r>
                        <a:rPr lang="ko-KR" altLang="en-US" sz="900" dirty="0"/>
                        <a:t>버튼 클릭 시</a:t>
                      </a:r>
                      <a:r>
                        <a:rPr lang="en-US" altLang="ko-KR" sz="900" dirty="0"/>
                        <a:t>, </a:t>
                      </a:r>
                      <a:r>
                        <a:rPr lang="ko-KR" altLang="en-US" sz="900" dirty="0"/>
                        <a:t>고유 </a:t>
                      </a:r>
                      <a:r>
                        <a:rPr lang="en-US" altLang="ko-KR" sz="900" dirty="0"/>
                        <a:t>ID </a:t>
                      </a:r>
                      <a:r>
                        <a:rPr lang="ko-KR" altLang="en-US" sz="900" dirty="0"/>
                        <a:t>기반의 </a:t>
                      </a:r>
                      <a:r>
                        <a:rPr lang="en-US" altLang="ko-KR" sz="900" dirty="0"/>
                        <a:t>API</a:t>
                      </a:r>
                      <a:r>
                        <a:rPr lang="ko-KR" altLang="en-US" sz="900" dirty="0"/>
                        <a:t>를 호출하여 예약을 취소하고 </a:t>
                      </a:r>
                      <a:r>
                        <a:rPr lang="en-US" altLang="ko-KR" sz="900" dirty="0"/>
                        <a:t>DB </a:t>
                      </a:r>
                      <a:r>
                        <a:rPr lang="ko-KR" altLang="en-US" sz="900" dirty="0"/>
                        <a:t>데이터를 동기화함</a:t>
                      </a:r>
                      <a:r>
                        <a:rPr lang="en-US" altLang="ko-KR" sz="900" dirty="0"/>
                        <a:t>.</a:t>
                      </a:r>
                      <a:endParaRPr lang="ko-KR" altLang="en-US" sz="9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74020878"/>
                  </a:ext>
                </a:extLst>
              </a:tr>
              <a:tr h="288000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900" b="1" dirty="0">
                          <a:solidFill>
                            <a:sysClr val="windowText" lastClr="000000"/>
                          </a:solidFill>
                        </a:rPr>
                        <a:t>Check Point</a:t>
                      </a:r>
                      <a:endParaRPr lang="ko-KR" altLang="en-US" sz="900" b="1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9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08949567"/>
                  </a:ext>
                </a:extLst>
              </a:tr>
              <a:tr h="648000">
                <a:tc gridSpan="2">
                  <a:txBody>
                    <a:bodyPr/>
                    <a:lstStyle/>
                    <a:p>
                      <a:pPr algn="l" latinLnBrk="1"/>
                      <a:r>
                        <a:rPr lang="ko-KR" altLang="en-US" sz="900" b="1" dirty="0"/>
                        <a:t>사용자 친화적 예외 처리</a:t>
                      </a:r>
                      <a:r>
                        <a:rPr lang="en-US" altLang="ko-KR" sz="900" b="1" dirty="0"/>
                        <a:t>:</a:t>
                      </a:r>
                      <a:r>
                        <a:rPr lang="ko-KR" altLang="en-US" sz="900" dirty="0"/>
                        <a:t> 입력 폼 누락 시 </a:t>
                      </a:r>
                      <a:r>
                        <a:rPr lang="ko-KR" altLang="en-US" sz="900" dirty="0" err="1"/>
                        <a:t>알림창을</a:t>
                      </a:r>
                      <a:r>
                        <a:rPr lang="ko-KR" altLang="en-US" sz="900" dirty="0"/>
                        <a:t> 띄우며</a:t>
                      </a:r>
                      <a:r>
                        <a:rPr lang="en-US" altLang="ko-KR" sz="900" dirty="0"/>
                        <a:t>, </a:t>
                      </a:r>
                      <a:r>
                        <a:rPr lang="ko-KR" altLang="en-US" sz="900" dirty="0"/>
                        <a:t>데이터베이스 조회 결과 일치하는 정보가 없을 경우 </a:t>
                      </a:r>
                      <a:r>
                        <a:rPr lang="en-US" altLang="ko-KR" sz="900" dirty="0"/>
                        <a:t>“</a:t>
                      </a:r>
                      <a:r>
                        <a:rPr lang="ko-KR" altLang="en-US" sz="900" dirty="0"/>
                        <a:t>일치하는 예약 내역이 없습니다</a:t>
                      </a:r>
                      <a:r>
                        <a:rPr lang="en-US" altLang="ko-KR" sz="900" dirty="0"/>
                        <a:t>.” </a:t>
                      </a:r>
                      <a:r>
                        <a:rPr lang="ko-KR" altLang="en-US" sz="900" dirty="0"/>
                        <a:t>경고와 함께 결과 창을 은닉</a:t>
                      </a:r>
                      <a:r>
                        <a:rPr lang="en-US" altLang="ko-KR" sz="900" dirty="0"/>
                        <a:t> </a:t>
                      </a:r>
                      <a:r>
                        <a:rPr lang="ko-KR" altLang="en-US" sz="900" dirty="0"/>
                        <a:t>처리함</a:t>
                      </a:r>
                      <a:r>
                        <a:rPr lang="en-US" altLang="ko-KR" sz="900" dirty="0"/>
                        <a:t>.</a:t>
                      </a:r>
                      <a:endParaRPr lang="ko-KR" altLang="en-US" sz="9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9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85794178"/>
                  </a:ext>
                </a:extLst>
              </a:tr>
              <a:tr h="648000"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900" b="1" dirty="0"/>
                        <a:t>비동기 데이터 갱신</a:t>
                      </a:r>
                      <a:r>
                        <a:rPr lang="en-US" altLang="ko-KR" sz="900" b="1" dirty="0"/>
                        <a:t>:</a:t>
                      </a:r>
                      <a:r>
                        <a:rPr lang="ko-KR" altLang="en-US" sz="900" dirty="0"/>
                        <a:t> 사용자가 예약을 취소하면 화면 전체를 </a:t>
                      </a:r>
                      <a:r>
                        <a:rPr lang="ko-KR" altLang="en-US" sz="900" dirty="0" err="1"/>
                        <a:t>새로고침하지</a:t>
                      </a:r>
                      <a:r>
                        <a:rPr lang="ko-KR" altLang="en-US" sz="900" dirty="0"/>
                        <a:t> 않고</a:t>
                      </a:r>
                      <a:r>
                        <a:rPr lang="en-US" altLang="ko-KR" sz="900" dirty="0"/>
                        <a:t>, </a:t>
                      </a:r>
                      <a:r>
                        <a:rPr lang="ko-KR" altLang="en-US" sz="900" dirty="0"/>
                        <a:t>자바스크립트가 자동으로 검색 버튼을 </a:t>
                      </a:r>
                      <a:r>
                        <a:rPr lang="ko-KR" altLang="en-US" sz="900" dirty="0" err="1"/>
                        <a:t>재클릭하여</a:t>
                      </a:r>
                      <a:r>
                        <a:rPr lang="ko-KR" altLang="en-US" sz="900" dirty="0"/>
                        <a:t> 실시간으로 </a:t>
                      </a:r>
                      <a:r>
                        <a:rPr lang="ko-KR" altLang="en-US" sz="900" dirty="0" err="1"/>
                        <a:t>취소율</a:t>
                      </a:r>
                      <a:r>
                        <a:rPr lang="ko-KR" altLang="en-US" sz="900" dirty="0"/>
                        <a:t> 대시보드와 하단 리스트를 즉각 업데이트함</a:t>
                      </a:r>
                      <a:r>
                        <a:rPr lang="en-US" altLang="ko-KR" sz="900" dirty="0"/>
                        <a:t>.</a:t>
                      </a:r>
                      <a:endParaRPr lang="ko-KR" altLang="en-US" sz="9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84724369"/>
                  </a:ext>
                </a:extLst>
              </a:tr>
            </a:tbl>
          </a:graphicData>
        </a:graphic>
      </p:graphicFrame>
      <p:sp>
        <p:nvSpPr>
          <p:cNvPr id="2" name="제목 1">
            <a:extLst>
              <a:ext uri="{FF2B5EF4-FFF2-40B4-BE49-F238E27FC236}">
                <a16:creationId xmlns:a16="http://schemas.microsoft.com/office/drawing/2014/main" id="{959CE00F-C771-F115-562C-2E2266F69BA9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2880000" cy="1080000"/>
          </a:xfrm>
          <a:prstGeom prst="rect">
            <a:avLst/>
          </a:prstGeom>
        </p:spPr>
        <p:txBody>
          <a:bodyPr anchor="ctr" anchorCtr="0"/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ko-KR" altLang="en-US" b="1" dirty="0">
                <a:latin typeface="Noto Sans KR" panose="020B0200000000000000" pitchFamily="50" charset="-127"/>
                <a:ea typeface="Noto Sans KR" panose="020B0200000000000000" pitchFamily="50" charset="-127"/>
              </a:rPr>
              <a:t>   </a:t>
            </a:r>
            <a:r>
              <a:rPr lang="ko-KR" altLang="en-US" sz="3200" b="1" dirty="0">
                <a:latin typeface="Noto Sans KR Black" panose="020B0200000000000000" pitchFamily="50" charset="-127"/>
                <a:ea typeface="Noto Sans KR Black" panose="020B0200000000000000" pitchFamily="50" charset="-127"/>
              </a:rPr>
              <a:t>화면설계서</a:t>
            </a:r>
            <a:endParaRPr lang="ko-KR" altLang="en-US" sz="3600" dirty="0">
              <a:latin typeface="Noto Sans KR Black" panose="020B0200000000000000" pitchFamily="50" charset="-127"/>
              <a:ea typeface="Noto Sans KR Black" panose="020B0200000000000000" pitchFamily="50" charset="-127"/>
            </a:endParaRPr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6AA34B76-1FCA-4194-3A6B-02EA3D76545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440000"/>
            <a:ext cx="7880028" cy="43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0808965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그림 14">
            <a:extLst>
              <a:ext uri="{FF2B5EF4-FFF2-40B4-BE49-F238E27FC236}">
                <a16:creationId xmlns:a16="http://schemas.microsoft.com/office/drawing/2014/main" id="{49B1764B-2B30-25D8-F547-9252F45E7FD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3136" y="1631124"/>
            <a:ext cx="3549038" cy="4697831"/>
          </a:xfrm>
          <a:prstGeom prst="rect">
            <a:avLst/>
          </a:prstGeom>
        </p:spPr>
      </p:pic>
      <p:pic>
        <p:nvPicPr>
          <p:cNvPr id="17" name="그림 16">
            <a:extLst>
              <a:ext uri="{FF2B5EF4-FFF2-40B4-BE49-F238E27FC236}">
                <a16:creationId xmlns:a16="http://schemas.microsoft.com/office/drawing/2014/main" id="{30071583-9ECC-C461-24D7-6B67F71B9DE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72048" y="1383175"/>
            <a:ext cx="3706203" cy="5034749"/>
          </a:xfrm>
          <a:prstGeom prst="rect">
            <a:avLst/>
          </a:prstGeom>
        </p:spPr>
      </p:pic>
      <p:sp>
        <p:nvSpPr>
          <p:cNvPr id="18" name="제목 1">
            <a:extLst>
              <a:ext uri="{FF2B5EF4-FFF2-40B4-BE49-F238E27FC236}">
                <a16:creationId xmlns:a16="http://schemas.microsoft.com/office/drawing/2014/main" id="{95821F15-8615-40BE-8F62-EF27AEDFF9CC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1800000" cy="1080000"/>
          </a:xfrm>
          <a:prstGeom prst="rect">
            <a:avLst/>
          </a:prstGeom>
        </p:spPr>
        <p:txBody>
          <a:bodyPr anchor="ctr" anchorCtr="0"/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ko-KR" altLang="en-US" b="1" dirty="0">
                <a:latin typeface="Noto Sans KR" panose="020B0200000000000000" pitchFamily="50" charset="-127"/>
                <a:ea typeface="Noto Sans KR" panose="020B0200000000000000" pitchFamily="50" charset="-127"/>
              </a:rPr>
              <a:t>   </a:t>
            </a:r>
            <a:r>
              <a:rPr lang="en-US" altLang="ko-KR" sz="3200" b="1" dirty="0">
                <a:latin typeface="Noto Sans KR Black" panose="020B0200000000000000" pitchFamily="50" charset="-127"/>
                <a:ea typeface="Noto Sans KR Black" panose="020B0200000000000000" pitchFamily="50" charset="-127"/>
              </a:rPr>
              <a:t>UML</a:t>
            </a:r>
            <a:endParaRPr lang="ko-KR" altLang="en-US" sz="3600" dirty="0">
              <a:latin typeface="Noto Sans KR Black" panose="020B0200000000000000" pitchFamily="50" charset="-127"/>
              <a:ea typeface="Noto Sans KR Black" panose="020B0200000000000000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57555690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림 7">
            <a:extLst>
              <a:ext uri="{FF2B5EF4-FFF2-40B4-BE49-F238E27FC236}">
                <a16:creationId xmlns:a16="http://schemas.microsoft.com/office/drawing/2014/main" id="{EF2A069F-0B25-65CC-29D0-DF49BFB840A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01574" y="1148671"/>
            <a:ext cx="8788852" cy="4807197"/>
          </a:xfrm>
          <a:prstGeom prst="rect">
            <a:avLst/>
          </a:prstGeom>
        </p:spPr>
      </p:pic>
      <p:sp>
        <p:nvSpPr>
          <p:cNvPr id="16" name="제목 1">
            <a:extLst>
              <a:ext uri="{FF2B5EF4-FFF2-40B4-BE49-F238E27FC236}">
                <a16:creationId xmlns:a16="http://schemas.microsoft.com/office/drawing/2014/main" id="{D5270AE0-C0E8-8774-186A-B40F17869322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1800000" cy="1080000"/>
          </a:xfrm>
          <a:prstGeom prst="rect">
            <a:avLst/>
          </a:prstGeom>
        </p:spPr>
        <p:txBody>
          <a:bodyPr anchor="ctr" anchorCtr="0"/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ko-KR" altLang="en-US" b="1" dirty="0">
                <a:latin typeface="Noto Sans KR" panose="020B0200000000000000" pitchFamily="50" charset="-127"/>
                <a:ea typeface="Noto Sans KR" panose="020B0200000000000000" pitchFamily="50" charset="-127"/>
              </a:rPr>
              <a:t>   </a:t>
            </a:r>
            <a:r>
              <a:rPr lang="en-US" altLang="ko-KR" sz="3200" b="1" dirty="0">
                <a:latin typeface="Noto Sans KR Black" panose="020B0200000000000000" pitchFamily="50" charset="-127"/>
                <a:ea typeface="Noto Sans KR Black" panose="020B0200000000000000" pitchFamily="50" charset="-127"/>
              </a:rPr>
              <a:t>UML</a:t>
            </a:r>
            <a:endParaRPr lang="ko-KR" altLang="en-US" sz="3600" dirty="0">
              <a:latin typeface="Noto Sans KR Black" panose="020B0200000000000000" pitchFamily="50" charset="-127"/>
              <a:ea typeface="Noto Sans KR Black" panose="020B0200000000000000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91729526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림 7">
            <a:extLst>
              <a:ext uri="{FF2B5EF4-FFF2-40B4-BE49-F238E27FC236}">
                <a16:creationId xmlns:a16="http://schemas.microsoft.com/office/drawing/2014/main" id="{274C481E-1339-DBBD-69C4-FDBCBA7218D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35529" y="1475710"/>
            <a:ext cx="8097462" cy="4870213"/>
          </a:xfrm>
          <a:prstGeom prst="rect">
            <a:avLst/>
          </a:prstGeom>
        </p:spPr>
      </p:pic>
      <p:sp>
        <p:nvSpPr>
          <p:cNvPr id="13" name="제목 1">
            <a:extLst>
              <a:ext uri="{FF2B5EF4-FFF2-40B4-BE49-F238E27FC236}">
                <a16:creationId xmlns:a16="http://schemas.microsoft.com/office/drawing/2014/main" id="{CA6452F6-E972-286A-2ED5-873EC3161714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1800000" cy="1080000"/>
          </a:xfrm>
          <a:prstGeom prst="rect">
            <a:avLst/>
          </a:prstGeom>
        </p:spPr>
        <p:txBody>
          <a:bodyPr anchor="ctr" anchorCtr="0"/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ko-KR" altLang="en-US" b="1" dirty="0">
                <a:latin typeface="Noto Sans KR" panose="020B0200000000000000" pitchFamily="50" charset="-127"/>
                <a:ea typeface="Noto Sans KR" panose="020B0200000000000000" pitchFamily="50" charset="-127"/>
              </a:rPr>
              <a:t>   </a:t>
            </a:r>
            <a:r>
              <a:rPr lang="en-US" altLang="ko-KR" sz="3200" b="1" dirty="0">
                <a:latin typeface="Noto Sans KR Black" panose="020B0200000000000000" pitchFamily="50" charset="-127"/>
                <a:ea typeface="Noto Sans KR Black" panose="020B0200000000000000" pitchFamily="50" charset="-127"/>
              </a:rPr>
              <a:t>UML</a:t>
            </a:r>
            <a:endParaRPr lang="ko-KR" altLang="en-US" sz="3600" dirty="0">
              <a:latin typeface="Noto Sans KR Black" panose="020B0200000000000000" pitchFamily="50" charset="-127"/>
              <a:ea typeface="Noto Sans KR Black" panose="020B0200000000000000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80578223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>
            <a:extLst>
              <a:ext uri="{FF2B5EF4-FFF2-40B4-BE49-F238E27FC236}">
                <a16:creationId xmlns:a16="http://schemas.microsoft.com/office/drawing/2014/main" id="{A1BC658B-3A71-2467-CB33-03A51800EBDC}"/>
              </a:ext>
            </a:extLst>
          </p:cNvPr>
          <p:cNvSpPr/>
          <p:nvPr/>
        </p:nvSpPr>
        <p:spPr>
          <a:xfrm>
            <a:off x="-1" y="0"/>
            <a:ext cx="12193200" cy="432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" name="사각형: 잘린 한쪽 모서리 3">
            <a:extLst>
              <a:ext uri="{FF2B5EF4-FFF2-40B4-BE49-F238E27FC236}">
                <a16:creationId xmlns:a16="http://schemas.microsoft.com/office/drawing/2014/main" id="{6C29B8CC-D569-0884-2DE9-9DFCA7850BB2}"/>
              </a:ext>
            </a:extLst>
          </p:cNvPr>
          <p:cNvSpPr/>
          <p:nvPr/>
        </p:nvSpPr>
        <p:spPr>
          <a:xfrm>
            <a:off x="0" y="324000"/>
            <a:ext cx="3240000" cy="720000"/>
          </a:xfrm>
          <a:prstGeom prst="snip1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5" name="L 도형 4">
            <a:extLst>
              <a:ext uri="{FF2B5EF4-FFF2-40B4-BE49-F238E27FC236}">
                <a16:creationId xmlns:a16="http://schemas.microsoft.com/office/drawing/2014/main" id="{4F9348AA-9546-4A2C-458A-3C5E0E7A8F87}"/>
              </a:ext>
            </a:extLst>
          </p:cNvPr>
          <p:cNvSpPr/>
          <p:nvPr/>
        </p:nvSpPr>
        <p:spPr>
          <a:xfrm rot="13500000">
            <a:off x="11340286" y="125999"/>
            <a:ext cx="180000" cy="180000"/>
          </a:xfrm>
          <a:prstGeom prst="corner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6" name="L 도형 5">
            <a:extLst>
              <a:ext uri="{FF2B5EF4-FFF2-40B4-BE49-F238E27FC236}">
                <a16:creationId xmlns:a16="http://schemas.microsoft.com/office/drawing/2014/main" id="{CD0274B5-2FBB-CCC2-3FDF-6B688797683C}"/>
              </a:ext>
            </a:extLst>
          </p:cNvPr>
          <p:cNvSpPr/>
          <p:nvPr/>
        </p:nvSpPr>
        <p:spPr>
          <a:xfrm rot="13500000">
            <a:off x="11595610" y="123995"/>
            <a:ext cx="180000" cy="180000"/>
          </a:xfrm>
          <a:prstGeom prst="corner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7" name="L 도형 6">
            <a:extLst>
              <a:ext uri="{FF2B5EF4-FFF2-40B4-BE49-F238E27FC236}">
                <a16:creationId xmlns:a16="http://schemas.microsoft.com/office/drawing/2014/main" id="{F55AB5B5-649B-F4D3-54AC-E78424F260C5}"/>
              </a:ext>
            </a:extLst>
          </p:cNvPr>
          <p:cNvSpPr/>
          <p:nvPr/>
        </p:nvSpPr>
        <p:spPr>
          <a:xfrm rot="13500000">
            <a:off x="11849405" y="126000"/>
            <a:ext cx="180000" cy="180000"/>
          </a:xfrm>
          <a:prstGeom prst="corner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1" name="제목 1">
            <a:extLst>
              <a:ext uri="{FF2B5EF4-FFF2-40B4-BE49-F238E27FC236}">
                <a16:creationId xmlns:a16="http://schemas.microsoft.com/office/drawing/2014/main" id="{67BCF6BD-0DE3-693F-558E-46D224F3BF53}"/>
              </a:ext>
            </a:extLst>
          </p:cNvPr>
          <p:cNvSpPr txBox="1">
            <a:spLocks/>
          </p:cNvSpPr>
          <p:nvPr/>
        </p:nvSpPr>
        <p:spPr>
          <a:xfrm>
            <a:off x="0" y="108000"/>
            <a:ext cx="3600000" cy="1080000"/>
          </a:xfrm>
          <a:prstGeom prst="rect">
            <a:avLst/>
          </a:prstGeom>
        </p:spPr>
        <p:txBody>
          <a:bodyPr anchor="ctr" anchorCtr="0"/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ko-KR" altLang="en-US" b="1" dirty="0">
                <a:latin typeface="Noto Sans KR" panose="020B0200000000000000" pitchFamily="50" charset="-127"/>
                <a:ea typeface="Noto Sans KR" panose="020B0200000000000000" pitchFamily="50" charset="-127"/>
              </a:rPr>
              <a:t>   </a:t>
            </a:r>
            <a:r>
              <a:rPr lang="en-US" altLang="ko-KR" sz="3200" b="1" dirty="0">
                <a:latin typeface="Noto Sans KR Black" panose="020B0200000000000000" pitchFamily="50" charset="-127"/>
                <a:ea typeface="Noto Sans KR Black" panose="020B0200000000000000" pitchFamily="50" charset="-127"/>
              </a:rPr>
              <a:t>ER</a:t>
            </a:r>
            <a:r>
              <a:rPr lang="ko-KR" altLang="en-US" sz="3200" b="1" dirty="0">
                <a:latin typeface="Noto Sans KR Black" panose="020B0200000000000000" pitchFamily="50" charset="-127"/>
                <a:ea typeface="Noto Sans KR Black" panose="020B0200000000000000" pitchFamily="50" charset="-127"/>
              </a:rPr>
              <a:t> </a:t>
            </a:r>
            <a:r>
              <a:rPr lang="en-US" altLang="ko-KR" sz="3200" b="1" dirty="0">
                <a:latin typeface="Noto Sans KR Black" panose="020B0200000000000000" pitchFamily="50" charset="-127"/>
                <a:ea typeface="Noto Sans KR Black" panose="020B0200000000000000" pitchFamily="50" charset="-127"/>
              </a:rPr>
              <a:t>Diagram</a:t>
            </a:r>
            <a:endParaRPr lang="ko-KR" altLang="en-US" sz="3600" b="1" dirty="0">
              <a:latin typeface="Noto Sans KR Black" panose="020B0200000000000000" pitchFamily="50" charset="-127"/>
              <a:ea typeface="Noto Sans KR Black" panose="020B0200000000000000" pitchFamily="50" charset="-127"/>
            </a:endParaRPr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920F453C-8BAA-E89D-F4AE-DCED959F0DF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13321" y="1640124"/>
            <a:ext cx="8100976" cy="48266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8072231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>
            <a:extLst>
              <a:ext uri="{FF2B5EF4-FFF2-40B4-BE49-F238E27FC236}">
                <a16:creationId xmlns:a16="http://schemas.microsoft.com/office/drawing/2014/main" id="{A1BC658B-3A71-2467-CB33-03A51800EBDC}"/>
              </a:ext>
            </a:extLst>
          </p:cNvPr>
          <p:cNvSpPr/>
          <p:nvPr/>
        </p:nvSpPr>
        <p:spPr>
          <a:xfrm>
            <a:off x="-1" y="0"/>
            <a:ext cx="12193200" cy="432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" name="사각형: 잘린 한쪽 모서리 3">
            <a:extLst>
              <a:ext uri="{FF2B5EF4-FFF2-40B4-BE49-F238E27FC236}">
                <a16:creationId xmlns:a16="http://schemas.microsoft.com/office/drawing/2014/main" id="{6C29B8CC-D569-0884-2DE9-9DFCA7850BB2}"/>
              </a:ext>
            </a:extLst>
          </p:cNvPr>
          <p:cNvSpPr/>
          <p:nvPr/>
        </p:nvSpPr>
        <p:spPr>
          <a:xfrm>
            <a:off x="0" y="324000"/>
            <a:ext cx="4680000" cy="720000"/>
          </a:xfrm>
          <a:prstGeom prst="snip1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5" name="L 도형 4">
            <a:extLst>
              <a:ext uri="{FF2B5EF4-FFF2-40B4-BE49-F238E27FC236}">
                <a16:creationId xmlns:a16="http://schemas.microsoft.com/office/drawing/2014/main" id="{4F9348AA-9546-4A2C-458A-3C5E0E7A8F87}"/>
              </a:ext>
            </a:extLst>
          </p:cNvPr>
          <p:cNvSpPr/>
          <p:nvPr/>
        </p:nvSpPr>
        <p:spPr>
          <a:xfrm rot="13500000">
            <a:off x="11340286" y="125999"/>
            <a:ext cx="180000" cy="180000"/>
          </a:xfrm>
          <a:prstGeom prst="corner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6" name="L 도형 5">
            <a:extLst>
              <a:ext uri="{FF2B5EF4-FFF2-40B4-BE49-F238E27FC236}">
                <a16:creationId xmlns:a16="http://schemas.microsoft.com/office/drawing/2014/main" id="{CD0274B5-2FBB-CCC2-3FDF-6B688797683C}"/>
              </a:ext>
            </a:extLst>
          </p:cNvPr>
          <p:cNvSpPr/>
          <p:nvPr/>
        </p:nvSpPr>
        <p:spPr>
          <a:xfrm rot="13500000">
            <a:off x="11595610" y="123995"/>
            <a:ext cx="180000" cy="180000"/>
          </a:xfrm>
          <a:prstGeom prst="corner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7" name="L 도형 6">
            <a:extLst>
              <a:ext uri="{FF2B5EF4-FFF2-40B4-BE49-F238E27FC236}">
                <a16:creationId xmlns:a16="http://schemas.microsoft.com/office/drawing/2014/main" id="{F55AB5B5-649B-F4D3-54AC-E78424F260C5}"/>
              </a:ext>
            </a:extLst>
          </p:cNvPr>
          <p:cNvSpPr/>
          <p:nvPr/>
        </p:nvSpPr>
        <p:spPr>
          <a:xfrm rot="13500000">
            <a:off x="11849405" y="126000"/>
            <a:ext cx="180000" cy="180000"/>
          </a:xfrm>
          <a:prstGeom prst="corner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1" name="제목 1">
            <a:extLst>
              <a:ext uri="{FF2B5EF4-FFF2-40B4-BE49-F238E27FC236}">
                <a16:creationId xmlns:a16="http://schemas.microsoft.com/office/drawing/2014/main" id="{67BCF6BD-0DE3-693F-558E-46D224F3BF53}"/>
              </a:ext>
            </a:extLst>
          </p:cNvPr>
          <p:cNvSpPr txBox="1">
            <a:spLocks/>
          </p:cNvSpPr>
          <p:nvPr/>
        </p:nvSpPr>
        <p:spPr>
          <a:xfrm>
            <a:off x="0" y="108000"/>
            <a:ext cx="4680000" cy="1080000"/>
          </a:xfrm>
          <a:prstGeom prst="rect">
            <a:avLst/>
          </a:prstGeom>
        </p:spPr>
        <p:txBody>
          <a:bodyPr anchor="ctr" anchorCtr="0"/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ko-KR" altLang="en-US" b="1" dirty="0">
                <a:latin typeface="Noto Sans KR" panose="020B0200000000000000" pitchFamily="50" charset="-127"/>
                <a:ea typeface="Noto Sans KR" panose="020B0200000000000000" pitchFamily="50" charset="-127"/>
              </a:rPr>
              <a:t>   </a:t>
            </a:r>
            <a:r>
              <a:rPr lang="ko-KR" altLang="en-US" sz="3200" b="1" dirty="0">
                <a:latin typeface="Noto Sans KR Black" panose="020B0200000000000000" pitchFamily="50" charset="-127"/>
                <a:ea typeface="Noto Sans KR Black" panose="020B0200000000000000" pitchFamily="50" charset="-127"/>
              </a:rPr>
              <a:t>주요 기능 및 소스코드</a:t>
            </a:r>
            <a:endParaRPr lang="ko-KR" altLang="en-US" sz="3600" dirty="0">
              <a:latin typeface="Noto Sans KR Black" panose="020B0200000000000000" pitchFamily="50" charset="-127"/>
              <a:ea typeface="Noto Sans KR Black" panose="020B0200000000000000" pitchFamily="50" charset="-127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63F8DEAC-3D34-2FB1-2E9B-9D960055F93C}"/>
              </a:ext>
            </a:extLst>
          </p:cNvPr>
          <p:cNvSpPr>
            <a:spLocks noChangeArrowheads="1"/>
          </p:cNvSpPr>
          <p:nvPr/>
        </p:nvSpPr>
        <p:spPr bwMode="auto">
          <a:xfrm>
            <a:off x="402438" y="1485118"/>
            <a:ext cx="5101624" cy="521681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9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Arial Unicode MS"/>
                <a:ea typeface="JetBrains Mono"/>
              </a:rPr>
              <a:t>@app.route</a:t>
            </a:r>
            <a:r>
              <a:rPr kumimoji="0" lang="ko-KR" altLang="ko-KR" sz="9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Arial Unicode MS"/>
                <a:ea typeface="JetBrains Mono"/>
              </a:rPr>
              <a:t>(</a:t>
            </a:r>
            <a:r>
              <a:rPr kumimoji="0" lang="ko-KR" altLang="ko-KR" sz="9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Arial Unicode MS"/>
                <a:ea typeface="JetBrains Mono"/>
              </a:rPr>
              <a:t>'/api/predict'</a:t>
            </a:r>
            <a:r>
              <a:rPr kumimoji="0" lang="ko-KR" altLang="ko-KR" sz="9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Arial Unicode MS"/>
                <a:ea typeface="JetBrains Mono"/>
              </a:rPr>
              <a:t>, </a:t>
            </a:r>
            <a:r>
              <a:rPr kumimoji="0" lang="ko-KR" altLang="ko-KR" sz="900" b="0" i="0" u="none" strike="noStrike" cap="none" normalizeH="0" baseline="0" dirty="0" err="1">
                <a:ln>
                  <a:noFill/>
                </a:ln>
                <a:solidFill>
                  <a:srgbClr val="660099"/>
                </a:solidFill>
                <a:effectLst/>
                <a:latin typeface="Arial Unicode MS"/>
                <a:ea typeface="JetBrains Mono"/>
              </a:rPr>
              <a:t>methods</a:t>
            </a:r>
            <a:r>
              <a:rPr kumimoji="0" lang="ko-KR" altLang="ko-KR" sz="9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Arial Unicode MS"/>
                <a:ea typeface="JetBrains Mono"/>
              </a:rPr>
              <a:t>=[</a:t>
            </a:r>
            <a:r>
              <a:rPr kumimoji="0" lang="ko-KR" altLang="ko-KR" sz="9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Arial Unicode MS"/>
                <a:ea typeface="JetBrains Mono"/>
              </a:rPr>
              <a:t>'POST'</a:t>
            </a:r>
            <a:r>
              <a:rPr kumimoji="0" lang="ko-KR" altLang="ko-KR" sz="9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Arial Unicode MS"/>
                <a:ea typeface="JetBrains Mono"/>
              </a:rPr>
              <a:t>])</a:t>
            </a:r>
            <a:br>
              <a:rPr kumimoji="0" lang="ko-KR" altLang="ko-KR" sz="9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Arial Unicode MS"/>
                <a:ea typeface="JetBrains Mono"/>
              </a:rPr>
            </a:br>
            <a:r>
              <a:rPr kumimoji="0" lang="ko-KR" altLang="ko-KR" sz="9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Arial Unicode MS"/>
                <a:ea typeface="JetBrains Mono"/>
              </a:rPr>
              <a:t>def</a:t>
            </a:r>
            <a:r>
              <a:rPr kumimoji="0" lang="ko-KR" altLang="ko-KR" sz="9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Arial Unicode MS"/>
                <a:ea typeface="JetBrains Mono"/>
              </a:rPr>
              <a:t> </a:t>
            </a:r>
            <a:r>
              <a:rPr kumimoji="0" lang="ko-KR" altLang="ko-KR" sz="900" b="0" i="0" u="none" strike="noStrike" cap="none" normalizeH="0" baseline="0" dirty="0" err="1">
                <a:ln>
                  <a:noFill/>
                </a:ln>
                <a:solidFill>
                  <a:srgbClr val="00627A"/>
                </a:solidFill>
                <a:effectLst/>
                <a:latin typeface="Arial Unicode MS"/>
                <a:ea typeface="JetBrains Mono"/>
              </a:rPr>
              <a:t>api_predict</a:t>
            </a:r>
            <a:r>
              <a:rPr kumimoji="0" lang="ko-KR" altLang="ko-KR" sz="9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Arial Unicode MS"/>
                <a:ea typeface="JetBrains Mono"/>
              </a:rPr>
              <a:t>():</a:t>
            </a:r>
            <a:br>
              <a:rPr kumimoji="0" lang="ko-KR" altLang="ko-KR" sz="9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Arial Unicode MS"/>
                <a:ea typeface="JetBrains Mono"/>
              </a:rPr>
            </a:br>
            <a:r>
              <a:rPr kumimoji="0" lang="ko-KR" altLang="ko-KR" sz="9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Arial Unicode MS"/>
                <a:ea typeface="JetBrains Mono"/>
              </a:rPr>
              <a:t>    </a:t>
            </a:r>
            <a:r>
              <a:rPr kumimoji="0" lang="ko-KR" altLang="ko-KR" sz="9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Arial Unicode MS"/>
                <a:ea typeface="JetBrains Mono"/>
              </a:rPr>
              <a:t>try</a:t>
            </a:r>
            <a:r>
              <a:rPr kumimoji="0" lang="ko-KR" altLang="ko-KR" sz="9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Arial Unicode MS"/>
                <a:ea typeface="JetBrains Mono"/>
              </a:rPr>
              <a:t>:</a:t>
            </a:r>
            <a:br>
              <a:rPr kumimoji="0" lang="ko-KR" altLang="ko-KR" sz="9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Arial Unicode MS"/>
                <a:ea typeface="JetBrains Mono"/>
              </a:rPr>
            </a:br>
            <a:r>
              <a:rPr kumimoji="0" lang="ko-KR" altLang="ko-KR" sz="9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Arial Unicode MS"/>
                <a:ea typeface="JetBrains Mono"/>
              </a:rPr>
              <a:t>        </a:t>
            </a:r>
            <a:r>
              <a:rPr kumimoji="0" lang="ko-KR" altLang="ko-KR" sz="9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Arial Unicode MS"/>
                <a:ea typeface="JetBrains Mono"/>
              </a:rPr>
              <a:t>data</a:t>
            </a:r>
            <a:r>
              <a:rPr kumimoji="0" lang="ko-KR" altLang="ko-KR" sz="9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Arial Unicode MS"/>
                <a:ea typeface="JetBrains Mono"/>
              </a:rPr>
              <a:t> </a:t>
            </a:r>
            <a:r>
              <a:rPr kumimoji="0" lang="ko-KR" altLang="ko-KR" sz="9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Arial Unicode MS"/>
                <a:ea typeface="JetBrains Mono"/>
              </a:rPr>
              <a:t>= </a:t>
            </a:r>
            <a:r>
              <a:rPr kumimoji="0" lang="ko-KR" altLang="ko-KR" sz="9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Arial Unicode MS"/>
                <a:ea typeface="JetBrains Mono"/>
              </a:rPr>
              <a:t>request.form.to_dict</a:t>
            </a:r>
            <a:r>
              <a:rPr kumimoji="0" lang="ko-KR" altLang="ko-KR" sz="9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Arial Unicode MS"/>
                <a:ea typeface="JetBrains Mono"/>
              </a:rPr>
              <a:t>()</a:t>
            </a:r>
            <a:br>
              <a:rPr kumimoji="0" lang="ko-KR" altLang="ko-KR" sz="9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Arial Unicode MS"/>
                <a:ea typeface="JetBrains Mono"/>
              </a:rPr>
            </a:br>
            <a:br>
              <a:rPr kumimoji="0" lang="ko-KR" altLang="ko-KR" sz="9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Arial Unicode MS"/>
                <a:ea typeface="JetBrains Mono"/>
              </a:rPr>
            </a:br>
            <a:r>
              <a:rPr kumimoji="0" lang="ko-KR" altLang="ko-KR" sz="9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Arial Unicode MS"/>
                <a:ea typeface="JetBrains Mono"/>
              </a:rPr>
              <a:t>        </a:t>
            </a:r>
            <a:r>
              <a:rPr kumimoji="0" lang="ko-KR" altLang="ko-KR" sz="9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Arial Unicode MS"/>
                <a:ea typeface="JetBrains Mono"/>
              </a:rPr>
              <a:t># </a:t>
            </a:r>
            <a:r>
              <a:rPr kumimoji="0" lang="ko-KR" altLang="ko-KR" sz="900" b="0" i="1" u="none" strike="noStrike" cap="none" normalizeH="0" baseline="0" dirty="0" err="1">
                <a:ln>
                  <a:noFill/>
                </a:ln>
                <a:solidFill>
                  <a:srgbClr val="8C8C8C"/>
                </a:solidFill>
                <a:effectLst/>
                <a:latin typeface="Courier New" panose="02070309020205020404" pitchFamily="49" charset="0"/>
                <a:ea typeface="JetBrains Mono"/>
                <a:cs typeface="Courier New" panose="02070309020205020404" pitchFamily="49" charset="0"/>
              </a:rPr>
              <a:t>프론트엔드</a:t>
            </a:r>
            <a:r>
              <a:rPr kumimoji="0" lang="ko-KR" altLang="ko-KR" sz="9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Arial Unicode MS"/>
                <a:ea typeface="JetBrains Mono"/>
              </a:rPr>
              <a:t> HTML </a:t>
            </a:r>
            <a:r>
              <a:rPr kumimoji="0" lang="ko-KR" altLang="ko-KR" sz="900" b="0" i="1" u="none" strike="noStrike" cap="none" normalizeH="0" baseline="0" dirty="0" err="1">
                <a:ln>
                  <a:noFill/>
                </a:ln>
                <a:solidFill>
                  <a:srgbClr val="8C8C8C"/>
                </a:solidFill>
                <a:effectLst/>
                <a:latin typeface="Courier New" panose="02070309020205020404" pitchFamily="49" charset="0"/>
                <a:ea typeface="JetBrains Mono"/>
                <a:cs typeface="Courier New" panose="02070309020205020404" pitchFamily="49" charset="0"/>
              </a:rPr>
              <a:t>엘리먼트</a:t>
            </a:r>
            <a:r>
              <a:rPr kumimoji="0" lang="ko-KR" altLang="ko-KR" sz="9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Courier New" panose="02070309020205020404" pitchFamily="49" charset="0"/>
                <a:ea typeface="JetBrains Mono"/>
                <a:cs typeface="Courier New" panose="02070309020205020404" pitchFamily="49" charset="0"/>
              </a:rPr>
              <a:t> 또는 폼 데이터를 통해 모드 판별</a:t>
            </a:r>
            <a:br>
              <a:rPr kumimoji="0" lang="ko-KR" altLang="ko-KR" sz="9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Courier New" panose="02070309020205020404" pitchFamily="49" charset="0"/>
                <a:ea typeface="JetBrains Mono"/>
                <a:cs typeface="Courier New" panose="02070309020205020404" pitchFamily="49" charset="0"/>
              </a:rPr>
            </a:br>
            <a:r>
              <a:rPr kumimoji="0" lang="ko-KR" altLang="ko-KR" sz="9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Courier New" panose="02070309020205020404" pitchFamily="49" charset="0"/>
                <a:ea typeface="JetBrains Mono"/>
                <a:cs typeface="Courier New" panose="02070309020205020404" pitchFamily="49" charset="0"/>
              </a:rPr>
              <a:t>        </a:t>
            </a:r>
            <a:r>
              <a:rPr kumimoji="0" lang="ko-KR" altLang="ko-KR" sz="9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Arial Unicode MS"/>
                <a:ea typeface="JetBrains Mono"/>
              </a:rPr>
              <a:t>mode</a:t>
            </a:r>
            <a:r>
              <a:rPr kumimoji="0" lang="ko-KR" altLang="ko-KR" sz="9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Arial Unicode MS"/>
                <a:ea typeface="JetBrains Mono"/>
              </a:rPr>
              <a:t> </a:t>
            </a:r>
            <a:r>
              <a:rPr kumimoji="0" lang="ko-KR" altLang="ko-KR" sz="9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Arial Unicode MS"/>
                <a:ea typeface="JetBrains Mono"/>
              </a:rPr>
              <a:t>= </a:t>
            </a:r>
            <a:r>
              <a:rPr kumimoji="0" lang="ko-KR" altLang="ko-KR" sz="9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Arial Unicode MS"/>
                <a:ea typeface="JetBrains Mono"/>
              </a:rPr>
              <a:t>data</a:t>
            </a:r>
            <a:r>
              <a:rPr kumimoji="0" lang="ko-KR" altLang="ko-KR" sz="9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Arial Unicode MS"/>
                <a:ea typeface="JetBrains Mono"/>
              </a:rPr>
              <a:t>.get</a:t>
            </a:r>
            <a:r>
              <a:rPr kumimoji="0" lang="ko-KR" altLang="ko-KR" sz="9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Arial Unicode MS"/>
                <a:ea typeface="JetBrains Mono"/>
              </a:rPr>
              <a:t>(</a:t>
            </a:r>
            <a:r>
              <a:rPr kumimoji="0" lang="ko-KR" altLang="ko-KR" sz="9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Arial Unicode MS"/>
                <a:ea typeface="JetBrains Mono"/>
              </a:rPr>
              <a:t>'PREDICT_MODE'</a:t>
            </a:r>
            <a:r>
              <a:rPr kumimoji="0" lang="ko-KR" altLang="ko-KR" sz="9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Arial Unicode MS"/>
                <a:ea typeface="JetBrains Mono"/>
              </a:rPr>
              <a:t>, </a:t>
            </a:r>
            <a:r>
              <a:rPr kumimoji="0" lang="ko-KR" altLang="ko-KR" sz="9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Arial Unicode MS"/>
                <a:ea typeface="JetBrains Mono"/>
              </a:rPr>
              <a:t>'</a:t>
            </a:r>
            <a:r>
              <a:rPr kumimoji="0" lang="ko-KR" altLang="ko-KR" sz="9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Arial Unicode MS"/>
                <a:ea typeface="JetBrains Mono"/>
              </a:rPr>
              <a:t>hotel</a:t>
            </a:r>
            <a:r>
              <a:rPr kumimoji="0" lang="ko-KR" altLang="ko-KR" sz="9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Arial Unicode MS"/>
                <a:ea typeface="JetBrains Mono"/>
              </a:rPr>
              <a:t>'</a:t>
            </a:r>
            <a:r>
              <a:rPr kumimoji="0" lang="ko-KR" altLang="ko-KR" sz="9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Arial Unicode MS"/>
                <a:ea typeface="JetBrains Mono"/>
              </a:rPr>
              <a:t>)</a:t>
            </a:r>
            <a:br>
              <a:rPr kumimoji="0" lang="ko-KR" altLang="ko-KR" sz="9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Arial Unicode MS"/>
                <a:ea typeface="JetBrains Mono"/>
              </a:rPr>
            </a:br>
            <a:br>
              <a:rPr kumimoji="0" lang="ko-KR" altLang="ko-KR" sz="9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Arial Unicode MS"/>
                <a:ea typeface="JetBrains Mono"/>
              </a:rPr>
            </a:br>
            <a:r>
              <a:rPr kumimoji="0" lang="ko-KR" altLang="ko-KR" sz="9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Arial Unicode MS"/>
                <a:ea typeface="JetBrains Mono"/>
              </a:rPr>
              <a:t>        </a:t>
            </a:r>
            <a:r>
              <a:rPr kumimoji="0" lang="ko-KR" altLang="ko-KR" sz="9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Arial Unicode MS"/>
                <a:ea typeface="JetBrains Mono"/>
              </a:rPr>
              <a:t>if</a:t>
            </a:r>
            <a:r>
              <a:rPr kumimoji="0" lang="ko-KR" altLang="ko-KR" sz="9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Arial Unicode MS"/>
                <a:ea typeface="JetBrains Mono"/>
              </a:rPr>
              <a:t> </a:t>
            </a:r>
            <a:r>
              <a:rPr kumimoji="0" lang="ko-KR" altLang="ko-KR" sz="9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Arial Unicode MS"/>
                <a:ea typeface="JetBrains Mono"/>
              </a:rPr>
              <a:t>mode</a:t>
            </a:r>
            <a:r>
              <a:rPr kumimoji="0" lang="ko-KR" altLang="ko-KR" sz="9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Arial Unicode MS"/>
                <a:ea typeface="JetBrains Mono"/>
              </a:rPr>
              <a:t> </a:t>
            </a:r>
            <a:r>
              <a:rPr kumimoji="0" lang="ko-KR" altLang="ko-KR" sz="9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Arial Unicode MS"/>
                <a:ea typeface="JetBrains Mono"/>
              </a:rPr>
              <a:t>== </a:t>
            </a:r>
            <a:r>
              <a:rPr kumimoji="0" lang="ko-KR" altLang="ko-KR" sz="9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Arial Unicode MS"/>
                <a:ea typeface="JetBrains Mono"/>
              </a:rPr>
              <a:t>'</a:t>
            </a:r>
            <a:r>
              <a:rPr kumimoji="0" lang="ko-KR" altLang="ko-KR" sz="9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Arial Unicode MS"/>
                <a:ea typeface="JetBrains Mono"/>
              </a:rPr>
              <a:t>hotel</a:t>
            </a:r>
            <a:r>
              <a:rPr kumimoji="0" lang="ko-KR" altLang="ko-KR" sz="9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Arial Unicode MS"/>
                <a:ea typeface="JetBrains Mono"/>
              </a:rPr>
              <a:t>' </a:t>
            </a:r>
            <a:r>
              <a:rPr kumimoji="0" lang="ko-KR" altLang="ko-KR" sz="9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Arial Unicode MS"/>
                <a:ea typeface="JetBrains Mono"/>
              </a:rPr>
              <a:t>and </a:t>
            </a:r>
            <a:r>
              <a:rPr kumimoji="0" lang="ko-KR" altLang="ko-KR" sz="9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Arial Unicode MS"/>
                <a:ea typeface="JetBrains Mono"/>
              </a:rPr>
              <a:t>hotel_model</a:t>
            </a:r>
            <a:r>
              <a:rPr kumimoji="0" lang="ko-KR" altLang="ko-KR" sz="9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Arial Unicode MS"/>
                <a:ea typeface="JetBrains Mono"/>
              </a:rPr>
              <a:t> </a:t>
            </a:r>
            <a:r>
              <a:rPr kumimoji="0" lang="ko-KR" altLang="ko-KR" sz="9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Arial Unicode MS"/>
                <a:ea typeface="JetBrains Mono"/>
              </a:rPr>
              <a:t>is</a:t>
            </a:r>
            <a:r>
              <a:rPr kumimoji="0" lang="ko-KR" altLang="ko-KR" sz="9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Arial Unicode MS"/>
                <a:ea typeface="JetBrains Mono"/>
              </a:rPr>
              <a:t> </a:t>
            </a:r>
            <a:r>
              <a:rPr kumimoji="0" lang="ko-KR" altLang="ko-KR" sz="9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Arial Unicode MS"/>
                <a:ea typeface="JetBrains Mono"/>
              </a:rPr>
              <a:t>None</a:t>
            </a:r>
            <a:r>
              <a:rPr kumimoji="0" lang="ko-KR" altLang="ko-KR" sz="9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Arial Unicode MS"/>
                <a:ea typeface="JetBrains Mono"/>
              </a:rPr>
              <a:t>:</a:t>
            </a:r>
            <a:br>
              <a:rPr kumimoji="0" lang="ko-KR" altLang="ko-KR" sz="9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Arial Unicode MS"/>
                <a:ea typeface="JetBrains Mono"/>
              </a:rPr>
            </a:br>
            <a:r>
              <a:rPr kumimoji="0" lang="ko-KR" altLang="ko-KR" sz="9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Arial Unicode MS"/>
                <a:ea typeface="JetBrains Mono"/>
              </a:rPr>
              <a:t>            </a:t>
            </a:r>
            <a:r>
              <a:rPr kumimoji="0" lang="ko-KR" altLang="ko-KR" sz="9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Arial Unicode MS"/>
                <a:ea typeface="JetBrains Mono"/>
              </a:rPr>
              <a:t>return</a:t>
            </a:r>
            <a:r>
              <a:rPr kumimoji="0" lang="ko-KR" altLang="ko-KR" sz="9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Arial Unicode MS"/>
                <a:ea typeface="JetBrains Mono"/>
              </a:rPr>
              <a:t> </a:t>
            </a:r>
            <a:r>
              <a:rPr kumimoji="0" lang="ko-KR" altLang="ko-KR" sz="9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Arial Unicode MS"/>
                <a:ea typeface="JetBrains Mono"/>
              </a:rPr>
              <a:t>jsonify</a:t>
            </a:r>
            <a:r>
              <a:rPr kumimoji="0" lang="ko-KR" altLang="ko-KR" sz="9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Arial Unicode MS"/>
                <a:ea typeface="JetBrains Mono"/>
              </a:rPr>
              <a:t>({</a:t>
            </a:r>
            <a:r>
              <a:rPr kumimoji="0" lang="ko-KR" altLang="ko-KR" sz="9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Arial Unicode MS"/>
                <a:ea typeface="JetBrains Mono"/>
              </a:rPr>
              <a:t>'</a:t>
            </a:r>
            <a:r>
              <a:rPr kumimoji="0" lang="ko-KR" altLang="ko-KR" sz="9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Arial Unicode MS"/>
                <a:ea typeface="JetBrains Mono"/>
              </a:rPr>
              <a:t>error</a:t>
            </a:r>
            <a:r>
              <a:rPr kumimoji="0" lang="ko-KR" altLang="ko-KR" sz="9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Arial Unicode MS"/>
                <a:ea typeface="JetBrains Mono"/>
              </a:rPr>
              <a:t>'</a:t>
            </a:r>
            <a:r>
              <a:rPr kumimoji="0" lang="ko-KR" altLang="ko-KR" sz="9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Arial Unicode MS"/>
                <a:ea typeface="JetBrains Mono"/>
              </a:rPr>
              <a:t>: </a:t>
            </a:r>
            <a:r>
              <a:rPr kumimoji="0" lang="ko-KR" altLang="ko-KR" sz="9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Arial Unicode MS"/>
                <a:ea typeface="JetBrains Mono"/>
              </a:rPr>
              <a:t>'</a:t>
            </a:r>
            <a:r>
              <a:rPr kumimoji="0" lang="ko-KR" altLang="ko-KR" sz="9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Courier New" panose="02070309020205020404" pitchFamily="49" charset="0"/>
                <a:ea typeface="JetBrains Mono"/>
                <a:cs typeface="Courier New" panose="02070309020205020404" pitchFamily="49" charset="0"/>
              </a:rPr>
              <a:t>호텔 모델이 로드되지 않았습니다</a:t>
            </a:r>
            <a:r>
              <a:rPr kumimoji="0" lang="ko-KR" altLang="ko-KR" sz="9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Arial Unicode MS"/>
                <a:ea typeface="JetBrains Mono"/>
              </a:rPr>
              <a:t>.'</a:t>
            </a:r>
            <a:r>
              <a:rPr kumimoji="0" lang="ko-KR" altLang="ko-KR" sz="9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Arial Unicode MS"/>
                <a:ea typeface="JetBrains Mono"/>
              </a:rPr>
              <a:t>}), </a:t>
            </a:r>
            <a:r>
              <a:rPr kumimoji="0" lang="ko-KR" altLang="ko-KR" sz="900" b="0" i="0" u="none" strike="noStrike" cap="none" normalizeH="0" baseline="0" dirty="0">
                <a:ln>
                  <a:noFill/>
                </a:ln>
                <a:solidFill>
                  <a:srgbClr val="1750EB"/>
                </a:solidFill>
                <a:effectLst/>
                <a:latin typeface="Arial Unicode MS"/>
                <a:ea typeface="JetBrains Mono"/>
              </a:rPr>
              <a:t>500</a:t>
            </a:r>
            <a:br>
              <a:rPr kumimoji="0" lang="ko-KR" altLang="ko-KR" sz="900" b="0" i="0" u="none" strike="noStrike" cap="none" normalizeH="0" baseline="0" dirty="0">
                <a:ln>
                  <a:noFill/>
                </a:ln>
                <a:solidFill>
                  <a:srgbClr val="1750EB"/>
                </a:solidFill>
                <a:effectLst/>
                <a:latin typeface="Arial Unicode MS"/>
                <a:ea typeface="JetBrains Mono"/>
              </a:rPr>
            </a:br>
            <a:br>
              <a:rPr kumimoji="0" lang="ko-KR" altLang="ko-KR" sz="900" b="0" i="0" u="none" strike="noStrike" cap="none" normalizeH="0" baseline="0" dirty="0">
                <a:ln>
                  <a:noFill/>
                </a:ln>
                <a:solidFill>
                  <a:srgbClr val="1750EB"/>
                </a:solidFill>
                <a:effectLst/>
                <a:latin typeface="Arial Unicode MS"/>
                <a:ea typeface="JetBrains Mono"/>
              </a:rPr>
            </a:br>
            <a:r>
              <a:rPr kumimoji="0" lang="ko-KR" altLang="ko-KR" sz="900" b="0" i="0" u="none" strike="noStrike" cap="none" normalizeH="0" baseline="0" dirty="0">
                <a:ln>
                  <a:noFill/>
                </a:ln>
                <a:solidFill>
                  <a:srgbClr val="1750EB"/>
                </a:solidFill>
                <a:effectLst/>
                <a:latin typeface="Arial Unicode MS"/>
                <a:ea typeface="JetBrains Mono"/>
              </a:rPr>
              <a:t>        </a:t>
            </a:r>
            <a:r>
              <a:rPr kumimoji="0" lang="ko-KR" altLang="ko-KR" sz="9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Arial Unicode MS"/>
                <a:ea typeface="JetBrains Mono"/>
              </a:rPr>
              <a:t># </a:t>
            </a:r>
            <a:r>
              <a:rPr kumimoji="0" lang="ko-KR" altLang="ko-KR" sz="900" b="0" i="1" u="none" strike="noStrike" cap="none" normalizeH="0" baseline="0" dirty="0" err="1">
                <a:ln>
                  <a:noFill/>
                </a:ln>
                <a:solidFill>
                  <a:srgbClr val="8C8C8C"/>
                </a:solidFill>
                <a:effectLst/>
                <a:latin typeface="Arial Unicode MS"/>
                <a:ea typeface="JetBrains Mono"/>
              </a:rPr>
              <a:t>DataFrame</a:t>
            </a:r>
            <a:r>
              <a:rPr kumimoji="0" lang="ko-KR" altLang="ko-KR" sz="9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Arial Unicode MS"/>
                <a:ea typeface="JetBrains Mono"/>
              </a:rPr>
              <a:t> </a:t>
            </a:r>
            <a:r>
              <a:rPr kumimoji="0" lang="ko-KR" altLang="ko-KR" sz="9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Courier New" panose="02070309020205020404" pitchFamily="49" charset="0"/>
                <a:ea typeface="JetBrains Mono"/>
                <a:cs typeface="Courier New" panose="02070309020205020404" pitchFamily="49" charset="0"/>
              </a:rPr>
              <a:t>생성 및 </a:t>
            </a:r>
            <a:r>
              <a:rPr kumimoji="0" lang="ko-KR" altLang="ko-KR" sz="900" b="0" i="1" u="none" strike="noStrike" cap="none" normalizeH="0" baseline="0" dirty="0" err="1">
                <a:ln>
                  <a:noFill/>
                </a:ln>
                <a:solidFill>
                  <a:srgbClr val="8C8C8C"/>
                </a:solidFill>
                <a:effectLst/>
                <a:latin typeface="Courier New" panose="02070309020205020404" pitchFamily="49" charset="0"/>
                <a:ea typeface="JetBrains Mono"/>
                <a:cs typeface="Courier New" panose="02070309020205020404" pitchFamily="49" charset="0"/>
              </a:rPr>
              <a:t>컬럼명</a:t>
            </a:r>
            <a:r>
              <a:rPr kumimoji="0" lang="ko-KR" altLang="ko-KR" sz="9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Courier New" panose="02070309020205020404" pitchFamily="49" charset="0"/>
                <a:ea typeface="JetBrains Mono"/>
                <a:cs typeface="Courier New" panose="02070309020205020404" pitchFamily="49" charset="0"/>
              </a:rPr>
              <a:t> 대문자 맵핑 변환</a:t>
            </a:r>
            <a:br>
              <a:rPr kumimoji="0" lang="ko-KR" altLang="ko-KR" sz="9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Courier New" panose="02070309020205020404" pitchFamily="49" charset="0"/>
                <a:ea typeface="JetBrains Mono"/>
                <a:cs typeface="Courier New" panose="02070309020205020404" pitchFamily="49" charset="0"/>
              </a:rPr>
            </a:br>
            <a:r>
              <a:rPr kumimoji="0" lang="ko-KR" altLang="ko-KR" sz="9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Courier New" panose="02070309020205020404" pitchFamily="49" charset="0"/>
                <a:ea typeface="JetBrains Mono"/>
                <a:cs typeface="Courier New" panose="02070309020205020404" pitchFamily="49" charset="0"/>
              </a:rPr>
              <a:t>        </a:t>
            </a:r>
            <a:r>
              <a:rPr kumimoji="0" lang="ko-KR" altLang="ko-KR" sz="9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Arial Unicode MS"/>
                <a:ea typeface="JetBrains Mono"/>
              </a:rPr>
              <a:t>input_df</a:t>
            </a:r>
            <a:r>
              <a:rPr kumimoji="0" lang="ko-KR" altLang="ko-KR" sz="9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Arial Unicode MS"/>
                <a:ea typeface="JetBrains Mono"/>
              </a:rPr>
              <a:t> </a:t>
            </a:r>
            <a:r>
              <a:rPr kumimoji="0" lang="ko-KR" altLang="ko-KR" sz="9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Arial Unicode MS"/>
                <a:ea typeface="JetBrains Mono"/>
              </a:rPr>
              <a:t>= </a:t>
            </a:r>
            <a:r>
              <a:rPr kumimoji="0" lang="ko-KR" altLang="ko-KR" sz="9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Arial Unicode MS"/>
                <a:ea typeface="JetBrains Mono"/>
              </a:rPr>
              <a:t>pd.DataFrame</a:t>
            </a:r>
            <a:r>
              <a:rPr kumimoji="0" lang="ko-KR" altLang="ko-KR" sz="9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Arial Unicode MS"/>
                <a:ea typeface="JetBrains Mono"/>
              </a:rPr>
              <a:t>([</a:t>
            </a:r>
            <a:r>
              <a:rPr kumimoji="0" lang="ko-KR" altLang="ko-KR" sz="9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Arial Unicode MS"/>
                <a:ea typeface="JetBrains Mono"/>
              </a:rPr>
              <a:t>data</a:t>
            </a:r>
            <a:r>
              <a:rPr kumimoji="0" lang="ko-KR" altLang="ko-KR" sz="9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Arial Unicode MS"/>
                <a:ea typeface="JetBrains Mono"/>
              </a:rPr>
              <a:t>])</a:t>
            </a:r>
            <a:br>
              <a:rPr kumimoji="0" lang="ko-KR" altLang="ko-KR" sz="9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Arial Unicode MS"/>
                <a:ea typeface="JetBrains Mono"/>
              </a:rPr>
            </a:br>
            <a:r>
              <a:rPr kumimoji="0" lang="ko-KR" altLang="ko-KR" sz="9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Arial Unicode MS"/>
                <a:ea typeface="JetBrains Mono"/>
              </a:rPr>
              <a:t>        </a:t>
            </a:r>
            <a:r>
              <a:rPr kumimoji="0" lang="ko-KR" altLang="ko-KR" sz="9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Arial Unicode MS"/>
                <a:ea typeface="JetBrains Mono"/>
              </a:rPr>
              <a:t>input_df</a:t>
            </a:r>
            <a:r>
              <a:rPr kumimoji="0" lang="ko-KR" altLang="ko-KR" sz="9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Arial Unicode MS"/>
                <a:ea typeface="JetBrains Mono"/>
              </a:rPr>
              <a:t>.columns</a:t>
            </a:r>
            <a:r>
              <a:rPr kumimoji="0" lang="ko-KR" altLang="ko-KR" sz="9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Arial Unicode MS"/>
                <a:ea typeface="JetBrains Mono"/>
              </a:rPr>
              <a:t> = [</a:t>
            </a:r>
            <a:r>
              <a:rPr kumimoji="0" lang="ko-KR" altLang="ko-KR" sz="9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Arial Unicode MS"/>
                <a:ea typeface="JetBrains Mono"/>
              </a:rPr>
              <a:t>col</a:t>
            </a:r>
            <a:r>
              <a:rPr kumimoji="0" lang="ko-KR" altLang="ko-KR" sz="9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Arial Unicode MS"/>
                <a:ea typeface="JetBrains Mono"/>
              </a:rPr>
              <a:t>.upper</a:t>
            </a:r>
            <a:r>
              <a:rPr kumimoji="0" lang="ko-KR" altLang="ko-KR" sz="9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Arial Unicode MS"/>
                <a:ea typeface="JetBrains Mono"/>
              </a:rPr>
              <a:t>() </a:t>
            </a:r>
            <a:r>
              <a:rPr kumimoji="0" lang="ko-KR" altLang="ko-KR" sz="9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Arial Unicode MS"/>
                <a:ea typeface="JetBrains Mono"/>
              </a:rPr>
              <a:t>for</a:t>
            </a:r>
            <a:r>
              <a:rPr kumimoji="0" lang="ko-KR" altLang="ko-KR" sz="9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Arial Unicode MS"/>
                <a:ea typeface="JetBrains Mono"/>
              </a:rPr>
              <a:t> </a:t>
            </a:r>
            <a:r>
              <a:rPr kumimoji="0" lang="ko-KR" altLang="ko-KR" sz="9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Arial Unicode MS"/>
                <a:ea typeface="JetBrains Mono"/>
              </a:rPr>
              <a:t>col</a:t>
            </a:r>
            <a:r>
              <a:rPr kumimoji="0" lang="ko-KR" altLang="ko-KR" sz="9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Arial Unicode MS"/>
                <a:ea typeface="JetBrains Mono"/>
              </a:rPr>
              <a:t> </a:t>
            </a:r>
            <a:r>
              <a:rPr kumimoji="0" lang="ko-KR" altLang="ko-KR" sz="9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Arial Unicode MS"/>
                <a:ea typeface="JetBrains Mono"/>
              </a:rPr>
              <a:t>in</a:t>
            </a:r>
            <a:r>
              <a:rPr kumimoji="0" lang="ko-KR" altLang="ko-KR" sz="9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Arial Unicode MS"/>
                <a:ea typeface="JetBrains Mono"/>
              </a:rPr>
              <a:t> </a:t>
            </a:r>
            <a:r>
              <a:rPr kumimoji="0" lang="ko-KR" altLang="ko-KR" sz="9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Arial Unicode MS"/>
                <a:ea typeface="JetBrains Mono"/>
              </a:rPr>
              <a:t>input_df</a:t>
            </a:r>
            <a:r>
              <a:rPr kumimoji="0" lang="ko-KR" altLang="ko-KR" sz="9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Arial Unicode MS"/>
                <a:ea typeface="JetBrains Mono"/>
              </a:rPr>
              <a:t>.columns</a:t>
            </a:r>
            <a:r>
              <a:rPr kumimoji="0" lang="ko-KR" altLang="ko-KR" sz="9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Arial Unicode MS"/>
                <a:ea typeface="JetBrains Mono"/>
              </a:rPr>
              <a:t>]</a:t>
            </a:r>
            <a:br>
              <a:rPr kumimoji="0" lang="ko-KR" altLang="ko-KR" sz="9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Arial Unicode MS"/>
                <a:ea typeface="JetBrains Mono"/>
              </a:rPr>
            </a:br>
            <a:br>
              <a:rPr kumimoji="0" lang="ko-KR" altLang="ko-KR" sz="9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Arial Unicode MS"/>
                <a:ea typeface="JetBrains Mono"/>
              </a:rPr>
            </a:br>
            <a:r>
              <a:rPr kumimoji="0" lang="ko-KR" altLang="ko-KR" sz="9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Arial Unicode MS"/>
                <a:ea typeface="JetBrains Mono"/>
              </a:rPr>
              <a:t>        </a:t>
            </a:r>
            <a:r>
              <a:rPr kumimoji="0" lang="ko-KR" altLang="ko-KR" sz="9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Arial Unicode MS"/>
                <a:ea typeface="JetBrains Mono"/>
              </a:rPr>
              <a:t># ADR </a:t>
            </a:r>
            <a:r>
              <a:rPr kumimoji="0" lang="ko-KR" altLang="ko-KR" sz="9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Courier New" panose="02070309020205020404" pitchFamily="49" charset="0"/>
                <a:ea typeface="JetBrains Mono"/>
                <a:cs typeface="Courier New" panose="02070309020205020404" pitchFamily="49" charset="0"/>
              </a:rPr>
              <a:t>문자열</a:t>
            </a:r>
            <a:r>
              <a:rPr kumimoji="0" lang="ko-KR" altLang="ko-KR" sz="9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Arial Unicode MS"/>
                <a:ea typeface="JetBrains Mono"/>
              </a:rPr>
              <a:t> → </a:t>
            </a:r>
            <a:r>
              <a:rPr kumimoji="0" lang="ko-KR" altLang="ko-KR" sz="9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Courier New" panose="02070309020205020404" pitchFamily="49" charset="0"/>
                <a:ea typeface="JetBrains Mono"/>
                <a:cs typeface="Courier New" panose="02070309020205020404" pitchFamily="49" charset="0"/>
              </a:rPr>
              <a:t>숫자 변환</a:t>
            </a:r>
            <a:br>
              <a:rPr kumimoji="0" lang="ko-KR" altLang="ko-KR" sz="9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Courier New" panose="02070309020205020404" pitchFamily="49" charset="0"/>
                <a:ea typeface="JetBrains Mono"/>
                <a:cs typeface="Courier New" panose="02070309020205020404" pitchFamily="49" charset="0"/>
              </a:rPr>
            </a:br>
            <a:r>
              <a:rPr kumimoji="0" lang="ko-KR" altLang="ko-KR" sz="9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Courier New" panose="02070309020205020404" pitchFamily="49" charset="0"/>
                <a:ea typeface="JetBrains Mono"/>
                <a:cs typeface="Courier New" panose="02070309020205020404" pitchFamily="49" charset="0"/>
              </a:rPr>
              <a:t>        </a:t>
            </a:r>
            <a:r>
              <a:rPr kumimoji="0" lang="ko-KR" altLang="ko-KR" sz="9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Arial Unicode MS"/>
                <a:ea typeface="JetBrains Mono"/>
              </a:rPr>
              <a:t>adr_mapping</a:t>
            </a:r>
            <a:r>
              <a:rPr kumimoji="0" lang="ko-KR" altLang="ko-KR" sz="9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Arial Unicode MS"/>
                <a:ea typeface="JetBrains Mono"/>
              </a:rPr>
              <a:t> </a:t>
            </a:r>
            <a:r>
              <a:rPr kumimoji="0" lang="ko-KR" altLang="ko-KR" sz="9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Arial Unicode MS"/>
                <a:ea typeface="JetBrains Mono"/>
              </a:rPr>
              <a:t>= {</a:t>
            </a:r>
            <a:br>
              <a:rPr kumimoji="0" lang="ko-KR" altLang="ko-KR" sz="9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Arial Unicode MS"/>
                <a:ea typeface="JetBrains Mono"/>
              </a:rPr>
            </a:br>
            <a:r>
              <a:rPr kumimoji="0" lang="ko-KR" altLang="ko-KR" sz="9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Arial Unicode MS"/>
                <a:ea typeface="JetBrains Mono"/>
              </a:rPr>
              <a:t>            </a:t>
            </a:r>
            <a:r>
              <a:rPr kumimoji="0" lang="ko-KR" altLang="ko-KR" sz="9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Arial Unicode MS"/>
                <a:ea typeface="JetBrains Mono"/>
              </a:rPr>
              <a:t>"under_10"</a:t>
            </a:r>
            <a:r>
              <a:rPr kumimoji="0" lang="ko-KR" altLang="ko-KR" sz="9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Arial Unicode MS"/>
                <a:ea typeface="JetBrains Mono"/>
              </a:rPr>
              <a:t>: </a:t>
            </a:r>
            <a:r>
              <a:rPr kumimoji="0" lang="ko-KR" altLang="ko-KR" sz="900" b="0" i="0" u="none" strike="noStrike" cap="none" normalizeH="0" baseline="0" dirty="0">
                <a:ln>
                  <a:noFill/>
                </a:ln>
                <a:solidFill>
                  <a:srgbClr val="1750EB"/>
                </a:solidFill>
                <a:effectLst/>
                <a:latin typeface="Arial Unicode MS"/>
                <a:ea typeface="JetBrains Mono"/>
              </a:rPr>
              <a:t>25</a:t>
            </a:r>
            <a:r>
              <a:rPr kumimoji="0" lang="ko-KR" altLang="ko-KR" sz="9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Arial Unicode MS"/>
                <a:ea typeface="JetBrains Mono"/>
              </a:rPr>
              <a:t>,</a:t>
            </a:r>
            <a:br>
              <a:rPr kumimoji="0" lang="ko-KR" altLang="ko-KR" sz="9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Arial Unicode MS"/>
                <a:ea typeface="JetBrains Mono"/>
              </a:rPr>
            </a:br>
            <a:r>
              <a:rPr kumimoji="0" lang="ko-KR" altLang="ko-KR" sz="9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Arial Unicode MS"/>
                <a:ea typeface="JetBrains Mono"/>
              </a:rPr>
              <a:t>            </a:t>
            </a:r>
            <a:r>
              <a:rPr kumimoji="0" lang="ko-KR" altLang="ko-KR" sz="9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Arial Unicode MS"/>
                <a:ea typeface="JetBrains Mono"/>
              </a:rPr>
              <a:t>"10_20"</a:t>
            </a:r>
            <a:r>
              <a:rPr kumimoji="0" lang="ko-KR" altLang="ko-KR" sz="9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Arial Unicode MS"/>
                <a:ea typeface="JetBrains Mono"/>
              </a:rPr>
              <a:t>: </a:t>
            </a:r>
            <a:r>
              <a:rPr kumimoji="0" lang="ko-KR" altLang="ko-KR" sz="900" b="0" i="0" u="none" strike="noStrike" cap="none" normalizeH="0" baseline="0" dirty="0">
                <a:ln>
                  <a:noFill/>
                </a:ln>
                <a:solidFill>
                  <a:srgbClr val="1750EB"/>
                </a:solidFill>
                <a:effectLst/>
                <a:latin typeface="Arial Unicode MS"/>
                <a:ea typeface="JetBrains Mono"/>
              </a:rPr>
              <a:t>75</a:t>
            </a:r>
            <a:r>
              <a:rPr kumimoji="0" lang="ko-KR" altLang="ko-KR" sz="9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Arial Unicode MS"/>
                <a:ea typeface="JetBrains Mono"/>
              </a:rPr>
              <a:t>,</a:t>
            </a:r>
            <a:br>
              <a:rPr kumimoji="0" lang="ko-KR" altLang="ko-KR" sz="9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Arial Unicode MS"/>
                <a:ea typeface="JetBrains Mono"/>
              </a:rPr>
            </a:br>
            <a:r>
              <a:rPr kumimoji="0" lang="ko-KR" altLang="ko-KR" sz="9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Arial Unicode MS"/>
                <a:ea typeface="JetBrains Mono"/>
              </a:rPr>
              <a:t>            </a:t>
            </a:r>
            <a:r>
              <a:rPr kumimoji="0" lang="ko-KR" altLang="ko-KR" sz="9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Arial Unicode MS"/>
                <a:ea typeface="JetBrains Mono"/>
              </a:rPr>
              <a:t>"20_30"</a:t>
            </a:r>
            <a:r>
              <a:rPr kumimoji="0" lang="ko-KR" altLang="ko-KR" sz="9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Arial Unicode MS"/>
                <a:ea typeface="JetBrains Mono"/>
              </a:rPr>
              <a:t>: </a:t>
            </a:r>
            <a:r>
              <a:rPr kumimoji="0" lang="ko-KR" altLang="ko-KR" sz="900" b="0" i="0" u="none" strike="noStrike" cap="none" normalizeH="0" baseline="0" dirty="0">
                <a:ln>
                  <a:noFill/>
                </a:ln>
                <a:solidFill>
                  <a:srgbClr val="1750EB"/>
                </a:solidFill>
                <a:effectLst/>
                <a:latin typeface="Arial Unicode MS"/>
                <a:ea typeface="JetBrains Mono"/>
              </a:rPr>
              <a:t>125</a:t>
            </a:r>
            <a:r>
              <a:rPr kumimoji="0" lang="ko-KR" altLang="ko-KR" sz="9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Arial Unicode MS"/>
                <a:ea typeface="JetBrains Mono"/>
              </a:rPr>
              <a:t>,</a:t>
            </a:r>
            <a:br>
              <a:rPr kumimoji="0" lang="ko-KR" altLang="ko-KR" sz="9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Arial Unicode MS"/>
                <a:ea typeface="JetBrains Mono"/>
              </a:rPr>
            </a:br>
            <a:r>
              <a:rPr kumimoji="0" lang="ko-KR" altLang="ko-KR" sz="9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Arial Unicode MS"/>
                <a:ea typeface="JetBrains Mono"/>
              </a:rPr>
              <a:t>            </a:t>
            </a:r>
            <a:r>
              <a:rPr kumimoji="0" lang="ko-KR" altLang="ko-KR" sz="9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Arial Unicode MS"/>
                <a:ea typeface="JetBrains Mono"/>
              </a:rPr>
              <a:t>"30_40"</a:t>
            </a:r>
            <a:r>
              <a:rPr kumimoji="0" lang="ko-KR" altLang="ko-KR" sz="9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Arial Unicode MS"/>
                <a:ea typeface="JetBrains Mono"/>
              </a:rPr>
              <a:t>: </a:t>
            </a:r>
            <a:r>
              <a:rPr kumimoji="0" lang="ko-KR" altLang="ko-KR" sz="900" b="0" i="0" u="none" strike="noStrike" cap="none" normalizeH="0" baseline="0" dirty="0">
                <a:ln>
                  <a:noFill/>
                </a:ln>
                <a:solidFill>
                  <a:srgbClr val="1750EB"/>
                </a:solidFill>
                <a:effectLst/>
                <a:latin typeface="Arial Unicode MS"/>
                <a:ea typeface="JetBrains Mono"/>
              </a:rPr>
              <a:t>175</a:t>
            </a:r>
            <a:r>
              <a:rPr kumimoji="0" lang="ko-KR" altLang="ko-KR" sz="9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Arial Unicode MS"/>
                <a:ea typeface="JetBrains Mono"/>
              </a:rPr>
              <a:t>,</a:t>
            </a:r>
            <a:br>
              <a:rPr kumimoji="0" lang="ko-KR" altLang="ko-KR" sz="9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Arial Unicode MS"/>
                <a:ea typeface="JetBrains Mono"/>
              </a:rPr>
            </a:br>
            <a:r>
              <a:rPr kumimoji="0" lang="ko-KR" altLang="ko-KR" sz="9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Arial Unicode MS"/>
                <a:ea typeface="JetBrains Mono"/>
              </a:rPr>
              <a:t>            </a:t>
            </a:r>
            <a:r>
              <a:rPr kumimoji="0" lang="ko-KR" altLang="ko-KR" sz="9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Arial Unicode MS"/>
                <a:ea typeface="JetBrains Mono"/>
              </a:rPr>
              <a:t>"over_40"</a:t>
            </a:r>
            <a:r>
              <a:rPr kumimoji="0" lang="ko-KR" altLang="ko-KR" sz="9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Arial Unicode MS"/>
                <a:ea typeface="JetBrains Mono"/>
              </a:rPr>
              <a:t>: </a:t>
            </a:r>
            <a:r>
              <a:rPr kumimoji="0" lang="ko-KR" altLang="ko-KR" sz="900" b="0" i="0" u="none" strike="noStrike" cap="none" normalizeH="0" baseline="0" dirty="0">
                <a:ln>
                  <a:noFill/>
                </a:ln>
                <a:solidFill>
                  <a:srgbClr val="1750EB"/>
                </a:solidFill>
                <a:effectLst/>
                <a:latin typeface="Arial Unicode MS"/>
                <a:ea typeface="JetBrains Mono"/>
              </a:rPr>
              <a:t>250</a:t>
            </a:r>
            <a:br>
              <a:rPr kumimoji="0" lang="ko-KR" altLang="ko-KR" sz="900" b="0" i="0" u="none" strike="noStrike" cap="none" normalizeH="0" baseline="0" dirty="0">
                <a:ln>
                  <a:noFill/>
                </a:ln>
                <a:solidFill>
                  <a:srgbClr val="1750EB"/>
                </a:solidFill>
                <a:effectLst/>
                <a:latin typeface="Arial Unicode MS"/>
                <a:ea typeface="JetBrains Mono"/>
              </a:rPr>
            </a:br>
            <a:r>
              <a:rPr kumimoji="0" lang="ko-KR" altLang="ko-KR" sz="900" b="0" i="0" u="none" strike="noStrike" cap="none" normalizeH="0" baseline="0" dirty="0">
                <a:ln>
                  <a:noFill/>
                </a:ln>
                <a:solidFill>
                  <a:srgbClr val="1750EB"/>
                </a:solidFill>
                <a:effectLst/>
                <a:latin typeface="Arial Unicode MS"/>
                <a:ea typeface="JetBrains Mono"/>
              </a:rPr>
              <a:t>        </a:t>
            </a:r>
            <a:r>
              <a:rPr kumimoji="0" lang="ko-KR" altLang="ko-KR" sz="9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Arial Unicode MS"/>
                <a:ea typeface="JetBrains Mono"/>
              </a:rPr>
              <a:t>}</a:t>
            </a:r>
            <a:br>
              <a:rPr kumimoji="0" lang="ko-KR" altLang="ko-KR" sz="9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Arial Unicode MS"/>
                <a:ea typeface="JetBrains Mono"/>
              </a:rPr>
            </a:br>
            <a:br>
              <a:rPr kumimoji="0" lang="ko-KR" altLang="ko-KR" sz="9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Arial Unicode MS"/>
                <a:ea typeface="JetBrains Mono"/>
              </a:rPr>
            </a:br>
            <a:r>
              <a:rPr kumimoji="0" lang="ko-KR" altLang="ko-KR" sz="9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Arial Unicode MS"/>
                <a:ea typeface="JetBrains Mono"/>
              </a:rPr>
              <a:t>        </a:t>
            </a:r>
            <a:r>
              <a:rPr kumimoji="0" lang="ko-KR" altLang="ko-KR" sz="9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Arial Unicode MS"/>
                <a:ea typeface="JetBrains Mono"/>
              </a:rPr>
              <a:t>if</a:t>
            </a:r>
            <a:r>
              <a:rPr kumimoji="0" lang="ko-KR" altLang="ko-KR" sz="9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Arial Unicode MS"/>
                <a:ea typeface="JetBrains Mono"/>
              </a:rPr>
              <a:t> </a:t>
            </a:r>
            <a:r>
              <a:rPr kumimoji="0" lang="ko-KR" altLang="ko-KR" sz="9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Arial Unicode MS"/>
                <a:ea typeface="JetBrains Mono"/>
              </a:rPr>
              <a:t>'ADR' </a:t>
            </a:r>
            <a:r>
              <a:rPr kumimoji="0" lang="ko-KR" altLang="ko-KR" sz="9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Arial Unicode MS"/>
                <a:ea typeface="JetBrains Mono"/>
              </a:rPr>
              <a:t>in</a:t>
            </a:r>
            <a:r>
              <a:rPr kumimoji="0" lang="ko-KR" altLang="ko-KR" sz="9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Arial Unicode MS"/>
                <a:ea typeface="JetBrains Mono"/>
              </a:rPr>
              <a:t> </a:t>
            </a:r>
            <a:r>
              <a:rPr kumimoji="0" lang="ko-KR" altLang="ko-KR" sz="9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Arial Unicode MS"/>
                <a:ea typeface="JetBrains Mono"/>
              </a:rPr>
              <a:t>input_df</a:t>
            </a:r>
            <a:r>
              <a:rPr kumimoji="0" lang="ko-KR" altLang="ko-KR" sz="9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Arial Unicode MS"/>
                <a:ea typeface="JetBrains Mono"/>
              </a:rPr>
              <a:t>.columns</a:t>
            </a:r>
            <a:r>
              <a:rPr kumimoji="0" lang="ko-KR" altLang="ko-KR" sz="9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Arial Unicode MS"/>
                <a:ea typeface="JetBrains Mono"/>
              </a:rPr>
              <a:t>:</a:t>
            </a:r>
            <a:br>
              <a:rPr kumimoji="0" lang="ko-KR" altLang="ko-KR" sz="9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Arial Unicode MS"/>
                <a:ea typeface="JetBrains Mono"/>
              </a:rPr>
            </a:br>
            <a:r>
              <a:rPr kumimoji="0" lang="ko-KR" altLang="ko-KR" sz="9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Arial Unicode MS"/>
                <a:ea typeface="JetBrains Mono"/>
              </a:rPr>
              <a:t>            </a:t>
            </a:r>
            <a:r>
              <a:rPr kumimoji="0" lang="ko-KR" altLang="ko-KR" sz="9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Arial Unicode MS"/>
                <a:ea typeface="JetBrains Mono"/>
              </a:rPr>
              <a:t>input_df</a:t>
            </a:r>
            <a:r>
              <a:rPr kumimoji="0" lang="ko-KR" altLang="ko-KR" sz="9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Arial Unicode MS"/>
                <a:ea typeface="JetBrains Mono"/>
              </a:rPr>
              <a:t>[</a:t>
            </a:r>
            <a:r>
              <a:rPr kumimoji="0" lang="ko-KR" altLang="ko-KR" sz="9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Arial Unicode MS"/>
                <a:ea typeface="JetBrains Mono"/>
              </a:rPr>
              <a:t>'ADR'</a:t>
            </a:r>
            <a:r>
              <a:rPr kumimoji="0" lang="ko-KR" altLang="ko-KR" sz="9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Arial Unicode MS"/>
                <a:ea typeface="JetBrains Mono"/>
              </a:rPr>
              <a:t>] = </a:t>
            </a:r>
            <a:r>
              <a:rPr kumimoji="0" lang="ko-KR" altLang="ko-KR" sz="9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Arial Unicode MS"/>
                <a:ea typeface="JetBrains Mono"/>
              </a:rPr>
              <a:t>input_df</a:t>
            </a:r>
            <a:r>
              <a:rPr kumimoji="0" lang="ko-KR" altLang="ko-KR" sz="9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Arial Unicode MS"/>
                <a:ea typeface="JetBrains Mono"/>
              </a:rPr>
              <a:t>[</a:t>
            </a:r>
            <a:r>
              <a:rPr kumimoji="0" lang="ko-KR" altLang="ko-KR" sz="9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Arial Unicode MS"/>
                <a:ea typeface="JetBrains Mono"/>
              </a:rPr>
              <a:t>'ADR'</a:t>
            </a:r>
            <a:r>
              <a:rPr kumimoji="0" lang="ko-KR" altLang="ko-KR" sz="9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Arial Unicode MS"/>
                <a:ea typeface="JetBrains Mono"/>
              </a:rPr>
              <a:t>].</a:t>
            </a:r>
            <a:r>
              <a:rPr kumimoji="0" lang="ko-KR" altLang="ko-KR" sz="9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Arial Unicode MS"/>
                <a:ea typeface="JetBrains Mono"/>
              </a:rPr>
              <a:t>map</a:t>
            </a:r>
            <a:r>
              <a:rPr kumimoji="0" lang="ko-KR" altLang="ko-KR" sz="9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Arial Unicode MS"/>
                <a:ea typeface="JetBrains Mono"/>
              </a:rPr>
              <a:t>(</a:t>
            </a:r>
            <a:r>
              <a:rPr kumimoji="0" lang="ko-KR" altLang="ko-KR" sz="9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Arial Unicode MS"/>
                <a:ea typeface="JetBrains Mono"/>
              </a:rPr>
              <a:t>adr_mapping</a:t>
            </a:r>
            <a:r>
              <a:rPr kumimoji="0" lang="ko-KR" altLang="ko-KR" sz="9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Arial Unicode MS"/>
                <a:ea typeface="JetBrains Mono"/>
              </a:rPr>
              <a:t>)</a:t>
            </a:r>
            <a:br>
              <a:rPr kumimoji="0" lang="ko-KR" altLang="ko-KR" sz="9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Arial Unicode MS"/>
                <a:ea typeface="JetBrains Mono"/>
              </a:rPr>
            </a:br>
            <a:br>
              <a:rPr kumimoji="0" lang="ko-KR" altLang="ko-KR" sz="9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Arial Unicode MS"/>
                <a:ea typeface="JetBrains Mono"/>
              </a:rPr>
            </a:br>
            <a:r>
              <a:rPr kumimoji="0" lang="ko-KR" altLang="ko-KR" sz="9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Arial Unicode MS"/>
                <a:ea typeface="JetBrains Mono"/>
              </a:rPr>
              <a:t>        </a:t>
            </a:r>
            <a:r>
              <a:rPr kumimoji="0" lang="ko-KR" altLang="ko-KR" sz="9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Arial Unicode MS"/>
                <a:ea typeface="JetBrains Mono"/>
              </a:rPr>
              <a:t># </a:t>
            </a:r>
            <a:r>
              <a:rPr kumimoji="0" lang="ko-KR" altLang="ko-KR" sz="9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Courier New" panose="02070309020205020404" pitchFamily="49" charset="0"/>
                <a:ea typeface="JetBrains Mono"/>
                <a:cs typeface="Courier New" panose="02070309020205020404" pitchFamily="49" charset="0"/>
              </a:rPr>
              <a:t>공통 수치형 데이터 타입 강제 </a:t>
            </a:r>
            <a:r>
              <a:rPr kumimoji="0" lang="ko-KR" altLang="ko-KR" sz="900" b="0" i="1" u="none" strike="noStrike" cap="none" normalizeH="0" baseline="0" dirty="0" err="1">
                <a:ln>
                  <a:noFill/>
                </a:ln>
                <a:solidFill>
                  <a:srgbClr val="8C8C8C"/>
                </a:solidFill>
                <a:effectLst/>
                <a:latin typeface="Courier New" panose="02070309020205020404" pitchFamily="49" charset="0"/>
                <a:ea typeface="JetBrains Mono"/>
                <a:cs typeface="Courier New" panose="02070309020205020404" pitchFamily="49" charset="0"/>
              </a:rPr>
              <a:t>형변환</a:t>
            </a:r>
            <a:br>
              <a:rPr kumimoji="0" lang="ko-KR" altLang="ko-KR" sz="9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Courier New" panose="02070309020205020404" pitchFamily="49" charset="0"/>
                <a:ea typeface="JetBrains Mono"/>
                <a:cs typeface="Courier New" panose="02070309020205020404" pitchFamily="49" charset="0"/>
              </a:rPr>
            </a:br>
            <a:r>
              <a:rPr kumimoji="0" lang="ko-KR" altLang="ko-KR" sz="9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Courier New" panose="02070309020205020404" pitchFamily="49" charset="0"/>
                <a:ea typeface="JetBrains Mono"/>
                <a:cs typeface="Courier New" panose="02070309020205020404" pitchFamily="49" charset="0"/>
              </a:rPr>
              <a:t>        </a:t>
            </a:r>
            <a:r>
              <a:rPr kumimoji="0" lang="ko-KR" altLang="ko-KR" sz="9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Arial Unicode MS"/>
                <a:ea typeface="JetBrains Mono"/>
              </a:rPr>
              <a:t>numeric_cols</a:t>
            </a:r>
            <a:r>
              <a:rPr kumimoji="0" lang="ko-KR" altLang="ko-KR" sz="9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Arial Unicode MS"/>
                <a:ea typeface="JetBrains Mono"/>
              </a:rPr>
              <a:t> </a:t>
            </a:r>
            <a:r>
              <a:rPr kumimoji="0" lang="ko-KR" altLang="ko-KR" sz="9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Arial Unicode MS"/>
                <a:ea typeface="JetBrains Mono"/>
              </a:rPr>
              <a:t>= [</a:t>
            </a:r>
            <a:r>
              <a:rPr kumimoji="0" lang="ko-KR" altLang="ko-KR" sz="9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Arial Unicode MS"/>
                <a:ea typeface="JetBrains Mono"/>
              </a:rPr>
              <a:t>'LEAD_TIME'</a:t>
            </a:r>
            <a:r>
              <a:rPr kumimoji="0" lang="ko-KR" altLang="ko-KR" sz="9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Arial Unicode MS"/>
                <a:ea typeface="JetBrains Mono"/>
              </a:rPr>
              <a:t>, </a:t>
            </a:r>
            <a:r>
              <a:rPr kumimoji="0" lang="ko-KR" altLang="ko-KR" sz="9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Arial Unicode MS"/>
                <a:ea typeface="JetBrains Mono"/>
              </a:rPr>
              <a:t>'PREVIOUS_CANCELLATIONS'</a:t>
            </a:r>
            <a:r>
              <a:rPr kumimoji="0" lang="ko-KR" altLang="ko-KR" sz="9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Arial Unicode MS"/>
                <a:ea typeface="JetBrains Mono"/>
              </a:rPr>
              <a:t>, </a:t>
            </a:r>
            <a:r>
              <a:rPr kumimoji="0" lang="ko-KR" altLang="ko-KR" sz="9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Arial Unicode MS"/>
                <a:ea typeface="JetBrains Mono"/>
              </a:rPr>
              <a:t>'ADR'</a:t>
            </a:r>
            <a:r>
              <a:rPr kumimoji="0" lang="ko-KR" altLang="ko-KR" sz="9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Arial Unicode MS"/>
                <a:ea typeface="JetBrains Mono"/>
              </a:rPr>
              <a:t>,</a:t>
            </a:r>
            <a:br>
              <a:rPr kumimoji="0" lang="ko-KR" altLang="ko-KR" sz="9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Arial Unicode MS"/>
                <a:ea typeface="JetBrains Mono"/>
              </a:rPr>
            </a:br>
            <a:r>
              <a:rPr kumimoji="0" lang="ko-KR" altLang="ko-KR" sz="9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Arial Unicode MS"/>
                <a:ea typeface="JetBrains Mono"/>
              </a:rPr>
              <a:t>                        </a:t>
            </a:r>
            <a:r>
              <a:rPr kumimoji="0" lang="ko-KR" altLang="ko-KR" sz="9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Arial Unicode MS"/>
                <a:ea typeface="JetBrains Mono"/>
              </a:rPr>
              <a:t>'REQUIRED_CAR_PARKING_SPACES'</a:t>
            </a:r>
            <a:r>
              <a:rPr kumimoji="0" lang="ko-KR" altLang="ko-KR" sz="9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Arial Unicode MS"/>
                <a:ea typeface="JetBrains Mono"/>
              </a:rPr>
              <a:t>, </a:t>
            </a:r>
            <a:r>
              <a:rPr kumimoji="0" lang="ko-KR" altLang="ko-KR" sz="9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Arial Unicode MS"/>
                <a:ea typeface="JetBrains Mono"/>
              </a:rPr>
              <a:t>'TOTAL_OF_SPECIAL_REQUESTS'</a:t>
            </a:r>
            <a:r>
              <a:rPr kumimoji="0" lang="ko-KR" altLang="ko-KR" sz="9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Arial Unicode MS"/>
                <a:ea typeface="JetBrains Mono"/>
              </a:rPr>
              <a:t>]</a:t>
            </a:r>
            <a:br>
              <a:rPr kumimoji="0" lang="ko-KR" altLang="ko-KR" sz="9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Arial Unicode MS"/>
                <a:ea typeface="JetBrains Mono"/>
              </a:rPr>
            </a:br>
            <a:r>
              <a:rPr kumimoji="0" lang="ko-KR" altLang="ko-KR" sz="9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Arial Unicode MS"/>
                <a:ea typeface="JetBrains Mono"/>
              </a:rPr>
              <a:t>        </a:t>
            </a:r>
            <a:r>
              <a:rPr kumimoji="0" lang="ko-KR" altLang="ko-KR" sz="9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Arial Unicode MS"/>
                <a:ea typeface="JetBrains Mono"/>
              </a:rPr>
              <a:t>for</a:t>
            </a:r>
            <a:r>
              <a:rPr kumimoji="0" lang="ko-KR" altLang="ko-KR" sz="9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Arial Unicode MS"/>
                <a:ea typeface="JetBrains Mono"/>
              </a:rPr>
              <a:t> </a:t>
            </a:r>
            <a:r>
              <a:rPr kumimoji="0" lang="ko-KR" altLang="ko-KR" sz="9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Arial Unicode MS"/>
                <a:ea typeface="JetBrains Mono"/>
              </a:rPr>
              <a:t>col</a:t>
            </a:r>
            <a:r>
              <a:rPr kumimoji="0" lang="ko-KR" altLang="ko-KR" sz="9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Arial Unicode MS"/>
                <a:ea typeface="JetBrains Mono"/>
              </a:rPr>
              <a:t> </a:t>
            </a:r>
            <a:r>
              <a:rPr kumimoji="0" lang="ko-KR" altLang="ko-KR" sz="9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Arial Unicode MS"/>
                <a:ea typeface="JetBrains Mono"/>
              </a:rPr>
              <a:t>in</a:t>
            </a:r>
            <a:r>
              <a:rPr kumimoji="0" lang="ko-KR" altLang="ko-KR" sz="9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Arial Unicode MS"/>
                <a:ea typeface="JetBrains Mono"/>
              </a:rPr>
              <a:t> </a:t>
            </a:r>
            <a:r>
              <a:rPr kumimoji="0" lang="ko-KR" altLang="ko-KR" sz="9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Arial Unicode MS"/>
                <a:ea typeface="JetBrains Mono"/>
              </a:rPr>
              <a:t>numeric_cols</a:t>
            </a:r>
            <a:r>
              <a:rPr kumimoji="0" lang="ko-KR" altLang="ko-KR" sz="9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Arial Unicode MS"/>
                <a:ea typeface="JetBrains Mono"/>
              </a:rPr>
              <a:t>:</a:t>
            </a:r>
            <a:br>
              <a:rPr kumimoji="0" lang="ko-KR" altLang="ko-KR" sz="9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Arial Unicode MS"/>
                <a:ea typeface="JetBrains Mono"/>
              </a:rPr>
            </a:br>
            <a:r>
              <a:rPr kumimoji="0" lang="ko-KR" altLang="ko-KR" sz="9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Arial Unicode MS"/>
                <a:ea typeface="JetBrains Mono"/>
              </a:rPr>
              <a:t>            </a:t>
            </a:r>
            <a:r>
              <a:rPr kumimoji="0" lang="ko-KR" altLang="ko-KR" sz="9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Arial Unicode MS"/>
                <a:ea typeface="JetBrains Mono"/>
              </a:rPr>
              <a:t>if</a:t>
            </a:r>
            <a:r>
              <a:rPr kumimoji="0" lang="ko-KR" altLang="ko-KR" sz="9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Arial Unicode MS"/>
                <a:ea typeface="JetBrains Mono"/>
              </a:rPr>
              <a:t> </a:t>
            </a:r>
            <a:r>
              <a:rPr kumimoji="0" lang="ko-KR" altLang="ko-KR" sz="9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Arial Unicode MS"/>
                <a:ea typeface="JetBrains Mono"/>
              </a:rPr>
              <a:t>col</a:t>
            </a:r>
            <a:r>
              <a:rPr kumimoji="0" lang="ko-KR" altLang="ko-KR" sz="9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Arial Unicode MS"/>
                <a:ea typeface="JetBrains Mono"/>
              </a:rPr>
              <a:t> </a:t>
            </a:r>
            <a:r>
              <a:rPr kumimoji="0" lang="ko-KR" altLang="ko-KR" sz="9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Arial Unicode MS"/>
                <a:ea typeface="JetBrains Mono"/>
              </a:rPr>
              <a:t>in</a:t>
            </a:r>
            <a:r>
              <a:rPr kumimoji="0" lang="ko-KR" altLang="ko-KR" sz="9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Arial Unicode MS"/>
                <a:ea typeface="JetBrains Mono"/>
              </a:rPr>
              <a:t> </a:t>
            </a:r>
            <a:r>
              <a:rPr kumimoji="0" lang="ko-KR" altLang="ko-KR" sz="9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Arial Unicode MS"/>
                <a:ea typeface="JetBrains Mono"/>
              </a:rPr>
              <a:t>input_df</a:t>
            </a:r>
            <a:r>
              <a:rPr kumimoji="0" lang="ko-KR" altLang="ko-KR" sz="9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Arial Unicode MS"/>
                <a:ea typeface="JetBrains Mono"/>
              </a:rPr>
              <a:t>.columns</a:t>
            </a:r>
            <a:r>
              <a:rPr kumimoji="0" lang="ko-KR" altLang="ko-KR" sz="9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Arial Unicode MS"/>
                <a:ea typeface="JetBrains Mono"/>
              </a:rPr>
              <a:t>:</a:t>
            </a:r>
            <a:br>
              <a:rPr kumimoji="0" lang="ko-KR" altLang="ko-KR" sz="9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Arial Unicode MS"/>
                <a:ea typeface="JetBrains Mono"/>
              </a:rPr>
            </a:br>
            <a:r>
              <a:rPr kumimoji="0" lang="ko-KR" altLang="ko-KR" sz="9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Arial Unicode MS"/>
                <a:ea typeface="JetBrains Mono"/>
              </a:rPr>
              <a:t>                </a:t>
            </a:r>
            <a:r>
              <a:rPr kumimoji="0" lang="ko-KR" altLang="ko-KR" sz="9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Arial Unicode MS"/>
                <a:ea typeface="JetBrains Mono"/>
              </a:rPr>
              <a:t>input_df</a:t>
            </a:r>
            <a:r>
              <a:rPr kumimoji="0" lang="ko-KR" altLang="ko-KR" sz="9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Arial Unicode MS"/>
                <a:ea typeface="JetBrains Mono"/>
              </a:rPr>
              <a:t>[</a:t>
            </a:r>
            <a:r>
              <a:rPr kumimoji="0" lang="ko-KR" altLang="ko-KR" sz="9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Arial Unicode MS"/>
                <a:ea typeface="JetBrains Mono"/>
              </a:rPr>
              <a:t>col</a:t>
            </a:r>
            <a:r>
              <a:rPr kumimoji="0" lang="ko-KR" altLang="ko-KR" sz="9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Arial Unicode MS"/>
                <a:ea typeface="JetBrains Mono"/>
              </a:rPr>
              <a:t>] = </a:t>
            </a:r>
            <a:r>
              <a:rPr kumimoji="0" lang="ko-KR" altLang="ko-KR" sz="9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Arial Unicode MS"/>
                <a:ea typeface="JetBrains Mono"/>
              </a:rPr>
              <a:t>pd.to_numeric</a:t>
            </a:r>
            <a:r>
              <a:rPr kumimoji="0" lang="ko-KR" altLang="ko-KR" sz="9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Arial Unicode MS"/>
                <a:ea typeface="JetBrains Mono"/>
              </a:rPr>
              <a:t>(</a:t>
            </a:r>
            <a:r>
              <a:rPr kumimoji="0" lang="ko-KR" altLang="ko-KR" sz="9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Arial Unicode MS"/>
                <a:ea typeface="JetBrains Mono"/>
              </a:rPr>
              <a:t>input_df</a:t>
            </a:r>
            <a:r>
              <a:rPr kumimoji="0" lang="ko-KR" altLang="ko-KR" sz="9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Arial Unicode MS"/>
                <a:ea typeface="JetBrains Mono"/>
              </a:rPr>
              <a:t>[</a:t>
            </a:r>
            <a:r>
              <a:rPr kumimoji="0" lang="ko-KR" altLang="ko-KR" sz="9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Arial Unicode MS"/>
                <a:ea typeface="JetBrains Mono"/>
              </a:rPr>
              <a:t>col</a:t>
            </a:r>
            <a:r>
              <a:rPr kumimoji="0" lang="ko-KR" altLang="ko-KR" sz="9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Arial Unicode MS"/>
                <a:ea typeface="JetBrains Mono"/>
              </a:rPr>
              <a:t>], </a:t>
            </a:r>
            <a:r>
              <a:rPr kumimoji="0" lang="ko-KR" altLang="ko-KR" sz="900" b="0" i="0" u="none" strike="noStrike" cap="none" normalizeH="0" baseline="0" dirty="0" err="1">
                <a:ln>
                  <a:noFill/>
                </a:ln>
                <a:solidFill>
                  <a:srgbClr val="660099"/>
                </a:solidFill>
                <a:effectLst/>
                <a:latin typeface="Arial Unicode MS"/>
                <a:ea typeface="JetBrains Mono"/>
              </a:rPr>
              <a:t>errors</a:t>
            </a:r>
            <a:r>
              <a:rPr kumimoji="0" lang="ko-KR" altLang="ko-KR" sz="9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Arial Unicode MS"/>
                <a:ea typeface="JetBrains Mono"/>
              </a:rPr>
              <a:t>=</a:t>
            </a:r>
            <a:r>
              <a:rPr kumimoji="0" lang="ko-KR" altLang="ko-KR" sz="9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Arial Unicode MS"/>
                <a:ea typeface="JetBrains Mono"/>
              </a:rPr>
              <a:t>'</a:t>
            </a:r>
            <a:r>
              <a:rPr kumimoji="0" lang="ko-KR" altLang="ko-KR" sz="9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Arial Unicode MS"/>
                <a:ea typeface="JetBrains Mono"/>
              </a:rPr>
              <a:t>coerce</a:t>
            </a:r>
            <a:r>
              <a:rPr kumimoji="0" lang="ko-KR" altLang="ko-KR" sz="9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Arial Unicode MS"/>
                <a:ea typeface="JetBrains Mono"/>
              </a:rPr>
              <a:t>'</a:t>
            </a:r>
            <a:r>
              <a:rPr kumimoji="0" lang="ko-KR" altLang="ko-KR" sz="9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Arial Unicode MS"/>
                <a:ea typeface="JetBrains Mono"/>
              </a:rPr>
              <a:t>).</a:t>
            </a:r>
            <a:r>
              <a:rPr kumimoji="0" lang="ko-KR" altLang="ko-KR" sz="9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Arial Unicode MS"/>
                <a:ea typeface="JetBrains Mono"/>
              </a:rPr>
              <a:t>fillna</a:t>
            </a:r>
            <a:r>
              <a:rPr kumimoji="0" lang="ko-KR" altLang="ko-KR" sz="9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Arial Unicode MS"/>
                <a:ea typeface="JetBrains Mono"/>
              </a:rPr>
              <a:t>(</a:t>
            </a:r>
            <a:r>
              <a:rPr kumimoji="0" lang="ko-KR" altLang="ko-KR" sz="900" b="0" i="0" u="none" strike="noStrike" cap="none" normalizeH="0" baseline="0" dirty="0">
                <a:ln>
                  <a:noFill/>
                </a:ln>
                <a:solidFill>
                  <a:srgbClr val="1750EB"/>
                </a:solidFill>
                <a:effectLst/>
                <a:latin typeface="Arial Unicode MS"/>
                <a:ea typeface="JetBrains Mono"/>
              </a:rPr>
              <a:t>0</a:t>
            </a:r>
            <a:r>
              <a:rPr kumimoji="0" lang="ko-KR" altLang="ko-KR" sz="9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Arial Unicode MS"/>
                <a:ea typeface="JetBrains Mono"/>
              </a:rPr>
              <a:t>)</a:t>
            </a:r>
            <a:br>
              <a:rPr kumimoji="0" lang="ko-KR" altLang="ko-KR" sz="9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Arial Unicode MS"/>
                <a:ea typeface="JetBrains Mono"/>
              </a:rPr>
            </a:br>
            <a:br>
              <a:rPr kumimoji="0" lang="ko-KR" altLang="ko-KR" sz="9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Arial Unicode MS"/>
                <a:ea typeface="JetBrains Mono"/>
              </a:rPr>
            </a:br>
            <a:br>
              <a:rPr kumimoji="0" lang="ko-KR" altLang="ko-KR" sz="9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Arial Unicode MS"/>
                <a:ea typeface="JetBrains Mono"/>
              </a:rPr>
            </a:br>
            <a:endParaRPr kumimoji="0" lang="ko-KR" altLang="ko-K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graphicFrame>
        <p:nvGraphicFramePr>
          <p:cNvPr id="8" name="표 7">
            <a:extLst>
              <a:ext uri="{FF2B5EF4-FFF2-40B4-BE49-F238E27FC236}">
                <a16:creationId xmlns:a16="http://schemas.microsoft.com/office/drawing/2014/main" id="{B580EE21-7828-7212-2A1B-67DE0468908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08285356"/>
              </p:ext>
            </p:extLst>
          </p:nvPr>
        </p:nvGraphicFramePr>
        <p:xfrm>
          <a:off x="6737135" y="1485118"/>
          <a:ext cx="4849870" cy="4145280"/>
        </p:xfrm>
        <a:graphic>
          <a:graphicData uri="http://schemas.openxmlformats.org/drawingml/2006/table">
            <a:tbl>
              <a:tblPr/>
              <a:tblGrid>
                <a:gridCol w="2424935">
                  <a:extLst>
                    <a:ext uri="{9D8B030D-6E8A-4147-A177-3AD203B41FA5}">
                      <a16:colId xmlns:a16="http://schemas.microsoft.com/office/drawing/2014/main" val="4124393083"/>
                    </a:ext>
                  </a:extLst>
                </a:gridCol>
                <a:gridCol w="2424935">
                  <a:extLst>
                    <a:ext uri="{9D8B030D-6E8A-4147-A177-3AD203B41FA5}">
                      <a16:colId xmlns:a16="http://schemas.microsoft.com/office/drawing/2014/main" val="1638199709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rtl="0"/>
                      <a:r>
                        <a:rPr lang="ko-KR" altLang="en-US" b="1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핵심 로직</a:t>
                      </a:r>
                      <a:endParaRPr lang="ko-KR" altLang="en-US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ko-KR" altLang="en-US" b="1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설명 </a:t>
                      </a:r>
                      <a:r>
                        <a:rPr lang="en-US" altLang="ko-KR" b="1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(</a:t>
                      </a:r>
                      <a:r>
                        <a:rPr lang="en-US" b="1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Description)</a:t>
                      </a:r>
                      <a:endParaRPr lang="en-US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8949078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/>
                      <a:r>
                        <a:rPr lang="ko-KR" altLang="en-US" b="1" dirty="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데이터 동적 매핑</a:t>
                      </a:r>
                      <a:endParaRPr lang="ko-KR" altLang="en-US" dirty="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ko-KR" altLang="en-US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프론트엔드에서 전달된 정성적 요금 데이터</a:t>
                      </a:r>
                      <a:r>
                        <a:rPr lang="en-US" altLang="ko-KR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(ADR)</a:t>
                      </a:r>
                      <a:r>
                        <a:rPr lang="ko-KR" altLang="en-US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를 머신러닝 모델의 학습 기준에 맞추어 실시간으로 수치화</a:t>
                      </a:r>
                      <a:r>
                        <a:rPr lang="en-US" altLang="ko-KR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(Mapping) </a:t>
                      </a:r>
                      <a:r>
                        <a:rPr lang="ko-KR" altLang="en-US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처리함</a:t>
                      </a:r>
                      <a:r>
                        <a:rPr lang="en-US" altLang="ko-KR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.</a:t>
                      </a: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5325123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/>
                      <a:r>
                        <a:rPr lang="ko-KR" altLang="en-US" b="1" dirty="0" err="1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결측치</a:t>
                      </a:r>
                      <a:r>
                        <a:rPr lang="ko-KR" altLang="en-US" b="1" dirty="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 </a:t>
                      </a:r>
                      <a:r>
                        <a:rPr lang="en-US" altLang="ko-KR" b="1" dirty="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&amp; </a:t>
                      </a:r>
                      <a:r>
                        <a:rPr lang="ko-KR" altLang="en-US" b="1" dirty="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타입 방어</a:t>
                      </a:r>
                      <a:endParaRPr lang="ko-KR" altLang="en-US" dirty="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ko-KR" altLang="en-US" dirty="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외부 </a:t>
                      </a:r>
                      <a:r>
                        <a:rPr lang="ko-KR" altLang="en-US" dirty="0" err="1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입력값의</a:t>
                      </a:r>
                      <a:r>
                        <a:rPr lang="ko-KR" altLang="en-US" dirty="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 유효성을 검증하고</a:t>
                      </a:r>
                      <a:r>
                        <a:rPr lang="en-US" altLang="ko-KR" dirty="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, </a:t>
                      </a:r>
                      <a:r>
                        <a:rPr lang="ko-KR" altLang="en-US" dirty="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예외 발생 시 </a:t>
                      </a:r>
                      <a:r>
                        <a:rPr lang="en-US" altLang="ko-KR" dirty="0" err="1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to_numeric</a:t>
                      </a:r>
                      <a:r>
                        <a:rPr lang="en-US" altLang="ko-KR" dirty="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 </a:t>
                      </a:r>
                      <a:r>
                        <a:rPr lang="ko-KR" altLang="en-US" dirty="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및 </a:t>
                      </a:r>
                      <a:r>
                        <a:rPr lang="en-US" altLang="ko-KR" dirty="0" err="1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fillna</a:t>
                      </a:r>
                      <a:r>
                        <a:rPr lang="en-US" altLang="ko-KR" dirty="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(0)</a:t>
                      </a:r>
                      <a:r>
                        <a:rPr lang="ko-KR" altLang="en-US" dirty="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를 통해 데이터 타입을 강제 </a:t>
                      </a:r>
                      <a:r>
                        <a:rPr lang="ko-KR" altLang="en-US" dirty="0" err="1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형변환하여</a:t>
                      </a:r>
                      <a:r>
                        <a:rPr lang="ko-KR" altLang="en-US" dirty="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 추론 안정성을 확보함</a:t>
                      </a:r>
                      <a:r>
                        <a:rPr lang="en-US" altLang="ko-KR" dirty="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.</a:t>
                      </a: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2712500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4279166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>
            <a:extLst>
              <a:ext uri="{FF2B5EF4-FFF2-40B4-BE49-F238E27FC236}">
                <a16:creationId xmlns:a16="http://schemas.microsoft.com/office/drawing/2014/main" id="{A1BC658B-3A71-2467-CB33-03A51800EBDC}"/>
              </a:ext>
            </a:extLst>
          </p:cNvPr>
          <p:cNvSpPr/>
          <p:nvPr/>
        </p:nvSpPr>
        <p:spPr>
          <a:xfrm>
            <a:off x="-1" y="0"/>
            <a:ext cx="12193200" cy="432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" name="사각형: 잘린 한쪽 모서리 3">
            <a:extLst>
              <a:ext uri="{FF2B5EF4-FFF2-40B4-BE49-F238E27FC236}">
                <a16:creationId xmlns:a16="http://schemas.microsoft.com/office/drawing/2014/main" id="{6C29B8CC-D569-0884-2DE9-9DFCA7850BB2}"/>
              </a:ext>
            </a:extLst>
          </p:cNvPr>
          <p:cNvSpPr/>
          <p:nvPr/>
        </p:nvSpPr>
        <p:spPr>
          <a:xfrm>
            <a:off x="0" y="324000"/>
            <a:ext cx="4680000" cy="720000"/>
          </a:xfrm>
          <a:prstGeom prst="snip1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5" name="L 도형 4">
            <a:extLst>
              <a:ext uri="{FF2B5EF4-FFF2-40B4-BE49-F238E27FC236}">
                <a16:creationId xmlns:a16="http://schemas.microsoft.com/office/drawing/2014/main" id="{4F9348AA-9546-4A2C-458A-3C5E0E7A8F87}"/>
              </a:ext>
            </a:extLst>
          </p:cNvPr>
          <p:cNvSpPr/>
          <p:nvPr/>
        </p:nvSpPr>
        <p:spPr>
          <a:xfrm rot="13500000">
            <a:off x="11340286" y="125999"/>
            <a:ext cx="180000" cy="180000"/>
          </a:xfrm>
          <a:prstGeom prst="corner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6" name="L 도형 5">
            <a:extLst>
              <a:ext uri="{FF2B5EF4-FFF2-40B4-BE49-F238E27FC236}">
                <a16:creationId xmlns:a16="http://schemas.microsoft.com/office/drawing/2014/main" id="{CD0274B5-2FBB-CCC2-3FDF-6B688797683C}"/>
              </a:ext>
            </a:extLst>
          </p:cNvPr>
          <p:cNvSpPr/>
          <p:nvPr/>
        </p:nvSpPr>
        <p:spPr>
          <a:xfrm rot="13500000">
            <a:off x="11595610" y="123995"/>
            <a:ext cx="180000" cy="180000"/>
          </a:xfrm>
          <a:prstGeom prst="corner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7" name="L 도형 6">
            <a:extLst>
              <a:ext uri="{FF2B5EF4-FFF2-40B4-BE49-F238E27FC236}">
                <a16:creationId xmlns:a16="http://schemas.microsoft.com/office/drawing/2014/main" id="{F55AB5B5-649B-F4D3-54AC-E78424F260C5}"/>
              </a:ext>
            </a:extLst>
          </p:cNvPr>
          <p:cNvSpPr/>
          <p:nvPr/>
        </p:nvSpPr>
        <p:spPr>
          <a:xfrm rot="13500000">
            <a:off x="11849405" y="126000"/>
            <a:ext cx="180000" cy="180000"/>
          </a:xfrm>
          <a:prstGeom prst="corner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63F8DEAC-3D34-2FB1-2E9B-9D960055F93C}"/>
              </a:ext>
            </a:extLst>
          </p:cNvPr>
          <p:cNvSpPr>
            <a:spLocks noChangeArrowheads="1"/>
          </p:cNvSpPr>
          <p:nvPr/>
        </p:nvSpPr>
        <p:spPr bwMode="auto">
          <a:xfrm>
            <a:off x="604995" y="3834702"/>
            <a:ext cx="5101624" cy="3693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ko-KR" altLang="ko-K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8" name="Rectangle 1">
            <a:extLst>
              <a:ext uri="{FF2B5EF4-FFF2-40B4-BE49-F238E27FC236}">
                <a16:creationId xmlns:a16="http://schemas.microsoft.com/office/drawing/2014/main" id="{29DB3CA7-2CAB-6529-B037-90D7C2CA6326}"/>
              </a:ext>
            </a:extLst>
          </p:cNvPr>
          <p:cNvSpPr>
            <a:spLocks noChangeArrowheads="1"/>
          </p:cNvSpPr>
          <p:nvPr/>
        </p:nvSpPr>
        <p:spPr bwMode="auto">
          <a:xfrm>
            <a:off x="31" y="1272462"/>
            <a:ext cx="5758405" cy="549381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9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Arial Unicode MS"/>
                <a:ea typeface="JetBrains Mono"/>
              </a:rPr>
              <a:t>        </a:t>
            </a:r>
            <a:r>
              <a:rPr kumimoji="0" lang="ko-KR" altLang="ko-KR" sz="9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Arial Unicode MS"/>
                <a:ea typeface="JetBrains Mono"/>
              </a:rPr>
              <a:t>selected_features</a:t>
            </a:r>
            <a:r>
              <a:rPr kumimoji="0" lang="ko-KR" altLang="ko-KR" sz="9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Arial Unicode MS"/>
                <a:ea typeface="JetBrains Mono"/>
              </a:rPr>
              <a:t> </a:t>
            </a:r>
            <a:r>
              <a:rPr kumimoji="0" lang="ko-KR" altLang="ko-KR" sz="9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Arial Unicode MS"/>
                <a:ea typeface="JetBrains Mono"/>
              </a:rPr>
              <a:t>= [</a:t>
            </a:r>
            <a:br>
              <a:rPr kumimoji="0" lang="ko-KR" altLang="ko-KR" sz="9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Arial Unicode MS"/>
                <a:ea typeface="JetBrains Mono"/>
              </a:rPr>
            </a:br>
            <a:r>
              <a:rPr kumimoji="0" lang="ko-KR" altLang="ko-KR" sz="9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Arial Unicode MS"/>
                <a:ea typeface="JetBrains Mono"/>
              </a:rPr>
              <a:t>            </a:t>
            </a:r>
            <a:r>
              <a:rPr kumimoji="0" lang="ko-KR" altLang="ko-KR" sz="9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Arial Unicode MS"/>
                <a:ea typeface="JetBrains Mono"/>
              </a:rPr>
              <a:t>'HOTEL'</a:t>
            </a:r>
            <a:r>
              <a:rPr kumimoji="0" lang="ko-KR" altLang="ko-KR" sz="9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Arial Unicode MS"/>
                <a:ea typeface="JetBrains Mono"/>
              </a:rPr>
              <a:t>,</a:t>
            </a:r>
            <a:br>
              <a:rPr kumimoji="0" lang="ko-KR" altLang="ko-KR" sz="9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Arial Unicode MS"/>
                <a:ea typeface="JetBrains Mono"/>
              </a:rPr>
            </a:br>
            <a:r>
              <a:rPr kumimoji="0" lang="ko-KR" altLang="ko-KR" sz="9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Arial Unicode MS"/>
                <a:ea typeface="JetBrains Mono"/>
              </a:rPr>
              <a:t>            </a:t>
            </a:r>
            <a:r>
              <a:rPr kumimoji="0" lang="ko-KR" altLang="ko-KR" sz="9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Arial Unicode MS"/>
                <a:ea typeface="JetBrains Mono"/>
              </a:rPr>
              <a:t>'LEAD_TIME'</a:t>
            </a:r>
            <a:r>
              <a:rPr kumimoji="0" lang="ko-KR" altLang="ko-KR" sz="9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Arial Unicode MS"/>
                <a:ea typeface="JetBrains Mono"/>
              </a:rPr>
              <a:t>,</a:t>
            </a:r>
            <a:br>
              <a:rPr kumimoji="0" lang="ko-KR" altLang="ko-KR" sz="9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Arial Unicode MS"/>
                <a:ea typeface="JetBrains Mono"/>
              </a:rPr>
            </a:br>
            <a:r>
              <a:rPr kumimoji="0" lang="ko-KR" altLang="ko-KR" sz="9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Arial Unicode MS"/>
                <a:ea typeface="JetBrains Mono"/>
              </a:rPr>
              <a:t>            </a:t>
            </a:r>
            <a:r>
              <a:rPr kumimoji="0" lang="ko-KR" altLang="ko-KR" sz="9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Arial Unicode MS"/>
                <a:ea typeface="JetBrains Mono"/>
              </a:rPr>
              <a:t>'COUNTRY'</a:t>
            </a:r>
            <a:r>
              <a:rPr kumimoji="0" lang="ko-KR" altLang="ko-KR" sz="9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Arial Unicode MS"/>
                <a:ea typeface="JetBrains Mono"/>
              </a:rPr>
              <a:t>,</a:t>
            </a:r>
            <a:br>
              <a:rPr kumimoji="0" lang="ko-KR" altLang="ko-KR" sz="9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Arial Unicode MS"/>
                <a:ea typeface="JetBrains Mono"/>
              </a:rPr>
            </a:br>
            <a:r>
              <a:rPr kumimoji="0" lang="ko-KR" altLang="ko-KR" sz="9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Arial Unicode MS"/>
                <a:ea typeface="JetBrains Mono"/>
              </a:rPr>
              <a:t>            </a:t>
            </a:r>
            <a:r>
              <a:rPr kumimoji="0" lang="ko-KR" altLang="ko-KR" sz="9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Arial Unicode MS"/>
                <a:ea typeface="JetBrains Mono"/>
              </a:rPr>
              <a:t>'MARKET_SEGMENT'</a:t>
            </a:r>
            <a:r>
              <a:rPr kumimoji="0" lang="ko-KR" altLang="ko-KR" sz="9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Arial Unicode MS"/>
                <a:ea typeface="JetBrains Mono"/>
              </a:rPr>
              <a:t>,</a:t>
            </a:r>
            <a:br>
              <a:rPr kumimoji="0" lang="ko-KR" altLang="ko-KR" sz="9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Arial Unicode MS"/>
                <a:ea typeface="JetBrains Mono"/>
              </a:rPr>
            </a:br>
            <a:r>
              <a:rPr kumimoji="0" lang="ko-KR" altLang="ko-KR" sz="9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Arial Unicode MS"/>
                <a:ea typeface="JetBrains Mono"/>
              </a:rPr>
              <a:t>            </a:t>
            </a:r>
            <a:r>
              <a:rPr kumimoji="0" lang="ko-KR" altLang="ko-KR" sz="9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Arial Unicode MS"/>
                <a:ea typeface="JetBrains Mono"/>
              </a:rPr>
              <a:t>'PREVIOUS_CANCELLATIONS'</a:t>
            </a:r>
            <a:r>
              <a:rPr kumimoji="0" lang="ko-KR" altLang="ko-KR" sz="9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Arial Unicode MS"/>
                <a:ea typeface="JetBrains Mono"/>
              </a:rPr>
              <a:t>,</a:t>
            </a:r>
            <a:br>
              <a:rPr kumimoji="0" lang="ko-KR" altLang="ko-KR" sz="9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Arial Unicode MS"/>
                <a:ea typeface="JetBrains Mono"/>
              </a:rPr>
            </a:br>
            <a:r>
              <a:rPr kumimoji="0" lang="ko-KR" altLang="ko-KR" sz="9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Arial Unicode MS"/>
                <a:ea typeface="JetBrains Mono"/>
              </a:rPr>
              <a:t>            </a:t>
            </a:r>
            <a:r>
              <a:rPr kumimoji="0" lang="ko-KR" altLang="ko-KR" sz="9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Arial Unicode MS"/>
                <a:ea typeface="JetBrains Mono"/>
              </a:rPr>
              <a:t>'CUSTOMER_TYPE'</a:t>
            </a:r>
            <a:r>
              <a:rPr kumimoji="0" lang="ko-KR" altLang="ko-KR" sz="9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Arial Unicode MS"/>
                <a:ea typeface="JetBrains Mono"/>
              </a:rPr>
              <a:t>,</a:t>
            </a:r>
            <a:br>
              <a:rPr kumimoji="0" lang="ko-KR" altLang="ko-KR" sz="9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Arial Unicode MS"/>
                <a:ea typeface="JetBrains Mono"/>
              </a:rPr>
            </a:br>
            <a:r>
              <a:rPr kumimoji="0" lang="ko-KR" altLang="ko-KR" sz="9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Arial Unicode MS"/>
                <a:ea typeface="JetBrains Mono"/>
              </a:rPr>
              <a:t>            </a:t>
            </a:r>
            <a:r>
              <a:rPr kumimoji="0" lang="ko-KR" altLang="ko-KR" sz="9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Arial Unicode MS"/>
                <a:ea typeface="JetBrains Mono"/>
              </a:rPr>
              <a:t>'ADR'</a:t>
            </a:r>
            <a:r>
              <a:rPr kumimoji="0" lang="ko-KR" altLang="ko-KR" sz="9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Arial Unicode MS"/>
                <a:ea typeface="JetBrains Mono"/>
              </a:rPr>
              <a:t>,</a:t>
            </a:r>
            <a:br>
              <a:rPr kumimoji="0" lang="ko-KR" altLang="ko-KR" sz="9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Arial Unicode MS"/>
                <a:ea typeface="JetBrains Mono"/>
              </a:rPr>
            </a:br>
            <a:r>
              <a:rPr kumimoji="0" lang="ko-KR" altLang="ko-KR" sz="9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Arial Unicode MS"/>
                <a:ea typeface="JetBrains Mono"/>
              </a:rPr>
              <a:t>            </a:t>
            </a:r>
            <a:r>
              <a:rPr kumimoji="0" lang="ko-KR" altLang="ko-KR" sz="9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Arial Unicode MS"/>
                <a:ea typeface="JetBrains Mono"/>
              </a:rPr>
              <a:t>'REQUIRED_CAR_PARKING_SPACES'</a:t>
            </a:r>
            <a:r>
              <a:rPr kumimoji="0" lang="ko-KR" altLang="ko-KR" sz="9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Arial Unicode MS"/>
                <a:ea typeface="JetBrains Mono"/>
              </a:rPr>
              <a:t>,</a:t>
            </a:r>
            <a:br>
              <a:rPr kumimoji="0" lang="ko-KR" altLang="ko-KR" sz="9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Arial Unicode MS"/>
                <a:ea typeface="JetBrains Mono"/>
              </a:rPr>
            </a:br>
            <a:r>
              <a:rPr kumimoji="0" lang="ko-KR" altLang="ko-KR" sz="9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Arial Unicode MS"/>
                <a:ea typeface="JetBrains Mono"/>
              </a:rPr>
              <a:t>            </a:t>
            </a:r>
            <a:r>
              <a:rPr kumimoji="0" lang="ko-KR" altLang="ko-KR" sz="9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Arial Unicode MS"/>
                <a:ea typeface="JetBrains Mono"/>
              </a:rPr>
              <a:t>'TOTAL_OF_SPECIAL_REQUESTS'</a:t>
            </a:r>
            <a:br>
              <a:rPr kumimoji="0" lang="ko-KR" altLang="ko-KR" sz="9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Arial Unicode MS"/>
                <a:ea typeface="JetBrains Mono"/>
              </a:rPr>
            </a:br>
            <a:r>
              <a:rPr kumimoji="0" lang="ko-KR" altLang="ko-KR" sz="9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Arial Unicode MS"/>
                <a:ea typeface="JetBrains Mono"/>
              </a:rPr>
              <a:t>        </a:t>
            </a:r>
            <a:r>
              <a:rPr kumimoji="0" lang="ko-KR" altLang="ko-KR" sz="9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Arial Unicode MS"/>
                <a:ea typeface="JetBrains Mono"/>
              </a:rPr>
              <a:t>]</a:t>
            </a:r>
            <a:br>
              <a:rPr kumimoji="0" lang="ko-KR" altLang="ko-KR" sz="9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Arial Unicode MS"/>
                <a:ea typeface="JetBrains Mono"/>
              </a:rPr>
            </a:br>
            <a:br>
              <a:rPr kumimoji="0" lang="ko-KR" altLang="ko-KR" sz="9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Arial Unicode MS"/>
                <a:ea typeface="JetBrains Mono"/>
              </a:rPr>
            </a:br>
            <a:r>
              <a:rPr kumimoji="0" lang="ko-KR" altLang="ko-KR" sz="9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Arial Unicode MS"/>
                <a:ea typeface="JetBrains Mono"/>
              </a:rPr>
              <a:t>        </a:t>
            </a:r>
            <a:r>
              <a:rPr kumimoji="0" lang="ko-KR" altLang="ko-KR" sz="9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Arial Unicode MS"/>
                <a:ea typeface="JetBrains Mono"/>
              </a:rPr>
              <a:t>if</a:t>
            </a:r>
            <a:r>
              <a:rPr kumimoji="0" lang="ko-KR" altLang="ko-KR" sz="9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Arial Unicode MS"/>
                <a:ea typeface="JetBrains Mono"/>
              </a:rPr>
              <a:t> </a:t>
            </a:r>
            <a:r>
              <a:rPr kumimoji="0" lang="ko-KR" altLang="ko-KR" sz="9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Arial Unicode MS"/>
                <a:ea typeface="JetBrains Mono"/>
              </a:rPr>
              <a:t>mode</a:t>
            </a:r>
            <a:r>
              <a:rPr kumimoji="0" lang="ko-KR" altLang="ko-KR" sz="9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Arial Unicode MS"/>
                <a:ea typeface="JetBrains Mono"/>
              </a:rPr>
              <a:t> </a:t>
            </a:r>
            <a:r>
              <a:rPr kumimoji="0" lang="ko-KR" altLang="ko-KR" sz="9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Arial Unicode MS"/>
                <a:ea typeface="JetBrains Mono"/>
              </a:rPr>
              <a:t>== </a:t>
            </a:r>
            <a:r>
              <a:rPr kumimoji="0" lang="ko-KR" altLang="ko-KR" sz="9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Arial Unicode MS"/>
                <a:ea typeface="JetBrains Mono"/>
              </a:rPr>
              <a:t>'</a:t>
            </a:r>
            <a:r>
              <a:rPr kumimoji="0" lang="ko-KR" altLang="ko-KR" sz="9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Arial Unicode MS"/>
                <a:ea typeface="JetBrains Mono"/>
              </a:rPr>
              <a:t>hotel</a:t>
            </a:r>
            <a:r>
              <a:rPr kumimoji="0" lang="ko-KR" altLang="ko-KR" sz="9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Arial Unicode MS"/>
                <a:ea typeface="JetBrains Mono"/>
              </a:rPr>
              <a:t>'</a:t>
            </a:r>
            <a:r>
              <a:rPr kumimoji="0" lang="ko-KR" altLang="ko-KR" sz="9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Arial Unicode MS"/>
                <a:ea typeface="JetBrains Mono"/>
              </a:rPr>
              <a:t>:</a:t>
            </a:r>
            <a:br>
              <a:rPr kumimoji="0" lang="ko-KR" altLang="ko-KR" sz="9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Arial Unicode MS"/>
                <a:ea typeface="JetBrains Mono"/>
              </a:rPr>
            </a:br>
            <a:r>
              <a:rPr kumimoji="0" lang="ko-KR" altLang="ko-KR" sz="9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Arial Unicode MS"/>
                <a:ea typeface="JetBrains Mono"/>
              </a:rPr>
              <a:t>            </a:t>
            </a:r>
            <a:r>
              <a:rPr kumimoji="0" lang="ko-KR" altLang="ko-KR" sz="9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Arial Unicode MS"/>
                <a:ea typeface="JetBrains Mono"/>
              </a:rPr>
              <a:t># </a:t>
            </a:r>
            <a:r>
              <a:rPr kumimoji="0" lang="ko-KR" altLang="ko-KR" sz="9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Courier New" panose="02070309020205020404" pitchFamily="49" charset="0"/>
                <a:ea typeface="JetBrains Mono"/>
                <a:cs typeface="Courier New" panose="02070309020205020404" pitchFamily="49" charset="0"/>
              </a:rPr>
              <a:t>인코딩 처리</a:t>
            </a:r>
            <a:r>
              <a:rPr kumimoji="0" lang="ko-KR" altLang="ko-KR" sz="9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Arial Unicode MS"/>
                <a:ea typeface="JetBrains Mono"/>
              </a:rPr>
              <a:t> (</a:t>
            </a:r>
            <a:r>
              <a:rPr kumimoji="0" lang="ko-KR" altLang="ko-KR" sz="9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Courier New" panose="02070309020205020404" pitchFamily="49" charset="0"/>
                <a:ea typeface="JetBrains Mono"/>
                <a:cs typeface="Courier New" panose="02070309020205020404" pitchFamily="49" charset="0"/>
              </a:rPr>
              <a:t>호텔 전용 인코더 사전 매핑</a:t>
            </a:r>
            <a:r>
              <a:rPr kumimoji="0" lang="ko-KR" altLang="ko-KR" sz="9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Arial Unicode MS"/>
                <a:ea typeface="JetBrains Mono"/>
              </a:rPr>
              <a:t>)</a:t>
            </a:r>
            <a:br>
              <a:rPr kumimoji="0" lang="ko-KR" altLang="ko-KR" sz="9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Arial Unicode MS"/>
                <a:ea typeface="JetBrains Mono"/>
              </a:rPr>
            </a:br>
            <a:r>
              <a:rPr kumimoji="0" lang="ko-KR" altLang="ko-KR" sz="9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Arial Unicode MS"/>
                <a:ea typeface="JetBrains Mono"/>
              </a:rPr>
              <a:t>            </a:t>
            </a:r>
            <a:r>
              <a:rPr kumimoji="0" lang="ko-KR" altLang="ko-KR" sz="9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Arial Unicode MS"/>
                <a:ea typeface="JetBrains Mono"/>
              </a:rPr>
              <a:t>for</a:t>
            </a:r>
            <a:r>
              <a:rPr kumimoji="0" lang="ko-KR" altLang="ko-KR" sz="9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Arial Unicode MS"/>
                <a:ea typeface="JetBrains Mono"/>
              </a:rPr>
              <a:t> </a:t>
            </a:r>
            <a:r>
              <a:rPr kumimoji="0" lang="ko-KR" altLang="ko-KR" sz="9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Arial Unicode MS"/>
                <a:ea typeface="JetBrains Mono"/>
              </a:rPr>
              <a:t>col</a:t>
            </a:r>
            <a:r>
              <a:rPr kumimoji="0" lang="ko-KR" altLang="ko-KR" sz="9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Arial Unicode MS"/>
                <a:ea typeface="JetBrains Mono"/>
              </a:rPr>
              <a:t>, </a:t>
            </a:r>
            <a:r>
              <a:rPr kumimoji="0" lang="ko-KR" altLang="ko-KR" sz="9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Arial Unicode MS"/>
                <a:ea typeface="JetBrains Mono"/>
              </a:rPr>
              <a:t>le</a:t>
            </a:r>
            <a:r>
              <a:rPr kumimoji="0" lang="ko-KR" altLang="ko-KR" sz="9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Arial Unicode MS"/>
                <a:ea typeface="JetBrains Mono"/>
              </a:rPr>
              <a:t> </a:t>
            </a:r>
            <a:r>
              <a:rPr kumimoji="0" lang="ko-KR" altLang="ko-KR" sz="9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Arial Unicode MS"/>
                <a:ea typeface="JetBrains Mono"/>
              </a:rPr>
              <a:t>in</a:t>
            </a:r>
            <a:r>
              <a:rPr kumimoji="0" lang="ko-KR" altLang="ko-KR" sz="9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Arial Unicode MS"/>
                <a:ea typeface="JetBrains Mono"/>
              </a:rPr>
              <a:t> </a:t>
            </a:r>
            <a:r>
              <a:rPr kumimoji="0" lang="ko-KR" altLang="ko-KR" sz="9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Arial Unicode MS"/>
                <a:ea typeface="JetBrains Mono"/>
              </a:rPr>
              <a:t>hotel_le_dict.items</a:t>
            </a:r>
            <a:r>
              <a:rPr kumimoji="0" lang="ko-KR" altLang="ko-KR" sz="9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Arial Unicode MS"/>
                <a:ea typeface="JetBrains Mono"/>
              </a:rPr>
              <a:t>():</a:t>
            </a:r>
            <a:br>
              <a:rPr kumimoji="0" lang="ko-KR" altLang="ko-KR" sz="9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Arial Unicode MS"/>
                <a:ea typeface="JetBrains Mono"/>
              </a:rPr>
            </a:br>
            <a:r>
              <a:rPr kumimoji="0" lang="ko-KR" altLang="ko-KR" sz="9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Arial Unicode MS"/>
                <a:ea typeface="JetBrains Mono"/>
              </a:rPr>
              <a:t>                </a:t>
            </a:r>
            <a:r>
              <a:rPr kumimoji="0" lang="ko-KR" altLang="ko-KR" sz="9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Arial Unicode MS"/>
                <a:ea typeface="JetBrains Mono"/>
              </a:rPr>
              <a:t>if</a:t>
            </a:r>
            <a:r>
              <a:rPr kumimoji="0" lang="ko-KR" altLang="ko-KR" sz="9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Arial Unicode MS"/>
                <a:ea typeface="JetBrains Mono"/>
              </a:rPr>
              <a:t> </a:t>
            </a:r>
            <a:r>
              <a:rPr kumimoji="0" lang="ko-KR" altLang="ko-KR" sz="9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Arial Unicode MS"/>
                <a:ea typeface="JetBrains Mono"/>
              </a:rPr>
              <a:t>col</a:t>
            </a:r>
            <a:r>
              <a:rPr kumimoji="0" lang="ko-KR" altLang="ko-KR" sz="9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Arial Unicode MS"/>
                <a:ea typeface="JetBrains Mono"/>
              </a:rPr>
              <a:t> </a:t>
            </a:r>
            <a:r>
              <a:rPr kumimoji="0" lang="ko-KR" altLang="ko-KR" sz="9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Arial Unicode MS"/>
                <a:ea typeface="JetBrains Mono"/>
              </a:rPr>
              <a:t>in</a:t>
            </a:r>
            <a:r>
              <a:rPr kumimoji="0" lang="ko-KR" altLang="ko-KR" sz="9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Arial Unicode MS"/>
                <a:ea typeface="JetBrains Mono"/>
              </a:rPr>
              <a:t> </a:t>
            </a:r>
            <a:r>
              <a:rPr kumimoji="0" lang="ko-KR" altLang="ko-KR" sz="9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Arial Unicode MS"/>
                <a:ea typeface="JetBrains Mono"/>
              </a:rPr>
              <a:t>input_df</a:t>
            </a:r>
            <a:r>
              <a:rPr kumimoji="0" lang="ko-KR" altLang="ko-KR" sz="9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Arial Unicode MS"/>
                <a:ea typeface="JetBrains Mono"/>
              </a:rPr>
              <a:t>.columns</a:t>
            </a:r>
            <a:r>
              <a:rPr kumimoji="0" lang="ko-KR" altLang="ko-KR" sz="9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Arial Unicode MS"/>
                <a:ea typeface="JetBrains Mono"/>
              </a:rPr>
              <a:t>:</a:t>
            </a:r>
            <a:br>
              <a:rPr kumimoji="0" lang="ko-KR" altLang="ko-KR" sz="9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Arial Unicode MS"/>
                <a:ea typeface="JetBrains Mono"/>
              </a:rPr>
            </a:br>
            <a:r>
              <a:rPr kumimoji="0" lang="ko-KR" altLang="ko-KR" sz="9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Arial Unicode MS"/>
                <a:ea typeface="JetBrains Mono"/>
              </a:rPr>
              <a:t>                    </a:t>
            </a:r>
            <a:r>
              <a:rPr kumimoji="0" lang="ko-KR" altLang="ko-KR" sz="9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Arial Unicode MS"/>
                <a:ea typeface="JetBrains Mono"/>
              </a:rPr>
              <a:t>val</a:t>
            </a:r>
            <a:r>
              <a:rPr kumimoji="0" lang="ko-KR" altLang="ko-KR" sz="9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Arial Unicode MS"/>
                <a:ea typeface="JetBrains Mono"/>
              </a:rPr>
              <a:t> </a:t>
            </a:r>
            <a:r>
              <a:rPr kumimoji="0" lang="ko-KR" altLang="ko-KR" sz="9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Arial Unicode MS"/>
                <a:ea typeface="JetBrains Mono"/>
              </a:rPr>
              <a:t>= </a:t>
            </a:r>
            <a:r>
              <a:rPr kumimoji="0" lang="ko-KR" altLang="ko-KR" sz="900" b="0" i="0" u="none" strike="noStrike" cap="none" normalizeH="0" baseline="0" dirty="0" err="1">
                <a:ln>
                  <a:noFill/>
                </a:ln>
                <a:solidFill>
                  <a:srgbClr val="000080"/>
                </a:solidFill>
                <a:effectLst/>
                <a:latin typeface="Arial Unicode MS"/>
                <a:ea typeface="JetBrains Mono"/>
              </a:rPr>
              <a:t>str</a:t>
            </a:r>
            <a:r>
              <a:rPr kumimoji="0" lang="ko-KR" altLang="ko-KR" sz="9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Arial Unicode MS"/>
                <a:ea typeface="JetBrains Mono"/>
              </a:rPr>
              <a:t>(</a:t>
            </a:r>
            <a:r>
              <a:rPr kumimoji="0" lang="ko-KR" altLang="ko-KR" sz="9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Arial Unicode MS"/>
                <a:ea typeface="JetBrains Mono"/>
              </a:rPr>
              <a:t>input_df</a:t>
            </a:r>
            <a:r>
              <a:rPr kumimoji="0" lang="ko-KR" altLang="ko-KR" sz="9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Arial Unicode MS"/>
                <a:ea typeface="JetBrains Mono"/>
              </a:rPr>
              <a:t>[</a:t>
            </a:r>
            <a:r>
              <a:rPr kumimoji="0" lang="ko-KR" altLang="ko-KR" sz="9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Arial Unicode MS"/>
                <a:ea typeface="JetBrains Mono"/>
              </a:rPr>
              <a:t>col</a:t>
            </a:r>
            <a:r>
              <a:rPr kumimoji="0" lang="ko-KR" altLang="ko-KR" sz="9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Arial Unicode MS"/>
                <a:ea typeface="JetBrains Mono"/>
              </a:rPr>
              <a:t>].</a:t>
            </a:r>
            <a:r>
              <a:rPr kumimoji="0" lang="ko-KR" altLang="ko-KR" sz="9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Arial Unicode MS"/>
                <a:ea typeface="JetBrains Mono"/>
              </a:rPr>
              <a:t>iloc</a:t>
            </a:r>
            <a:r>
              <a:rPr kumimoji="0" lang="ko-KR" altLang="ko-KR" sz="9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Arial Unicode MS"/>
                <a:ea typeface="JetBrains Mono"/>
              </a:rPr>
              <a:t>[</a:t>
            </a:r>
            <a:r>
              <a:rPr kumimoji="0" lang="ko-KR" altLang="ko-KR" sz="900" b="0" i="0" u="none" strike="noStrike" cap="none" normalizeH="0" baseline="0" dirty="0">
                <a:ln>
                  <a:noFill/>
                </a:ln>
                <a:solidFill>
                  <a:srgbClr val="1750EB"/>
                </a:solidFill>
                <a:effectLst/>
                <a:latin typeface="Arial Unicode MS"/>
                <a:ea typeface="JetBrains Mono"/>
              </a:rPr>
              <a:t>0</a:t>
            </a:r>
            <a:r>
              <a:rPr kumimoji="0" lang="ko-KR" altLang="ko-KR" sz="9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Arial Unicode MS"/>
                <a:ea typeface="JetBrains Mono"/>
              </a:rPr>
              <a:t>])</a:t>
            </a:r>
            <a:br>
              <a:rPr kumimoji="0" lang="ko-KR" altLang="ko-KR" sz="9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Arial Unicode MS"/>
                <a:ea typeface="JetBrains Mono"/>
              </a:rPr>
            </a:br>
            <a:r>
              <a:rPr kumimoji="0" lang="ko-KR" altLang="ko-KR" sz="9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Arial Unicode MS"/>
                <a:ea typeface="JetBrains Mono"/>
              </a:rPr>
              <a:t>                    </a:t>
            </a:r>
            <a:r>
              <a:rPr kumimoji="0" lang="ko-KR" altLang="ko-KR" sz="9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Arial Unicode MS"/>
                <a:ea typeface="JetBrains Mono"/>
              </a:rPr>
              <a:t># </a:t>
            </a:r>
            <a:r>
              <a:rPr kumimoji="0" lang="ko-KR" altLang="ko-KR" sz="9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Courier New" panose="02070309020205020404" pitchFamily="49" charset="0"/>
                <a:ea typeface="JetBrains Mono"/>
                <a:cs typeface="Courier New" panose="02070309020205020404" pitchFamily="49" charset="0"/>
              </a:rPr>
              <a:t>💡</a:t>
            </a:r>
            <a:r>
              <a:rPr kumimoji="0" lang="ko-KR" altLang="ko-KR" sz="9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Arial Unicode MS"/>
                <a:ea typeface="JetBrains Mono"/>
              </a:rPr>
              <a:t> [</a:t>
            </a:r>
            <a:r>
              <a:rPr kumimoji="0" lang="ko-KR" altLang="ko-KR" sz="9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Courier New" panose="02070309020205020404" pitchFamily="49" charset="0"/>
                <a:ea typeface="JetBrains Mono"/>
                <a:cs typeface="Courier New" panose="02070309020205020404" pitchFamily="49" charset="0"/>
              </a:rPr>
              <a:t>보정</a:t>
            </a:r>
            <a:r>
              <a:rPr kumimoji="0" lang="ko-KR" altLang="ko-KR" sz="9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Arial Unicode MS"/>
                <a:ea typeface="JetBrains Mono"/>
              </a:rPr>
              <a:t>] </a:t>
            </a:r>
            <a:r>
              <a:rPr kumimoji="0" lang="ko-KR" altLang="ko-KR" sz="9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Courier New" panose="02070309020205020404" pitchFamily="49" charset="0"/>
                <a:ea typeface="JetBrains Mono"/>
                <a:cs typeface="Courier New" panose="02070309020205020404" pitchFamily="49" charset="0"/>
              </a:rPr>
              <a:t>변환된 어레이 데이터에서 단일 스칼라 값만 </a:t>
            </a:r>
            <a:r>
              <a:rPr kumimoji="0" lang="ko-KR" altLang="ko-KR" sz="900" b="0" i="1" u="none" strike="noStrike" cap="none" normalizeH="0" baseline="0" dirty="0" err="1">
                <a:ln>
                  <a:noFill/>
                </a:ln>
                <a:solidFill>
                  <a:srgbClr val="8C8C8C"/>
                </a:solidFill>
                <a:effectLst/>
                <a:latin typeface="Courier New" panose="02070309020205020404" pitchFamily="49" charset="0"/>
                <a:ea typeface="JetBrains Mono"/>
                <a:cs typeface="Courier New" panose="02070309020205020404" pitchFamily="49" charset="0"/>
              </a:rPr>
              <a:t>꺼내오도록</a:t>
            </a:r>
            <a:r>
              <a:rPr kumimoji="0" lang="ko-KR" altLang="ko-KR" sz="9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Arial Unicode MS"/>
                <a:ea typeface="JetBrains Mono"/>
              </a:rPr>
              <a:t> [0] </a:t>
            </a:r>
            <a:r>
              <a:rPr kumimoji="0" lang="ko-KR" altLang="ko-KR" sz="9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Courier New" panose="02070309020205020404" pitchFamily="49" charset="0"/>
                <a:ea typeface="JetBrains Mono"/>
                <a:cs typeface="Courier New" panose="02070309020205020404" pitchFamily="49" charset="0"/>
              </a:rPr>
              <a:t>인덱싱 처리 안전화</a:t>
            </a:r>
            <a:br>
              <a:rPr kumimoji="0" lang="ko-KR" altLang="ko-KR" sz="9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Courier New" panose="02070309020205020404" pitchFamily="49" charset="0"/>
                <a:ea typeface="JetBrains Mono"/>
                <a:cs typeface="Courier New" panose="02070309020205020404" pitchFamily="49" charset="0"/>
              </a:rPr>
            </a:br>
            <a:r>
              <a:rPr kumimoji="0" lang="ko-KR" altLang="ko-KR" sz="9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Courier New" panose="02070309020205020404" pitchFamily="49" charset="0"/>
                <a:ea typeface="JetBrains Mono"/>
                <a:cs typeface="Courier New" panose="02070309020205020404" pitchFamily="49" charset="0"/>
              </a:rPr>
              <a:t>                    </a:t>
            </a:r>
            <a:r>
              <a:rPr kumimoji="0" lang="ko-KR" altLang="ko-KR" sz="9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Arial Unicode MS"/>
                <a:ea typeface="JetBrains Mono"/>
              </a:rPr>
              <a:t>if</a:t>
            </a:r>
            <a:r>
              <a:rPr kumimoji="0" lang="ko-KR" altLang="ko-KR" sz="9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Arial Unicode MS"/>
                <a:ea typeface="JetBrains Mono"/>
              </a:rPr>
              <a:t> </a:t>
            </a:r>
            <a:r>
              <a:rPr kumimoji="0" lang="ko-KR" altLang="ko-KR" sz="9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Arial Unicode MS"/>
                <a:ea typeface="JetBrains Mono"/>
              </a:rPr>
              <a:t>val</a:t>
            </a:r>
            <a:r>
              <a:rPr kumimoji="0" lang="ko-KR" altLang="ko-KR" sz="9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Arial Unicode MS"/>
                <a:ea typeface="JetBrains Mono"/>
              </a:rPr>
              <a:t> </a:t>
            </a:r>
            <a:r>
              <a:rPr kumimoji="0" lang="ko-KR" altLang="ko-KR" sz="9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Arial Unicode MS"/>
                <a:ea typeface="JetBrains Mono"/>
              </a:rPr>
              <a:t>not</a:t>
            </a:r>
            <a:r>
              <a:rPr kumimoji="0" lang="ko-KR" altLang="ko-KR" sz="9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Arial Unicode MS"/>
                <a:ea typeface="JetBrains Mono"/>
              </a:rPr>
              <a:t> </a:t>
            </a:r>
            <a:r>
              <a:rPr kumimoji="0" lang="ko-KR" altLang="ko-KR" sz="9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Arial Unicode MS"/>
                <a:ea typeface="JetBrains Mono"/>
              </a:rPr>
              <a:t>in</a:t>
            </a:r>
            <a:r>
              <a:rPr kumimoji="0" lang="ko-KR" altLang="ko-KR" sz="9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Arial Unicode MS"/>
                <a:ea typeface="JetBrains Mono"/>
              </a:rPr>
              <a:t> </a:t>
            </a:r>
            <a:r>
              <a:rPr kumimoji="0" lang="ko-KR" altLang="ko-KR" sz="9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Arial Unicode MS"/>
                <a:ea typeface="JetBrains Mono"/>
              </a:rPr>
              <a:t>le</a:t>
            </a:r>
            <a:r>
              <a:rPr kumimoji="0" lang="ko-KR" altLang="ko-KR" sz="9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Arial Unicode MS"/>
                <a:ea typeface="JetBrains Mono"/>
              </a:rPr>
              <a:t>.classes</a:t>
            </a:r>
            <a:r>
              <a:rPr kumimoji="0" lang="ko-KR" altLang="ko-KR" sz="9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Arial Unicode MS"/>
                <a:ea typeface="JetBrains Mono"/>
              </a:rPr>
              <a:t>_:</a:t>
            </a:r>
            <a:br>
              <a:rPr kumimoji="0" lang="ko-KR" altLang="ko-KR" sz="9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Arial Unicode MS"/>
                <a:ea typeface="JetBrains Mono"/>
              </a:rPr>
            </a:br>
            <a:r>
              <a:rPr kumimoji="0" lang="ko-KR" altLang="ko-KR" sz="9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Arial Unicode MS"/>
                <a:ea typeface="JetBrains Mono"/>
              </a:rPr>
              <a:t>                        </a:t>
            </a:r>
            <a:r>
              <a:rPr kumimoji="0" lang="ko-KR" altLang="ko-KR" sz="9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Arial Unicode MS"/>
                <a:ea typeface="JetBrains Mono"/>
              </a:rPr>
              <a:t>input_df</a:t>
            </a:r>
            <a:r>
              <a:rPr kumimoji="0" lang="ko-KR" altLang="ko-KR" sz="9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Arial Unicode MS"/>
                <a:ea typeface="JetBrains Mono"/>
              </a:rPr>
              <a:t>[</a:t>
            </a:r>
            <a:r>
              <a:rPr kumimoji="0" lang="ko-KR" altLang="ko-KR" sz="9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Arial Unicode MS"/>
                <a:ea typeface="JetBrains Mono"/>
              </a:rPr>
              <a:t>col</a:t>
            </a:r>
            <a:r>
              <a:rPr kumimoji="0" lang="ko-KR" altLang="ko-KR" sz="9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Arial Unicode MS"/>
                <a:ea typeface="JetBrains Mono"/>
              </a:rPr>
              <a:t>] = </a:t>
            </a:r>
            <a:r>
              <a:rPr kumimoji="0" lang="ko-KR" altLang="ko-KR" sz="9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Arial Unicode MS"/>
                <a:ea typeface="JetBrains Mono"/>
              </a:rPr>
              <a:t>le</a:t>
            </a:r>
            <a:r>
              <a:rPr kumimoji="0" lang="ko-KR" altLang="ko-KR" sz="9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Arial Unicode MS"/>
                <a:ea typeface="JetBrains Mono"/>
              </a:rPr>
              <a:t>.transform</a:t>
            </a:r>
            <a:r>
              <a:rPr kumimoji="0" lang="ko-KR" altLang="ko-KR" sz="9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Arial Unicode MS"/>
                <a:ea typeface="JetBrains Mono"/>
              </a:rPr>
              <a:t>([</a:t>
            </a:r>
            <a:r>
              <a:rPr kumimoji="0" lang="ko-KR" altLang="ko-KR" sz="9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Arial Unicode MS"/>
                <a:ea typeface="JetBrains Mono"/>
              </a:rPr>
              <a:t>le</a:t>
            </a:r>
            <a:r>
              <a:rPr kumimoji="0" lang="ko-KR" altLang="ko-KR" sz="9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Arial Unicode MS"/>
                <a:ea typeface="JetBrains Mono"/>
              </a:rPr>
              <a:t>.classes</a:t>
            </a:r>
            <a:r>
              <a:rPr kumimoji="0" lang="ko-KR" altLang="ko-KR" sz="9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Arial Unicode MS"/>
                <a:ea typeface="JetBrains Mono"/>
              </a:rPr>
              <a:t>_[</a:t>
            </a:r>
            <a:r>
              <a:rPr kumimoji="0" lang="ko-KR" altLang="ko-KR" sz="900" b="0" i="0" u="none" strike="noStrike" cap="none" normalizeH="0" baseline="0" dirty="0">
                <a:ln>
                  <a:noFill/>
                </a:ln>
                <a:solidFill>
                  <a:srgbClr val="1750EB"/>
                </a:solidFill>
                <a:effectLst/>
                <a:latin typeface="Arial Unicode MS"/>
                <a:ea typeface="JetBrains Mono"/>
              </a:rPr>
              <a:t>0</a:t>
            </a:r>
            <a:r>
              <a:rPr kumimoji="0" lang="ko-KR" altLang="ko-KR" sz="9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Arial Unicode MS"/>
                <a:ea typeface="JetBrains Mono"/>
              </a:rPr>
              <a:t>]])[</a:t>
            </a:r>
            <a:r>
              <a:rPr kumimoji="0" lang="ko-KR" altLang="ko-KR" sz="900" b="0" i="0" u="none" strike="noStrike" cap="none" normalizeH="0" baseline="0" dirty="0">
                <a:ln>
                  <a:noFill/>
                </a:ln>
                <a:solidFill>
                  <a:srgbClr val="1750EB"/>
                </a:solidFill>
                <a:effectLst/>
                <a:latin typeface="Arial Unicode MS"/>
                <a:ea typeface="JetBrains Mono"/>
              </a:rPr>
              <a:t>0</a:t>
            </a:r>
            <a:r>
              <a:rPr kumimoji="0" lang="ko-KR" altLang="ko-KR" sz="9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Arial Unicode MS"/>
                <a:ea typeface="JetBrains Mono"/>
              </a:rPr>
              <a:t>]</a:t>
            </a:r>
            <a:br>
              <a:rPr kumimoji="0" lang="ko-KR" altLang="ko-KR" sz="9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Arial Unicode MS"/>
                <a:ea typeface="JetBrains Mono"/>
              </a:rPr>
            </a:br>
            <a:r>
              <a:rPr kumimoji="0" lang="ko-KR" altLang="ko-KR" sz="9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Arial Unicode MS"/>
                <a:ea typeface="JetBrains Mono"/>
              </a:rPr>
              <a:t>                    </a:t>
            </a:r>
            <a:r>
              <a:rPr kumimoji="0" lang="ko-KR" altLang="ko-KR" sz="9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Arial Unicode MS"/>
                <a:ea typeface="JetBrains Mono"/>
              </a:rPr>
              <a:t>else</a:t>
            </a:r>
            <a:r>
              <a:rPr kumimoji="0" lang="ko-KR" altLang="ko-KR" sz="9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Arial Unicode MS"/>
                <a:ea typeface="JetBrains Mono"/>
              </a:rPr>
              <a:t>:</a:t>
            </a:r>
            <a:br>
              <a:rPr kumimoji="0" lang="ko-KR" altLang="ko-KR" sz="9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Arial Unicode MS"/>
                <a:ea typeface="JetBrains Mono"/>
              </a:rPr>
            </a:br>
            <a:r>
              <a:rPr kumimoji="0" lang="ko-KR" altLang="ko-KR" sz="9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Arial Unicode MS"/>
                <a:ea typeface="JetBrains Mono"/>
              </a:rPr>
              <a:t>                        </a:t>
            </a:r>
            <a:r>
              <a:rPr kumimoji="0" lang="ko-KR" altLang="ko-KR" sz="9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Arial Unicode MS"/>
                <a:ea typeface="JetBrains Mono"/>
              </a:rPr>
              <a:t>input_df</a:t>
            </a:r>
            <a:r>
              <a:rPr kumimoji="0" lang="ko-KR" altLang="ko-KR" sz="9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Arial Unicode MS"/>
                <a:ea typeface="JetBrains Mono"/>
              </a:rPr>
              <a:t>[</a:t>
            </a:r>
            <a:r>
              <a:rPr kumimoji="0" lang="ko-KR" altLang="ko-KR" sz="9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Arial Unicode MS"/>
                <a:ea typeface="JetBrains Mono"/>
              </a:rPr>
              <a:t>col</a:t>
            </a:r>
            <a:r>
              <a:rPr kumimoji="0" lang="ko-KR" altLang="ko-KR" sz="9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Arial Unicode MS"/>
                <a:ea typeface="JetBrains Mono"/>
              </a:rPr>
              <a:t>] = </a:t>
            </a:r>
            <a:r>
              <a:rPr kumimoji="0" lang="ko-KR" altLang="ko-KR" sz="9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Arial Unicode MS"/>
                <a:ea typeface="JetBrains Mono"/>
              </a:rPr>
              <a:t>le</a:t>
            </a:r>
            <a:r>
              <a:rPr kumimoji="0" lang="ko-KR" altLang="ko-KR" sz="9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Arial Unicode MS"/>
                <a:ea typeface="JetBrains Mono"/>
              </a:rPr>
              <a:t>.transform</a:t>
            </a:r>
            <a:r>
              <a:rPr kumimoji="0" lang="ko-KR" altLang="ko-KR" sz="9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Arial Unicode MS"/>
                <a:ea typeface="JetBrains Mono"/>
              </a:rPr>
              <a:t>([</a:t>
            </a:r>
            <a:r>
              <a:rPr kumimoji="0" lang="ko-KR" altLang="ko-KR" sz="9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Arial Unicode MS"/>
                <a:ea typeface="JetBrains Mono"/>
              </a:rPr>
              <a:t>val</a:t>
            </a:r>
            <a:r>
              <a:rPr kumimoji="0" lang="ko-KR" altLang="ko-KR" sz="9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Arial Unicode MS"/>
                <a:ea typeface="JetBrains Mono"/>
              </a:rPr>
              <a:t>])[</a:t>
            </a:r>
            <a:r>
              <a:rPr kumimoji="0" lang="ko-KR" altLang="ko-KR" sz="900" b="0" i="0" u="none" strike="noStrike" cap="none" normalizeH="0" baseline="0" dirty="0">
                <a:ln>
                  <a:noFill/>
                </a:ln>
                <a:solidFill>
                  <a:srgbClr val="1750EB"/>
                </a:solidFill>
                <a:effectLst/>
                <a:latin typeface="Arial Unicode MS"/>
                <a:ea typeface="JetBrains Mono"/>
              </a:rPr>
              <a:t>0</a:t>
            </a:r>
            <a:r>
              <a:rPr kumimoji="0" lang="ko-KR" altLang="ko-KR" sz="9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Arial Unicode MS"/>
                <a:ea typeface="JetBrains Mono"/>
              </a:rPr>
              <a:t>]</a:t>
            </a:r>
            <a:br>
              <a:rPr kumimoji="0" lang="ko-KR" altLang="ko-KR" sz="9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Arial Unicode MS"/>
                <a:ea typeface="JetBrains Mono"/>
              </a:rPr>
            </a:br>
            <a:br>
              <a:rPr kumimoji="0" lang="ko-KR" altLang="ko-KR" sz="9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Arial Unicode MS"/>
                <a:ea typeface="JetBrains Mono"/>
              </a:rPr>
            </a:br>
            <a:r>
              <a:rPr kumimoji="0" lang="ko-KR" altLang="ko-KR" sz="9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Arial Unicode MS"/>
                <a:ea typeface="JetBrains Mono"/>
              </a:rPr>
              <a:t>            </a:t>
            </a:r>
            <a:r>
              <a:rPr kumimoji="0" lang="ko-KR" altLang="ko-KR" sz="9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Arial Unicode MS"/>
                <a:ea typeface="JetBrains Mono"/>
              </a:rPr>
              <a:t>input_df</a:t>
            </a:r>
            <a:r>
              <a:rPr kumimoji="0" lang="ko-KR" altLang="ko-KR" sz="9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Arial Unicode MS"/>
                <a:ea typeface="JetBrains Mono"/>
              </a:rPr>
              <a:t> </a:t>
            </a:r>
            <a:r>
              <a:rPr kumimoji="0" lang="ko-KR" altLang="ko-KR" sz="9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Arial Unicode MS"/>
                <a:ea typeface="JetBrains Mono"/>
              </a:rPr>
              <a:t>= </a:t>
            </a:r>
            <a:r>
              <a:rPr kumimoji="0" lang="ko-KR" altLang="ko-KR" sz="9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Arial Unicode MS"/>
                <a:ea typeface="JetBrains Mono"/>
              </a:rPr>
              <a:t>input_df</a:t>
            </a:r>
            <a:r>
              <a:rPr kumimoji="0" lang="ko-KR" altLang="ko-KR" sz="9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Arial Unicode MS"/>
                <a:ea typeface="JetBrains Mono"/>
              </a:rPr>
              <a:t>[</a:t>
            </a:r>
            <a:r>
              <a:rPr kumimoji="0" lang="ko-KR" altLang="ko-KR" sz="9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Arial Unicode MS"/>
                <a:ea typeface="JetBrains Mono"/>
              </a:rPr>
              <a:t>selected_features</a:t>
            </a:r>
            <a:r>
              <a:rPr kumimoji="0" lang="ko-KR" altLang="ko-KR" sz="9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Arial Unicode MS"/>
                <a:ea typeface="JetBrains Mono"/>
              </a:rPr>
              <a:t>]</a:t>
            </a:r>
            <a:br>
              <a:rPr kumimoji="0" lang="ko-KR" altLang="ko-KR" sz="9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Arial Unicode MS"/>
                <a:ea typeface="JetBrains Mono"/>
              </a:rPr>
            </a:br>
            <a:br>
              <a:rPr kumimoji="0" lang="ko-KR" altLang="ko-KR" sz="9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Arial Unicode MS"/>
                <a:ea typeface="JetBrains Mono"/>
              </a:rPr>
            </a:br>
            <a:r>
              <a:rPr kumimoji="0" lang="ko-KR" altLang="ko-KR" sz="9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Arial Unicode MS"/>
                <a:ea typeface="JetBrains Mono"/>
              </a:rPr>
              <a:t>            </a:t>
            </a:r>
            <a:r>
              <a:rPr kumimoji="0" lang="ko-KR" altLang="ko-KR" sz="9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Arial Unicode MS"/>
                <a:ea typeface="JetBrains Mono"/>
              </a:rPr>
              <a:t>prediction</a:t>
            </a:r>
            <a:r>
              <a:rPr kumimoji="0" lang="ko-KR" altLang="ko-KR" sz="9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Arial Unicode MS"/>
                <a:ea typeface="JetBrains Mono"/>
              </a:rPr>
              <a:t> </a:t>
            </a:r>
            <a:r>
              <a:rPr kumimoji="0" lang="ko-KR" altLang="ko-KR" sz="9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Arial Unicode MS"/>
                <a:ea typeface="JetBrains Mono"/>
              </a:rPr>
              <a:t>= </a:t>
            </a:r>
            <a:r>
              <a:rPr kumimoji="0" lang="ko-KR" altLang="ko-KR" sz="9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Arial Unicode MS"/>
                <a:ea typeface="JetBrains Mono"/>
              </a:rPr>
              <a:t>hotel_model.predict</a:t>
            </a:r>
            <a:r>
              <a:rPr kumimoji="0" lang="ko-KR" altLang="ko-KR" sz="9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Arial Unicode MS"/>
                <a:ea typeface="JetBrains Mono"/>
              </a:rPr>
              <a:t>(</a:t>
            </a:r>
            <a:r>
              <a:rPr kumimoji="0" lang="ko-KR" altLang="ko-KR" sz="9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Arial Unicode MS"/>
                <a:ea typeface="JetBrains Mono"/>
              </a:rPr>
              <a:t>input_df</a:t>
            </a:r>
            <a:r>
              <a:rPr kumimoji="0" lang="ko-KR" altLang="ko-KR" sz="9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Arial Unicode MS"/>
                <a:ea typeface="JetBrains Mono"/>
              </a:rPr>
              <a:t>)[</a:t>
            </a:r>
            <a:r>
              <a:rPr kumimoji="0" lang="ko-KR" altLang="ko-KR" sz="900" b="0" i="0" u="none" strike="noStrike" cap="none" normalizeH="0" baseline="0" dirty="0">
                <a:ln>
                  <a:noFill/>
                </a:ln>
                <a:solidFill>
                  <a:srgbClr val="1750EB"/>
                </a:solidFill>
                <a:effectLst/>
                <a:latin typeface="Arial Unicode MS"/>
                <a:ea typeface="JetBrains Mono"/>
              </a:rPr>
              <a:t>0</a:t>
            </a:r>
            <a:r>
              <a:rPr kumimoji="0" lang="ko-KR" altLang="ko-KR" sz="9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Arial Unicode MS"/>
                <a:ea typeface="JetBrains Mono"/>
              </a:rPr>
              <a:t>]</a:t>
            </a:r>
            <a:br>
              <a:rPr kumimoji="0" lang="ko-KR" altLang="ko-KR" sz="9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Arial Unicode MS"/>
                <a:ea typeface="JetBrains Mono"/>
              </a:rPr>
            </a:br>
            <a:r>
              <a:rPr kumimoji="0" lang="ko-KR" altLang="ko-KR" sz="9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Arial Unicode MS"/>
                <a:ea typeface="JetBrains Mono"/>
              </a:rPr>
              <a:t>            </a:t>
            </a:r>
            <a:r>
              <a:rPr kumimoji="0" lang="ko-KR" altLang="ko-KR" sz="9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Arial Unicode MS"/>
                <a:ea typeface="JetBrains Mono"/>
              </a:rPr>
              <a:t>probability</a:t>
            </a:r>
            <a:r>
              <a:rPr kumimoji="0" lang="ko-KR" altLang="ko-KR" sz="9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Arial Unicode MS"/>
                <a:ea typeface="JetBrains Mono"/>
              </a:rPr>
              <a:t> </a:t>
            </a:r>
            <a:r>
              <a:rPr kumimoji="0" lang="ko-KR" altLang="ko-KR" sz="9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Arial Unicode MS"/>
                <a:ea typeface="JetBrains Mono"/>
              </a:rPr>
              <a:t>= </a:t>
            </a:r>
            <a:r>
              <a:rPr kumimoji="0" lang="ko-KR" altLang="ko-KR" sz="9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Arial Unicode MS"/>
                <a:ea typeface="JetBrains Mono"/>
              </a:rPr>
              <a:t>hotel_model.predict_proba</a:t>
            </a:r>
            <a:r>
              <a:rPr kumimoji="0" lang="ko-KR" altLang="ko-KR" sz="9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Arial Unicode MS"/>
                <a:ea typeface="JetBrains Mono"/>
              </a:rPr>
              <a:t>(</a:t>
            </a:r>
            <a:r>
              <a:rPr kumimoji="0" lang="ko-KR" altLang="ko-KR" sz="9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Arial Unicode MS"/>
                <a:ea typeface="JetBrains Mono"/>
              </a:rPr>
              <a:t>input_df</a:t>
            </a:r>
            <a:r>
              <a:rPr kumimoji="0" lang="ko-KR" altLang="ko-KR" sz="9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Arial Unicode MS"/>
                <a:ea typeface="JetBrains Mono"/>
              </a:rPr>
              <a:t>)[</a:t>
            </a:r>
            <a:r>
              <a:rPr kumimoji="0" lang="ko-KR" altLang="ko-KR" sz="900" b="0" i="0" u="none" strike="noStrike" cap="none" normalizeH="0" baseline="0" dirty="0">
                <a:ln>
                  <a:noFill/>
                </a:ln>
                <a:solidFill>
                  <a:srgbClr val="1750EB"/>
                </a:solidFill>
                <a:effectLst/>
                <a:latin typeface="Arial Unicode MS"/>
                <a:ea typeface="JetBrains Mono"/>
              </a:rPr>
              <a:t>0</a:t>
            </a:r>
            <a:r>
              <a:rPr kumimoji="0" lang="ko-KR" altLang="ko-KR" sz="9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Arial Unicode MS"/>
                <a:ea typeface="JetBrains Mono"/>
              </a:rPr>
              <a:t>][</a:t>
            </a:r>
            <a:r>
              <a:rPr kumimoji="0" lang="ko-KR" altLang="ko-KR" sz="900" b="0" i="0" u="none" strike="noStrike" cap="none" normalizeH="0" baseline="0" dirty="0">
                <a:ln>
                  <a:noFill/>
                </a:ln>
                <a:solidFill>
                  <a:srgbClr val="1750EB"/>
                </a:solidFill>
                <a:effectLst/>
                <a:latin typeface="Arial Unicode MS"/>
                <a:ea typeface="JetBrains Mono"/>
              </a:rPr>
              <a:t>1</a:t>
            </a:r>
            <a:r>
              <a:rPr kumimoji="0" lang="ko-KR" altLang="ko-KR" sz="9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Arial Unicode MS"/>
                <a:ea typeface="JetBrains Mono"/>
              </a:rPr>
              <a:t>]</a:t>
            </a:r>
            <a:br>
              <a:rPr kumimoji="0" lang="ko-KR" altLang="ko-KR" sz="9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Arial Unicode MS"/>
                <a:ea typeface="JetBrains Mono"/>
              </a:rPr>
            </a:br>
            <a:br>
              <a:rPr kumimoji="0" lang="ko-KR" altLang="ko-KR" sz="9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Arial Unicode MS"/>
                <a:ea typeface="JetBrains Mono"/>
              </a:rPr>
            </a:br>
            <a:r>
              <a:rPr kumimoji="0" lang="ko-KR" altLang="ko-KR" sz="9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Arial Unicode MS"/>
                <a:ea typeface="JetBrains Mono"/>
              </a:rPr>
              <a:t>        # </a:t>
            </a:r>
            <a:r>
              <a:rPr kumimoji="0" lang="ko-KR" altLang="ko-KR" sz="9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Courier New" panose="02070309020205020404" pitchFamily="49" charset="0"/>
                <a:ea typeface="JetBrains Mono"/>
                <a:cs typeface="Courier New" panose="02070309020205020404" pitchFamily="49" charset="0"/>
              </a:rPr>
              <a:t>연산 결과 최종 리턴</a:t>
            </a:r>
            <a:br>
              <a:rPr kumimoji="0" lang="ko-KR" altLang="ko-KR" sz="9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Courier New" panose="02070309020205020404" pitchFamily="49" charset="0"/>
                <a:ea typeface="JetBrains Mono"/>
                <a:cs typeface="Courier New" panose="02070309020205020404" pitchFamily="49" charset="0"/>
              </a:rPr>
            </a:br>
            <a:r>
              <a:rPr kumimoji="0" lang="ko-KR" altLang="ko-KR" sz="9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Courier New" panose="02070309020205020404" pitchFamily="49" charset="0"/>
                <a:ea typeface="JetBrains Mono"/>
                <a:cs typeface="Courier New" panose="02070309020205020404" pitchFamily="49" charset="0"/>
              </a:rPr>
              <a:t>        </a:t>
            </a:r>
            <a:r>
              <a:rPr kumimoji="0" lang="ko-KR" altLang="ko-KR" sz="9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Arial Unicode MS"/>
                <a:ea typeface="JetBrains Mono"/>
              </a:rPr>
              <a:t>cancel_prob</a:t>
            </a:r>
            <a:r>
              <a:rPr kumimoji="0" lang="ko-KR" altLang="ko-KR" sz="9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Arial Unicode MS"/>
                <a:ea typeface="JetBrains Mono"/>
              </a:rPr>
              <a:t> </a:t>
            </a:r>
            <a:r>
              <a:rPr kumimoji="0" lang="ko-KR" altLang="ko-KR" sz="9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Arial Unicode MS"/>
                <a:ea typeface="JetBrains Mono"/>
              </a:rPr>
              <a:t>= </a:t>
            </a:r>
            <a:r>
              <a:rPr kumimoji="0" lang="ko-KR" altLang="ko-KR" sz="900" b="0" i="0" u="none" strike="noStrike" cap="none" normalizeH="0" baseline="0" dirty="0" err="1">
                <a:ln>
                  <a:noFill/>
                </a:ln>
                <a:solidFill>
                  <a:srgbClr val="000080"/>
                </a:solidFill>
                <a:effectLst/>
                <a:latin typeface="Arial Unicode MS"/>
                <a:ea typeface="JetBrains Mono"/>
              </a:rPr>
              <a:t>float</a:t>
            </a:r>
            <a:r>
              <a:rPr kumimoji="0" lang="ko-KR" altLang="ko-KR" sz="9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Arial Unicode MS"/>
                <a:ea typeface="JetBrains Mono"/>
              </a:rPr>
              <a:t>(</a:t>
            </a:r>
            <a:r>
              <a:rPr kumimoji="0" lang="ko-KR" altLang="ko-KR" sz="9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Arial Unicode MS"/>
                <a:ea typeface="JetBrains Mono"/>
              </a:rPr>
              <a:t>probability</a:t>
            </a:r>
            <a:r>
              <a:rPr kumimoji="0" lang="ko-KR" altLang="ko-KR" sz="9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Arial Unicode MS"/>
                <a:ea typeface="JetBrains Mono"/>
              </a:rPr>
              <a:t>)</a:t>
            </a:r>
            <a:br>
              <a:rPr kumimoji="0" lang="ko-KR" altLang="ko-KR" sz="9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Arial Unicode MS"/>
                <a:ea typeface="JetBrains Mono"/>
              </a:rPr>
            </a:br>
            <a:r>
              <a:rPr kumimoji="0" lang="ko-KR" altLang="ko-KR" sz="9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Arial Unicode MS"/>
                <a:ea typeface="JetBrains Mono"/>
              </a:rPr>
              <a:t>        </a:t>
            </a:r>
            <a:r>
              <a:rPr kumimoji="0" lang="ko-KR" altLang="ko-KR" sz="9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Arial Unicode MS"/>
                <a:ea typeface="JetBrains Mono"/>
              </a:rPr>
              <a:t>return</a:t>
            </a:r>
            <a:r>
              <a:rPr kumimoji="0" lang="ko-KR" altLang="ko-KR" sz="9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Arial Unicode MS"/>
                <a:ea typeface="JetBrains Mono"/>
              </a:rPr>
              <a:t> </a:t>
            </a:r>
            <a:r>
              <a:rPr kumimoji="0" lang="ko-KR" altLang="ko-KR" sz="9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Arial Unicode MS"/>
                <a:ea typeface="JetBrains Mono"/>
              </a:rPr>
              <a:t>jsonify</a:t>
            </a:r>
            <a:r>
              <a:rPr kumimoji="0" lang="ko-KR" altLang="ko-KR" sz="9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Arial Unicode MS"/>
                <a:ea typeface="JetBrains Mono"/>
              </a:rPr>
              <a:t>({</a:t>
            </a:r>
            <a:br>
              <a:rPr kumimoji="0" lang="ko-KR" altLang="ko-KR" sz="9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Arial Unicode MS"/>
                <a:ea typeface="JetBrains Mono"/>
              </a:rPr>
            </a:br>
            <a:r>
              <a:rPr kumimoji="0" lang="ko-KR" altLang="ko-KR" sz="9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Arial Unicode MS"/>
                <a:ea typeface="JetBrains Mono"/>
              </a:rPr>
              <a:t>            </a:t>
            </a:r>
            <a:r>
              <a:rPr kumimoji="0" lang="ko-KR" altLang="ko-KR" sz="9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Arial Unicode MS"/>
                <a:ea typeface="JetBrains Mono"/>
              </a:rPr>
              <a:t>'</a:t>
            </a:r>
            <a:r>
              <a:rPr kumimoji="0" lang="ko-KR" altLang="ko-KR" sz="9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Arial Unicode MS"/>
                <a:ea typeface="JetBrains Mono"/>
              </a:rPr>
              <a:t>result</a:t>
            </a:r>
            <a:r>
              <a:rPr kumimoji="0" lang="ko-KR" altLang="ko-KR" sz="9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Arial Unicode MS"/>
                <a:ea typeface="JetBrains Mono"/>
              </a:rPr>
              <a:t>'</a:t>
            </a:r>
            <a:r>
              <a:rPr kumimoji="0" lang="ko-KR" altLang="ko-KR" sz="9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Arial Unicode MS"/>
                <a:ea typeface="JetBrains Mono"/>
              </a:rPr>
              <a:t>: </a:t>
            </a:r>
            <a:r>
              <a:rPr kumimoji="0" lang="ko-KR" altLang="ko-KR" sz="900" b="0" i="0" u="none" strike="noStrike" cap="none" normalizeH="0" baseline="0" dirty="0" err="1">
                <a:ln>
                  <a:noFill/>
                </a:ln>
                <a:solidFill>
                  <a:srgbClr val="000080"/>
                </a:solidFill>
                <a:effectLst/>
                <a:latin typeface="Arial Unicode MS"/>
                <a:ea typeface="JetBrains Mono"/>
              </a:rPr>
              <a:t>int</a:t>
            </a:r>
            <a:r>
              <a:rPr kumimoji="0" lang="ko-KR" altLang="ko-KR" sz="9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Arial Unicode MS"/>
                <a:ea typeface="JetBrains Mono"/>
              </a:rPr>
              <a:t>(</a:t>
            </a:r>
            <a:r>
              <a:rPr kumimoji="0" lang="ko-KR" altLang="ko-KR" sz="9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Arial Unicode MS"/>
                <a:ea typeface="JetBrains Mono"/>
              </a:rPr>
              <a:t>prediction</a:t>
            </a:r>
            <a:r>
              <a:rPr kumimoji="0" lang="ko-KR" altLang="ko-KR" sz="9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Arial Unicode MS"/>
                <a:ea typeface="JetBrains Mono"/>
              </a:rPr>
              <a:t>),</a:t>
            </a:r>
            <a:br>
              <a:rPr kumimoji="0" lang="ko-KR" altLang="ko-KR" sz="9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Arial Unicode MS"/>
                <a:ea typeface="JetBrains Mono"/>
              </a:rPr>
            </a:br>
            <a:r>
              <a:rPr kumimoji="0" lang="ko-KR" altLang="ko-KR" sz="9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Arial Unicode MS"/>
                <a:ea typeface="JetBrains Mono"/>
              </a:rPr>
              <a:t>            </a:t>
            </a:r>
            <a:r>
              <a:rPr kumimoji="0" lang="ko-KR" altLang="ko-KR" sz="9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Arial Unicode MS"/>
                <a:ea typeface="JetBrains Mono"/>
              </a:rPr>
              <a:t>'</a:t>
            </a:r>
            <a:r>
              <a:rPr kumimoji="0" lang="ko-KR" altLang="ko-KR" sz="9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Arial Unicode MS"/>
                <a:ea typeface="JetBrains Mono"/>
              </a:rPr>
              <a:t>prob</a:t>
            </a:r>
            <a:r>
              <a:rPr kumimoji="0" lang="ko-KR" altLang="ko-KR" sz="9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Arial Unicode MS"/>
                <a:ea typeface="JetBrains Mono"/>
              </a:rPr>
              <a:t>'</a:t>
            </a:r>
            <a:r>
              <a:rPr kumimoji="0" lang="ko-KR" altLang="ko-KR" sz="9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Arial Unicode MS"/>
                <a:ea typeface="JetBrains Mono"/>
              </a:rPr>
              <a:t>: </a:t>
            </a:r>
            <a:r>
              <a:rPr kumimoji="0" lang="ko-KR" altLang="ko-KR" sz="900" b="0" i="0" u="none" strike="noStrike" cap="none" normalizeH="0" baseline="0" dirty="0" err="1">
                <a:ln>
                  <a:noFill/>
                </a:ln>
                <a:solidFill>
                  <a:srgbClr val="000080"/>
                </a:solidFill>
                <a:effectLst/>
                <a:latin typeface="Arial Unicode MS"/>
                <a:ea typeface="JetBrains Mono"/>
              </a:rPr>
              <a:t>round</a:t>
            </a:r>
            <a:r>
              <a:rPr kumimoji="0" lang="ko-KR" altLang="ko-KR" sz="9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Arial Unicode MS"/>
                <a:ea typeface="JetBrains Mono"/>
              </a:rPr>
              <a:t>(</a:t>
            </a:r>
            <a:r>
              <a:rPr kumimoji="0" lang="ko-KR" altLang="ko-KR" sz="9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Arial Unicode MS"/>
                <a:ea typeface="JetBrains Mono"/>
              </a:rPr>
              <a:t>cancel_prob</a:t>
            </a:r>
            <a:r>
              <a:rPr kumimoji="0" lang="ko-KR" altLang="ko-KR" sz="9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Arial Unicode MS"/>
                <a:ea typeface="JetBrains Mono"/>
              </a:rPr>
              <a:t> </a:t>
            </a:r>
            <a:r>
              <a:rPr kumimoji="0" lang="ko-KR" altLang="ko-KR" sz="9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Arial Unicode MS"/>
                <a:ea typeface="JetBrains Mono"/>
              </a:rPr>
              <a:t>* </a:t>
            </a:r>
            <a:r>
              <a:rPr kumimoji="0" lang="ko-KR" altLang="ko-KR" sz="900" b="0" i="0" u="none" strike="noStrike" cap="none" normalizeH="0" baseline="0" dirty="0">
                <a:ln>
                  <a:noFill/>
                </a:ln>
                <a:solidFill>
                  <a:srgbClr val="1750EB"/>
                </a:solidFill>
                <a:effectLst/>
                <a:latin typeface="Arial Unicode MS"/>
                <a:ea typeface="JetBrains Mono"/>
              </a:rPr>
              <a:t>100</a:t>
            </a:r>
            <a:r>
              <a:rPr kumimoji="0" lang="ko-KR" altLang="ko-KR" sz="9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Arial Unicode MS"/>
                <a:ea typeface="JetBrains Mono"/>
              </a:rPr>
              <a:t>, </a:t>
            </a:r>
            <a:r>
              <a:rPr kumimoji="0" lang="ko-KR" altLang="ko-KR" sz="900" b="0" i="0" u="none" strike="noStrike" cap="none" normalizeH="0" baseline="0" dirty="0">
                <a:ln>
                  <a:noFill/>
                </a:ln>
                <a:solidFill>
                  <a:srgbClr val="1750EB"/>
                </a:solidFill>
                <a:effectLst/>
                <a:latin typeface="Arial Unicode MS"/>
                <a:ea typeface="JetBrains Mono"/>
              </a:rPr>
              <a:t>2</a:t>
            </a:r>
            <a:r>
              <a:rPr kumimoji="0" lang="ko-KR" altLang="ko-KR" sz="9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Arial Unicode MS"/>
                <a:ea typeface="JetBrains Mono"/>
              </a:rPr>
              <a:t>)</a:t>
            </a:r>
            <a:br>
              <a:rPr kumimoji="0" lang="ko-KR" altLang="ko-KR" sz="9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Arial Unicode MS"/>
                <a:ea typeface="JetBrains Mono"/>
              </a:rPr>
            </a:br>
            <a:r>
              <a:rPr kumimoji="0" lang="ko-KR" altLang="ko-KR" sz="9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Arial Unicode MS"/>
                <a:ea typeface="JetBrains Mono"/>
              </a:rPr>
              <a:t>        })</a:t>
            </a:r>
            <a:br>
              <a:rPr kumimoji="0" lang="ko-KR" altLang="ko-KR" sz="9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Arial Unicode MS"/>
                <a:ea typeface="JetBrains Mono"/>
              </a:rPr>
            </a:br>
            <a:br>
              <a:rPr kumimoji="0" lang="ko-KR" altLang="ko-KR" sz="9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Arial Unicode MS"/>
                <a:ea typeface="JetBrains Mono"/>
              </a:rPr>
            </a:br>
            <a:r>
              <a:rPr kumimoji="0" lang="ko-KR" altLang="ko-KR" sz="9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Arial Unicode MS"/>
                <a:ea typeface="JetBrains Mono"/>
              </a:rPr>
              <a:t>    </a:t>
            </a:r>
            <a:r>
              <a:rPr kumimoji="0" lang="ko-KR" altLang="ko-KR" sz="9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Arial Unicode MS"/>
                <a:ea typeface="JetBrains Mono"/>
              </a:rPr>
              <a:t>except</a:t>
            </a:r>
            <a:r>
              <a:rPr kumimoji="0" lang="ko-KR" altLang="ko-KR" sz="9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Arial Unicode MS"/>
                <a:ea typeface="JetBrains Mono"/>
              </a:rPr>
              <a:t> </a:t>
            </a:r>
            <a:r>
              <a:rPr kumimoji="0" lang="ko-KR" altLang="ko-KR" sz="900" b="0" i="0" u="none" strike="noStrike" cap="none" normalizeH="0" baseline="0" dirty="0" err="1">
                <a:ln>
                  <a:noFill/>
                </a:ln>
                <a:solidFill>
                  <a:srgbClr val="000080"/>
                </a:solidFill>
                <a:effectLst/>
                <a:latin typeface="Arial Unicode MS"/>
                <a:ea typeface="JetBrains Mono"/>
              </a:rPr>
              <a:t>Exception</a:t>
            </a:r>
            <a:r>
              <a:rPr kumimoji="0" lang="ko-KR" altLang="ko-KR" sz="900" b="0" i="0" u="none" strike="noStrike" cap="none" normalizeH="0" baseline="0" dirty="0">
                <a:ln>
                  <a:noFill/>
                </a:ln>
                <a:solidFill>
                  <a:srgbClr val="000080"/>
                </a:solidFill>
                <a:effectLst/>
                <a:latin typeface="Arial Unicode MS"/>
                <a:ea typeface="JetBrains Mono"/>
              </a:rPr>
              <a:t> </a:t>
            </a:r>
            <a:r>
              <a:rPr kumimoji="0" lang="ko-KR" altLang="ko-KR" sz="9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Arial Unicode MS"/>
                <a:ea typeface="JetBrains Mono"/>
              </a:rPr>
              <a:t>as</a:t>
            </a:r>
            <a:r>
              <a:rPr kumimoji="0" lang="ko-KR" altLang="ko-KR" sz="9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Arial Unicode MS"/>
                <a:ea typeface="JetBrains Mono"/>
              </a:rPr>
              <a:t> </a:t>
            </a:r>
            <a:r>
              <a:rPr kumimoji="0" lang="ko-KR" altLang="ko-KR" sz="9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Arial Unicode MS"/>
                <a:ea typeface="JetBrains Mono"/>
              </a:rPr>
              <a:t>e</a:t>
            </a:r>
            <a:r>
              <a:rPr kumimoji="0" lang="ko-KR" altLang="ko-KR" sz="9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Arial Unicode MS"/>
                <a:ea typeface="JetBrains Mono"/>
              </a:rPr>
              <a:t>:</a:t>
            </a:r>
            <a:br>
              <a:rPr kumimoji="0" lang="ko-KR" altLang="ko-KR" sz="9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Arial Unicode MS"/>
                <a:ea typeface="JetBrains Mono"/>
              </a:rPr>
            </a:br>
            <a:r>
              <a:rPr kumimoji="0" lang="ko-KR" altLang="ko-KR" sz="9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Arial Unicode MS"/>
                <a:ea typeface="JetBrains Mono"/>
              </a:rPr>
              <a:t>        </a:t>
            </a:r>
            <a:r>
              <a:rPr kumimoji="0" lang="ko-KR" altLang="ko-KR" sz="900" b="0" i="0" u="none" strike="noStrike" cap="none" normalizeH="0" baseline="0" dirty="0" err="1">
                <a:ln>
                  <a:noFill/>
                </a:ln>
                <a:solidFill>
                  <a:srgbClr val="000080"/>
                </a:solidFill>
                <a:effectLst/>
                <a:latin typeface="Arial Unicode MS"/>
                <a:ea typeface="JetBrains Mono"/>
              </a:rPr>
              <a:t>print</a:t>
            </a:r>
            <a:r>
              <a:rPr kumimoji="0" lang="ko-KR" altLang="ko-KR" sz="9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Arial Unicode MS"/>
                <a:ea typeface="JetBrains Mono"/>
              </a:rPr>
              <a:t>(</a:t>
            </a:r>
            <a:r>
              <a:rPr kumimoji="0" lang="ko-KR" altLang="ko-KR" sz="9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Arial Unicode MS"/>
                <a:ea typeface="JetBrains Mono"/>
              </a:rPr>
              <a:t>f"Error</a:t>
            </a:r>
            <a:r>
              <a:rPr kumimoji="0" lang="ko-KR" altLang="ko-KR" sz="9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Arial Unicode MS"/>
                <a:ea typeface="JetBrains Mono"/>
              </a:rPr>
              <a:t> </a:t>
            </a:r>
            <a:r>
              <a:rPr kumimoji="0" lang="ko-KR" altLang="ko-KR" sz="9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Arial Unicode MS"/>
                <a:ea typeface="JetBrains Mono"/>
              </a:rPr>
              <a:t>occurred</a:t>
            </a:r>
            <a:r>
              <a:rPr kumimoji="0" lang="ko-KR" altLang="ko-KR" sz="9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Arial Unicode MS"/>
                <a:ea typeface="JetBrains Mono"/>
              </a:rPr>
              <a:t>: </a:t>
            </a:r>
            <a:r>
              <a:rPr kumimoji="0" lang="ko-KR" altLang="ko-KR" sz="900" b="0" i="0" u="none" strike="noStrike" cap="none" normalizeH="0" baseline="0" dirty="0">
                <a:ln>
                  <a:noFill/>
                </a:ln>
                <a:solidFill>
                  <a:srgbClr val="0037A6"/>
                </a:solidFill>
                <a:effectLst/>
                <a:latin typeface="Arial Unicode MS"/>
                <a:ea typeface="JetBrains Mono"/>
              </a:rPr>
              <a:t>{</a:t>
            </a:r>
            <a:r>
              <a:rPr kumimoji="0" lang="ko-KR" altLang="ko-KR" sz="9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Arial Unicode MS"/>
                <a:ea typeface="JetBrains Mono"/>
              </a:rPr>
              <a:t>e</a:t>
            </a:r>
            <a:r>
              <a:rPr kumimoji="0" lang="ko-KR" altLang="ko-KR" sz="900" b="0" i="0" u="none" strike="noStrike" cap="none" normalizeH="0" baseline="0" dirty="0">
                <a:ln>
                  <a:noFill/>
                </a:ln>
                <a:solidFill>
                  <a:srgbClr val="0037A6"/>
                </a:solidFill>
                <a:effectLst/>
                <a:latin typeface="Arial Unicode MS"/>
                <a:ea typeface="JetBrains Mono"/>
              </a:rPr>
              <a:t>}</a:t>
            </a:r>
            <a:r>
              <a:rPr kumimoji="0" lang="ko-KR" altLang="ko-KR" sz="9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Arial Unicode MS"/>
                <a:ea typeface="JetBrains Mono"/>
              </a:rPr>
              <a:t>"</a:t>
            </a:r>
            <a:r>
              <a:rPr kumimoji="0" lang="ko-KR" altLang="ko-KR" sz="9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Arial Unicode MS"/>
                <a:ea typeface="JetBrains Mono"/>
              </a:rPr>
              <a:t>)</a:t>
            </a:r>
            <a:br>
              <a:rPr kumimoji="0" lang="ko-KR" altLang="ko-KR" sz="9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Arial Unicode MS"/>
                <a:ea typeface="JetBrains Mono"/>
              </a:rPr>
            </a:br>
            <a:r>
              <a:rPr kumimoji="0" lang="ko-KR" altLang="ko-KR" sz="9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Arial Unicode MS"/>
                <a:ea typeface="JetBrains Mono"/>
              </a:rPr>
              <a:t>        </a:t>
            </a:r>
            <a:r>
              <a:rPr kumimoji="0" lang="ko-KR" altLang="ko-KR" sz="9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Arial Unicode MS"/>
                <a:ea typeface="JetBrains Mono"/>
              </a:rPr>
              <a:t>return</a:t>
            </a:r>
            <a:r>
              <a:rPr kumimoji="0" lang="ko-KR" altLang="ko-KR" sz="9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Arial Unicode MS"/>
                <a:ea typeface="JetBrains Mono"/>
              </a:rPr>
              <a:t> </a:t>
            </a:r>
            <a:r>
              <a:rPr kumimoji="0" lang="ko-KR" altLang="ko-KR" sz="9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Arial Unicode MS"/>
                <a:ea typeface="JetBrains Mono"/>
              </a:rPr>
              <a:t>jsonify</a:t>
            </a:r>
            <a:r>
              <a:rPr kumimoji="0" lang="ko-KR" altLang="ko-KR" sz="9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Arial Unicode MS"/>
                <a:ea typeface="JetBrains Mono"/>
              </a:rPr>
              <a:t>({</a:t>
            </a:r>
            <a:r>
              <a:rPr kumimoji="0" lang="ko-KR" altLang="ko-KR" sz="9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Arial Unicode MS"/>
                <a:ea typeface="JetBrains Mono"/>
              </a:rPr>
              <a:t>'</a:t>
            </a:r>
            <a:r>
              <a:rPr kumimoji="0" lang="ko-KR" altLang="ko-KR" sz="9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Arial Unicode MS"/>
                <a:ea typeface="JetBrains Mono"/>
              </a:rPr>
              <a:t>error</a:t>
            </a:r>
            <a:r>
              <a:rPr kumimoji="0" lang="ko-KR" altLang="ko-KR" sz="9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Arial Unicode MS"/>
                <a:ea typeface="JetBrains Mono"/>
              </a:rPr>
              <a:t>'</a:t>
            </a:r>
            <a:r>
              <a:rPr kumimoji="0" lang="ko-KR" altLang="ko-KR" sz="9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Arial Unicode MS"/>
                <a:ea typeface="JetBrains Mono"/>
              </a:rPr>
              <a:t>: </a:t>
            </a:r>
            <a:r>
              <a:rPr kumimoji="0" lang="ko-KR" altLang="ko-KR" sz="900" b="0" i="0" u="none" strike="noStrike" cap="none" normalizeH="0" baseline="0" dirty="0" err="1">
                <a:ln>
                  <a:noFill/>
                </a:ln>
                <a:solidFill>
                  <a:srgbClr val="000080"/>
                </a:solidFill>
                <a:effectLst/>
                <a:latin typeface="Arial Unicode MS"/>
                <a:ea typeface="JetBrains Mono"/>
              </a:rPr>
              <a:t>str</a:t>
            </a:r>
            <a:r>
              <a:rPr kumimoji="0" lang="ko-KR" altLang="ko-KR" sz="9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Arial Unicode MS"/>
                <a:ea typeface="JetBrains Mono"/>
              </a:rPr>
              <a:t>(</a:t>
            </a:r>
            <a:r>
              <a:rPr kumimoji="0" lang="ko-KR" altLang="ko-KR" sz="9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Arial Unicode MS"/>
                <a:ea typeface="JetBrains Mono"/>
              </a:rPr>
              <a:t>e</a:t>
            </a:r>
            <a:r>
              <a:rPr kumimoji="0" lang="ko-KR" altLang="ko-KR" sz="9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Arial Unicode MS"/>
                <a:ea typeface="JetBrains Mono"/>
              </a:rPr>
              <a:t>)}), </a:t>
            </a:r>
            <a:r>
              <a:rPr kumimoji="0" lang="ko-KR" altLang="ko-KR" sz="900" b="0" i="0" u="none" strike="noStrike" cap="none" normalizeH="0" baseline="0" dirty="0">
                <a:ln>
                  <a:noFill/>
                </a:ln>
                <a:solidFill>
                  <a:srgbClr val="1750EB"/>
                </a:solidFill>
                <a:effectLst/>
                <a:latin typeface="Arial Unicode MS"/>
                <a:ea typeface="JetBrains Mono"/>
              </a:rPr>
              <a:t>400</a:t>
            </a:r>
            <a:endParaRPr kumimoji="0" lang="ko-KR" altLang="ko-K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graphicFrame>
        <p:nvGraphicFramePr>
          <p:cNvPr id="12" name="표 11">
            <a:extLst>
              <a:ext uri="{FF2B5EF4-FFF2-40B4-BE49-F238E27FC236}">
                <a16:creationId xmlns:a16="http://schemas.microsoft.com/office/drawing/2014/main" id="{D491034B-F3C3-AADC-77FB-C75FA36FC33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29461237"/>
              </p:ext>
            </p:extLst>
          </p:nvPr>
        </p:nvGraphicFramePr>
        <p:xfrm>
          <a:off x="6095999" y="1537686"/>
          <a:ext cx="5667738" cy="4301741"/>
        </p:xfrm>
        <a:graphic>
          <a:graphicData uri="http://schemas.openxmlformats.org/drawingml/2006/table">
            <a:tbl>
              <a:tblPr/>
              <a:tblGrid>
                <a:gridCol w="2833869">
                  <a:extLst>
                    <a:ext uri="{9D8B030D-6E8A-4147-A177-3AD203B41FA5}">
                      <a16:colId xmlns:a16="http://schemas.microsoft.com/office/drawing/2014/main" val="664675489"/>
                    </a:ext>
                  </a:extLst>
                </a:gridCol>
                <a:gridCol w="2833869">
                  <a:extLst>
                    <a:ext uri="{9D8B030D-6E8A-4147-A177-3AD203B41FA5}">
                      <a16:colId xmlns:a16="http://schemas.microsoft.com/office/drawing/2014/main" val="4261177871"/>
                    </a:ext>
                  </a:extLst>
                </a:gridCol>
              </a:tblGrid>
              <a:tr h="486741">
                <a:tc>
                  <a:txBody>
                    <a:bodyPr/>
                    <a:lstStyle/>
                    <a:p>
                      <a:pPr rtl="0"/>
                      <a:r>
                        <a:rPr lang="ko-KR" altLang="en-US" b="1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핵심 로직</a:t>
                      </a:r>
                      <a:endParaRPr lang="ko-KR" altLang="en-US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ko-KR" altLang="en-US" b="1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설명 </a:t>
                      </a:r>
                      <a:r>
                        <a:rPr lang="en-US" altLang="ko-KR" b="1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(</a:t>
                      </a:r>
                      <a:r>
                        <a:rPr lang="en-US" b="1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Description)</a:t>
                      </a:r>
                      <a:endParaRPr lang="en-US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87432482"/>
                  </a:ext>
                </a:extLst>
              </a:tr>
              <a:tr h="1907500">
                <a:tc>
                  <a:txBody>
                    <a:bodyPr/>
                    <a:lstStyle/>
                    <a:p>
                      <a:pPr rtl="0"/>
                      <a:r>
                        <a:rPr lang="en-US" b="1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Unseen Data </a:t>
                      </a:r>
                      <a:r>
                        <a:rPr lang="ko-KR" altLang="en-US" b="1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보정</a:t>
                      </a:r>
                      <a:endParaRPr lang="ko-KR" altLang="en-US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ko-KR" altLang="en-US" dirty="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학습 데이터에 없는 새로운 범주형 데이터 진입 시</a:t>
                      </a:r>
                      <a:r>
                        <a:rPr lang="en-US" altLang="ko-KR" dirty="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, </a:t>
                      </a:r>
                      <a:r>
                        <a:rPr lang="ko-KR" altLang="en-US" dirty="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미리 로드된 인코더의 </a:t>
                      </a:r>
                      <a:r>
                        <a:rPr lang="ko-KR" altLang="en-US" dirty="0" err="1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최빈값</a:t>
                      </a:r>
                      <a:r>
                        <a:rPr lang="en-US" altLang="ko-KR" dirty="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(classes_[0])</a:t>
                      </a:r>
                      <a:r>
                        <a:rPr lang="ko-KR" altLang="en-US" dirty="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으로 수렴시키는 방어 로직을 설계하여 런타임 에러를 방지함</a:t>
                      </a:r>
                      <a:r>
                        <a:rPr lang="en-US" altLang="ko-KR" dirty="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.</a:t>
                      </a: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01651073"/>
                  </a:ext>
                </a:extLst>
              </a:tr>
              <a:tr h="1907500">
                <a:tc>
                  <a:txBody>
                    <a:bodyPr/>
                    <a:lstStyle/>
                    <a:p>
                      <a:pPr rtl="0"/>
                      <a:r>
                        <a:rPr lang="ko-KR" altLang="en-US" b="1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실시간 추론 및 반환</a:t>
                      </a:r>
                      <a:endParaRPr lang="ko-KR" altLang="en-US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ko-KR" altLang="en-US" dirty="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전처리가 완료된 </a:t>
                      </a:r>
                      <a:r>
                        <a:rPr lang="en-US" altLang="ko-KR" dirty="0" err="1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input_df</a:t>
                      </a:r>
                      <a:r>
                        <a:rPr lang="ko-KR" altLang="en-US" dirty="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를 활용하여 </a:t>
                      </a:r>
                      <a:r>
                        <a:rPr lang="ko-KR" altLang="en-US" dirty="0" err="1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머신러닝</a:t>
                      </a:r>
                      <a:r>
                        <a:rPr lang="ko-KR" altLang="en-US" dirty="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 모델의 취소 확률</a:t>
                      </a:r>
                      <a:r>
                        <a:rPr lang="en-US" altLang="ko-KR" dirty="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(</a:t>
                      </a:r>
                      <a:r>
                        <a:rPr lang="en-US" altLang="ko-KR" dirty="0" err="1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predict_proba</a:t>
                      </a:r>
                      <a:r>
                        <a:rPr lang="en-US" altLang="ko-KR" dirty="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)</a:t>
                      </a:r>
                      <a:r>
                        <a:rPr lang="ko-KR" altLang="en-US" dirty="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을 연산하고</a:t>
                      </a:r>
                      <a:r>
                        <a:rPr lang="en-US" altLang="ko-KR" dirty="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, </a:t>
                      </a:r>
                      <a:r>
                        <a:rPr lang="ko-KR" altLang="en-US" dirty="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이를 비동기 대응용 </a:t>
                      </a:r>
                      <a:r>
                        <a:rPr lang="en-US" altLang="ko-KR" dirty="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JSON </a:t>
                      </a:r>
                      <a:r>
                        <a:rPr lang="ko-KR" altLang="en-US" dirty="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포맷으로 최종 </a:t>
                      </a:r>
                      <a:r>
                        <a:rPr lang="ko-KR" altLang="en-US" dirty="0" err="1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리턴함</a:t>
                      </a:r>
                      <a:r>
                        <a:rPr lang="en-US" altLang="ko-KR" dirty="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.</a:t>
                      </a: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05459123"/>
                  </a:ext>
                </a:extLst>
              </a:tr>
            </a:tbl>
          </a:graphicData>
        </a:graphic>
      </p:graphicFrame>
      <p:sp>
        <p:nvSpPr>
          <p:cNvPr id="13" name="제목 1">
            <a:extLst>
              <a:ext uri="{FF2B5EF4-FFF2-40B4-BE49-F238E27FC236}">
                <a16:creationId xmlns:a16="http://schemas.microsoft.com/office/drawing/2014/main" id="{653C167B-8877-C469-AA6C-4F9CEA39A9F9}"/>
              </a:ext>
            </a:extLst>
          </p:cNvPr>
          <p:cNvSpPr txBox="1">
            <a:spLocks/>
          </p:cNvSpPr>
          <p:nvPr/>
        </p:nvSpPr>
        <p:spPr>
          <a:xfrm>
            <a:off x="0" y="108000"/>
            <a:ext cx="4680000" cy="1080000"/>
          </a:xfrm>
          <a:prstGeom prst="rect">
            <a:avLst/>
          </a:prstGeom>
        </p:spPr>
        <p:txBody>
          <a:bodyPr anchor="ctr" anchorCtr="0"/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ko-KR" altLang="en-US" b="1" dirty="0">
                <a:latin typeface="Noto Sans KR" panose="020B0200000000000000" pitchFamily="50" charset="-127"/>
                <a:ea typeface="Noto Sans KR" panose="020B0200000000000000" pitchFamily="50" charset="-127"/>
              </a:rPr>
              <a:t>   </a:t>
            </a:r>
            <a:r>
              <a:rPr lang="ko-KR" altLang="en-US" sz="3200" b="1" dirty="0">
                <a:latin typeface="Noto Sans KR Black" panose="020B0200000000000000" pitchFamily="50" charset="-127"/>
                <a:ea typeface="Noto Sans KR Black" panose="020B0200000000000000" pitchFamily="50" charset="-127"/>
              </a:rPr>
              <a:t>주요 기능 및 소스코드</a:t>
            </a:r>
            <a:endParaRPr lang="ko-KR" altLang="en-US" sz="3600" dirty="0">
              <a:latin typeface="Noto Sans KR Black" panose="020B0200000000000000" pitchFamily="50" charset="-127"/>
              <a:ea typeface="Noto Sans KR Black" panose="020B0200000000000000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28755369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>
            <a:extLst>
              <a:ext uri="{FF2B5EF4-FFF2-40B4-BE49-F238E27FC236}">
                <a16:creationId xmlns:a16="http://schemas.microsoft.com/office/drawing/2014/main" id="{A1BC658B-3A71-2467-CB33-03A51800EBDC}"/>
              </a:ext>
            </a:extLst>
          </p:cNvPr>
          <p:cNvSpPr/>
          <p:nvPr/>
        </p:nvSpPr>
        <p:spPr>
          <a:xfrm>
            <a:off x="-1" y="0"/>
            <a:ext cx="12193200" cy="432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" name="사각형: 잘린 한쪽 모서리 3">
            <a:extLst>
              <a:ext uri="{FF2B5EF4-FFF2-40B4-BE49-F238E27FC236}">
                <a16:creationId xmlns:a16="http://schemas.microsoft.com/office/drawing/2014/main" id="{6C29B8CC-D569-0884-2DE9-9DFCA7850BB2}"/>
              </a:ext>
            </a:extLst>
          </p:cNvPr>
          <p:cNvSpPr/>
          <p:nvPr/>
        </p:nvSpPr>
        <p:spPr>
          <a:xfrm>
            <a:off x="0" y="324000"/>
            <a:ext cx="4320000" cy="720000"/>
          </a:xfrm>
          <a:prstGeom prst="snip1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5" name="L 도형 4">
            <a:extLst>
              <a:ext uri="{FF2B5EF4-FFF2-40B4-BE49-F238E27FC236}">
                <a16:creationId xmlns:a16="http://schemas.microsoft.com/office/drawing/2014/main" id="{4F9348AA-9546-4A2C-458A-3C5E0E7A8F87}"/>
              </a:ext>
            </a:extLst>
          </p:cNvPr>
          <p:cNvSpPr/>
          <p:nvPr/>
        </p:nvSpPr>
        <p:spPr>
          <a:xfrm rot="13500000">
            <a:off x="11340286" y="125999"/>
            <a:ext cx="180000" cy="180000"/>
          </a:xfrm>
          <a:prstGeom prst="corner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6" name="L 도형 5">
            <a:extLst>
              <a:ext uri="{FF2B5EF4-FFF2-40B4-BE49-F238E27FC236}">
                <a16:creationId xmlns:a16="http://schemas.microsoft.com/office/drawing/2014/main" id="{CD0274B5-2FBB-CCC2-3FDF-6B688797683C}"/>
              </a:ext>
            </a:extLst>
          </p:cNvPr>
          <p:cNvSpPr/>
          <p:nvPr/>
        </p:nvSpPr>
        <p:spPr>
          <a:xfrm rot="13500000">
            <a:off x="11595610" y="123995"/>
            <a:ext cx="180000" cy="180000"/>
          </a:xfrm>
          <a:prstGeom prst="corner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7" name="L 도형 6">
            <a:extLst>
              <a:ext uri="{FF2B5EF4-FFF2-40B4-BE49-F238E27FC236}">
                <a16:creationId xmlns:a16="http://schemas.microsoft.com/office/drawing/2014/main" id="{F55AB5B5-649B-F4D3-54AC-E78424F260C5}"/>
              </a:ext>
            </a:extLst>
          </p:cNvPr>
          <p:cNvSpPr/>
          <p:nvPr/>
        </p:nvSpPr>
        <p:spPr>
          <a:xfrm rot="13500000">
            <a:off x="11849405" y="126000"/>
            <a:ext cx="180000" cy="180000"/>
          </a:xfrm>
          <a:prstGeom prst="corner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1" name="제목 1">
            <a:extLst>
              <a:ext uri="{FF2B5EF4-FFF2-40B4-BE49-F238E27FC236}">
                <a16:creationId xmlns:a16="http://schemas.microsoft.com/office/drawing/2014/main" id="{67BCF6BD-0DE3-693F-558E-46D224F3BF53}"/>
              </a:ext>
            </a:extLst>
          </p:cNvPr>
          <p:cNvSpPr txBox="1">
            <a:spLocks/>
          </p:cNvSpPr>
          <p:nvPr/>
        </p:nvSpPr>
        <p:spPr>
          <a:xfrm>
            <a:off x="0" y="108000"/>
            <a:ext cx="4320000" cy="1080000"/>
          </a:xfrm>
          <a:prstGeom prst="rect">
            <a:avLst/>
          </a:prstGeom>
        </p:spPr>
        <p:txBody>
          <a:bodyPr anchor="ctr" anchorCtr="0"/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ko-KR" altLang="en-US" b="1" dirty="0">
                <a:latin typeface="Noto Sans KR" panose="020B0200000000000000" pitchFamily="50" charset="-127"/>
                <a:ea typeface="Noto Sans KR" panose="020B0200000000000000" pitchFamily="50" charset="-127"/>
              </a:rPr>
              <a:t>   </a:t>
            </a:r>
            <a:r>
              <a:rPr lang="ko-KR" altLang="en-US" sz="3200" b="1" dirty="0">
                <a:latin typeface="Noto Sans KR Black" panose="020B0200000000000000" pitchFamily="50" charset="-127"/>
                <a:ea typeface="Noto Sans KR Black" panose="020B0200000000000000" pitchFamily="50" charset="-127"/>
              </a:rPr>
              <a:t>소프트웨어 아키텍처</a:t>
            </a:r>
            <a:endParaRPr lang="ko-KR" altLang="en-US" sz="3600" dirty="0">
              <a:latin typeface="Noto Sans KR Black" panose="020B0200000000000000" pitchFamily="50" charset="-127"/>
              <a:ea typeface="Noto Sans KR Black" panose="020B0200000000000000" pitchFamily="50" charset="-127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63F8DEAC-3D34-2FB1-2E9B-9D960055F93C}"/>
              </a:ext>
            </a:extLst>
          </p:cNvPr>
          <p:cNvSpPr>
            <a:spLocks noChangeArrowheads="1"/>
          </p:cNvSpPr>
          <p:nvPr/>
        </p:nvSpPr>
        <p:spPr bwMode="auto">
          <a:xfrm>
            <a:off x="604995" y="3834702"/>
            <a:ext cx="5101624" cy="3693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ko-KR" altLang="ko-K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14" name="그림 13">
            <a:extLst>
              <a:ext uri="{FF2B5EF4-FFF2-40B4-BE49-F238E27FC236}">
                <a16:creationId xmlns:a16="http://schemas.microsoft.com/office/drawing/2014/main" id="{F0E15C9F-5269-B795-B45B-B8B84F19FE1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5544" y="1720435"/>
            <a:ext cx="6550952" cy="22584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247358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>
            <a:extLst>
              <a:ext uri="{FF2B5EF4-FFF2-40B4-BE49-F238E27FC236}">
                <a16:creationId xmlns:a16="http://schemas.microsoft.com/office/drawing/2014/main" id="{A1BC658B-3A71-2467-CB33-03A51800EBDC}"/>
              </a:ext>
            </a:extLst>
          </p:cNvPr>
          <p:cNvSpPr/>
          <p:nvPr/>
        </p:nvSpPr>
        <p:spPr>
          <a:xfrm>
            <a:off x="-1" y="0"/>
            <a:ext cx="12193200" cy="432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" name="사각형: 잘린 한쪽 모서리 3">
            <a:extLst>
              <a:ext uri="{FF2B5EF4-FFF2-40B4-BE49-F238E27FC236}">
                <a16:creationId xmlns:a16="http://schemas.microsoft.com/office/drawing/2014/main" id="{6C29B8CC-D569-0884-2DE9-9DFCA7850BB2}"/>
              </a:ext>
            </a:extLst>
          </p:cNvPr>
          <p:cNvSpPr/>
          <p:nvPr/>
        </p:nvSpPr>
        <p:spPr>
          <a:xfrm>
            <a:off x="0" y="324000"/>
            <a:ext cx="4320000" cy="720000"/>
          </a:xfrm>
          <a:prstGeom prst="snip1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5" name="L 도형 4">
            <a:extLst>
              <a:ext uri="{FF2B5EF4-FFF2-40B4-BE49-F238E27FC236}">
                <a16:creationId xmlns:a16="http://schemas.microsoft.com/office/drawing/2014/main" id="{4F9348AA-9546-4A2C-458A-3C5E0E7A8F87}"/>
              </a:ext>
            </a:extLst>
          </p:cNvPr>
          <p:cNvSpPr/>
          <p:nvPr/>
        </p:nvSpPr>
        <p:spPr>
          <a:xfrm rot="13500000">
            <a:off x="11340286" y="125999"/>
            <a:ext cx="180000" cy="180000"/>
          </a:xfrm>
          <a:prstGeom prst="corner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6" name="L 도형 5">
            <a:extLst>
              <a:ext uri="{FF2B5EF4-FFF2-40B4-BE49-F238E27FC236}">
                <a16:creationId xmlns:a16="http://schemas.microsoft.com/office/drawing/2014/main" id="{CD0274B5-2FBB-CCC2-3FDF-6B688797683C}"/>
              </a:ext>
            </a:extLst>
          </p:cNvPr>
          <p:cNvSpPr/>
          <p:nvPr/>
        </p:nvSpPr>
        <p:spPr>
          <a:xfrm rot="13500000">
            <a:off x="11595610" y="123995"/>
            <a:ext cx="180000" cy="180000"/>
          </a:xfrm>
          <a:prstGeom prst="corner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7" name="L 도형 6">
            <a:extLst>
              <a:ext uri="{FF2B5EF4-FFF2-40B4-BE49-F238E27FC236}">
                <a16:creationId xmlns:a16="http://schemas.microsoft.com/office/drawing/2014/main" id="{F55AB5B5-649B-F4D3-54AC-E78424F260C5}"/>
              </a:ext>
            </a:extLst>
          </p:cNvPr>
          <p:cNvSpPr/>
          <p:nvPr/>
        </p:nvSpPr>
        <p:spPr>
          <a:xfrm rot="13500000">
            <a:off x="11849405" y="126000"/>
            <a:ext cx="180000" cy="180000"/>
          </a:xfrm>
          <a:prstGeom prst="corner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63F8DEAC-3D34-2FB1-2E9B-9D960055F93C}"/>
              </a:ext>
            </a:extLst>
          </p:cNvPr>
          <p:cNvSpPr>
            <a:spLocks noChangeArrowheads="1"/>
          </p:cNvSpPr>
          <p:nvPr/>
        </p:nvSpPr>
        <p:spPr bwMode="auto">
          <a:xfrm>
            <a:off x="604995" y="3834702"/>
            <a:ext cx="5101624" cy="3693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ko-KR" altLang="ko-K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graphicFrame>
        <p:nvGraphicFramePr>
          <p:cNvPr id="8" name="표 7">
            <a:extLst>
              <a:ext uri="{FF2B5EF4-FFF2-40B4-BE49-F238E27FC236}">
                <a16:creationId xmlns:a16="http://schemas.microsoft.com/office/drawing/2014/main" id="{2F5553F0-CA77-7EE1-3E80-ED65CBF51B1B}"/>
              </a:ext>
            </a:extLst>
          </p:cNvPr>
          <p:cNvGraphicFramePr>
            <a:graphicFrameLocks noGrp="1"/>
          </p:cNvGraphicFramePr>
          <p:nvPr/>
        </p:nvGraphicFramePr>
        <p:xfrm>
          <a:off x="1894848" y="1825625"/>
          <a:ext cx="8402304" cy="4351338"/>
        </p:xfrm>
        <a:graphic>
          <a:graphicData uri="http://schemas.openxmlformats.org/drawingml/2006/table">
            <a:tbl>
              <a:tblPr/>
              <a:tblGrid>
                <a:gridCol w="4201152">
                  <a:extLst>
                    <a:ext uri="{9D8B030D-6E8A-4147-A177-3AD203B41FA5}">
                      <a16:colId xmlns:a16="http://schemas.microsoft.com/office/drawing/2014/main" val="526923904"/>
                    </a:ext>
                  </a:extLst>
                </a:gridCol>
                <a:gridCol w="4201152">
                  <a:extLst>
                    <a:ext uri="{9D8B030D-6E8A-4147-A177-3AD203B41FA5}">
                      <a16:colId xmlns:a16="http://schemas.microsoft.com/office/drawing/2014/main" val="2285719162"/>
                    </a:ext>
                  </a:extLst>
                </a:gridCol>
              </a:tblGrid>
              <a:tr h="300372">
                <a:tc>
                  <a:txBody>
                    <a:bodyPr/>
                    <a:lstStyle/>
                    <a:p>
                      <a:pPr rtl="0"/>
                      <a:r>
                        <a:rPr lang="ko-KR" altLang="en-US" sz="1400" b="1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항목</a:t>
                      </a:r>
                      <a:endParaRPr lang="ko-KR" altLang="en-US" sz="14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60886" marR="60886" marT="40591" marB="40591" anchor="ctr">
                    <a:lnL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ko-KR" altLang="en-US" sz="1400" b="1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핵심 설명 </a:t>
                      </a:r>
                      <a:r>
                        <a:rPr lang="en-US" altLang="ko-KR" sz="1400" b="1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(</a:t>
                      </a:r>
                      <a:r>
                        <a:rPr lang="en-US" sz="1400" b="1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Description)</a:t>
                      </a:r>
                      <a:endParaRPr lang="en-US" sz="14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60886" marR="60886" marT="40591" marB="40591" anchor="ctr">
                    <a:lnL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37455200"/>
                  </a:ext>
                </a:extLst>
              </a:tr>
              <a:tr h="957944">
                <a:tc>
                  <a:txBody>
                    <a:bodyPr/>
                    <a:lstStyle/>
                    <a:p>
                      <a:pPr rtl="0"/>
                      <a:r>
                        <a:rPr lang="ko-KR" altLang="en-US" sz="1400" b="1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비동기 데이터 레이어 분리</a:t>
                      </a:r>
                      <a:endParaRPr lang="ko-KR" altLang="en-US" sz="14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60886" marR="60886" marT="40591" marB="40591" anchor="ctr">
                    <a:lnL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ko-KR" altLang="en-US" sz="140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브라우저 새로고침 없이 실시간으로 </a:t>
                      </a:r>
                      <a:r>
                        <a:rPr lang="en-US" altLang="ko-KR" sz="140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AI </a:t>
                      </a:r>
                      <a:r>
                        <a:rPr lang="ko-KR" altLang="en-US" sz="140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분석 결과를 갱신하기 위해</a:t>
                      </a:r>
                      <a:r>
                        <a:rPr lang="en-US" altLang="ko-KR" sz="140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, </a:t>
                      </a:r>
                      <a:r>
                        <a:rPr lang="ko-KR" altLang="en-US" sz="140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화면 라우팅과 데이터 연동 </a:t>
                      </a:r>
                      <a:r>
                        <a:rPr lang="en-US" altLang="ko-KR" sz="140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API </a:t>
                      </a:r>
                      <a:r>
                        <a:rPr lang="ko-KR" altLang="en-US" sz="140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영역</a:t>
                      </a:r>
                      <a:r>
                        <a:rPr lang="en-US" altLang="ko-KR" sz="140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(/api/...)</a:t>
                      </a:r>
                      <a:r>
                        <a:rPr lang="ko-KR" altLang="en-US" sz="140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을 철저히 분리한 </a:t>
                      </a:r>
                      <a:r>
                        <a:rPr lang="en-US" altLang="ko-KR" sz="1400" b="1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RESTful </a:t>
                      </a:r>
                      <a:r>
                        <a:rPr lang="ko-KR" altLang="en-US" sz="1400" b="1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기반 아키텍처</a:t>
                      </a:r>
                      <a:r>
                        <a:rPr lang="ko-KR" altLang="en-US" sz="140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 설계</a:t>
                      </a:r>
                      <a:r>
                        <a:rPr lang="en-US" altLang="ko-KR" sz="140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.</a:t>
                      </a:r>
                    </a:p>
                  </a:txBody>
                  <a:tcPr marL="60886" marR="60886" marT="40591" marB="40591" anchor="ctr">
                    <a:lnL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12854658"/>
                  </a:ext>
                </a:extLst>
              </a:tr>
              <a:tr h="1177134">
                <a:tc>
                  <a:txBody>
                    <a:bodyPr/>
                    <a:lstStyle/>
                    <a:p>
                      <a:pPr rtl="0"/>
                      <a:r>
                        <a:rPr lang="ko-KR" altLang="en-US" sz="1400" b="1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백엔드 중심 가벼운 클라이언트</a:t>
                      </a:r>
                      <a:endParaRPr lang="ko-KR" altLang="en-US" sz="14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60886" marR="60886" marT="40591" marB="40591" anchor="ctr">
                    <a:lnL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ko-KR" altLang="en-US" sz="140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프론트엔드는 </a:t>
                      </a:r>
                      <a:r>
                        <a:rPr lang="en-US" altLang="ko-KR" sz="140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UI </a:t>
                      </a:r>
                      <a:r>
                        <a:rPr lang="ko-KR" altLang="en-US" sz="140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렌더링과 사용자 입력 수집만 담당하고</a:t>
                      </a:r>
                      <a:r>
                        <a:rPr lang="en-US" altLang="ko-KR" sz="140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, </a:t>
                      </a:r>
                      <a:r>
                        <a:rPr lang="ko-KR" altLang="en-US" sz="140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복잡한 데이터 전처리</a:t>
                      </a:r>
                      <a:r>
                        <a:rPr lang="en-US" altLang="ko-KR" sz="140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(Data Mapping) </a:t>
                      </a:r>
                      <a:r>
                        <a:rPr lang="ko-KR" altLang="en-US" sz="140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및 머신러닝 추론 연산은 **</a:t>
                      </a:r>
                      <a:r>
                        <a:rPr lang="en-US" altLang="ko-KR" sz="140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Flask </a:t>
                      </a:r>
                      <a:r>
                        <a:rPr lang="ko-KR" altLang="en-US" sz="140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백엔드 서버에 집중</a:t>
                      </a:r>
                      <a:r>
                        <a:rPr lang="en-US" altLang="ko-KR" sz="140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(Thick Server - Thin Client)**</a:t>
                      </a:r>
                      <a:r>
                        <a:rPr lang="ko-KR" altLang="en-US" sz="140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시켜 보안성과 성능을 최적화함</a:t>
                      </a:r>
                      <a:r>
                        <a:rPr lang="en-US" altLang="ko-KR" sz="140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.</a:t>
                      </a:r>
                    </a:p>
                  </a:txBody>
                  <a:tcPr marL="60886" marR="60886" marT="40591" marB="40591" anchor="ctr">
                    <a:lnL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12285274"/>
                  </a:ext>
                </a:extLst>
              </a:tr>
              <a:tr h="957944">
                <a:tc>
                  <a:txBody>
                    <a:bodyPr/>
                    <a:lstStyle/>
                    <a:p>
                      <a:pPr rtl="0"/>
                      <a:r>
                        <a:rPr lang="en-US" altLang="ko-KR" sz="1400" b="1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ML </a:t>
                      </a:r>
                      <a:r>
                        <a:rPr lang="ko-KR" altLang="en-US" sz="1400" b="1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파이프라인 직렬화 연동</a:t>
                      </a:r>
                      <a:endParaRPr lang="ko-KR" altLang="en-US" sz="14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60886" marR="60886" marT="40591" marB="40591" anchor="ctr">
                    <a:lnL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ko-KR" altLang="en-US" sz="140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학습이 완료된 </a:t>
                      </a:r>
                      <a:r>
                        <a:rPr lang="en-US" altLang="ko-KR" sz="140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Scikit-learn </a:t>
                      </a:r>
                      <a:r>
                        <a:rPr lang="ko-KR" altLang="en-US" sz="140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모델과 </a:t>
                      </a:r>
                      <a:r>
                        <a:rPr lang="en-US" altLang="ko-KR" sz="140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LabelEncoder </a:t>
                      </a:r>
                      <a:r>
                        <a:rPr lang="ko-KR" altLang="en-US" sz="140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객체를 </a:t>
                      </a:r>
                      <a:r>
                        <a:rPr lang="en-US" altLang="ko-KR" sz="140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joblib </a:t>
                      </a:r>
                      <a:r>
                        <a:rPr lang="ko-KR" altLang="en-US" sz="140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파일</a:t>
                      </a:r>
                      <a:r>
                        <a:rPr lang="en-US" altLang="ko-KR" sz="140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(pkl) </a:t>
                      </a:r>
                      <a:r>
                        <a:rPr lang="ko-KR" altLang="en-US" sz="140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형태로 직렬화하여 백엔드 구동 즉시 메모리에 로드</a:t>
                      </a:r>
                      <a:r>
                        <a:rPr lang="en-US" altLang="ko-KR" sz="140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, </a:t>
                      </a:r>
                      <a:r>
                        <a:rPr lang="ko-KR" altLang="en-US" sz="1400" b="1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실시간 비동기 추론 요청에 </a:t>
                      </a:r>
                      <a:r>
                        <a:rPr lang="en-US" altLang="ko-KR" sz="1400" b="1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1</a:t>
                      </a:r>
                      <a:r>
                        <a:rPr lang="ko-KR" altLang="en-US" sz="1400" b="1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초 미만으로 즉각 응답</a:t>
                      </a:r>
                      <a:r>
                        <a:rPr lang="ko-KR" altLang="en-US" sz="140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하는 파이프라인 구축</a:t>
                      </a:r>
                      <a:r>
                        <a:rPr lang="en-US" altLang="ko-KR" sz="140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.</a:t>
                      </a:r>
                    </a:p>
                  </a:txBody>
                  <a:tcPr marL="60886" marR="60886" marT="40591" marB="40591" anchor="ctr">
                    <a:lnL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46675393"/>
                  </a:ext>
                </a:extLst>
              </a:tr>
              <a:tr h="957944">
                <a:tc>
                  <a:txBody>
                    <a:bodyPr/>
                    <a:lstStyle/>
                    <a:p>
                      <a:pPr rtl="0"/>
                      <a:r>
                        <a:rPr lang="en-US" altLang="ko-KR" sz="1400" b="1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DB </a:t>
                      </a:r>
                      <a:r>
                        <a:rPr lang="ko-KR" altLang="en-US" sz="1400" b="1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트리거 기반 무결성 보장</a:t>
                      </a:r>
                      <a:endParaRPr lang="ko-KR" altLang="en-US" sz="14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60886" marR="60886" marT="40591" marB="40591" anchor="ctr">
                    <a:lnL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ko-KR" altLang="en-US" sz="1400" dirty="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웹 서버의 부담을 줄이기 위해 오라클 데이터베이스 내부에 </a:t>
                      </a:r>
                      <a:r>
                        <a:rPr lang="en-US" altLang="ko-KR" sz="1400" dirty="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SEQUENCE</a:t>
                      </a:r>
                      <a:r>
                        <a:rPr lang="ko-KR" altLang="en-US" sz="1400" dirty="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와 </a:t>
                      </a:r>
                      <a:r>
                        <a:rPr lang="en-US" altLang="ko-KR" sz="1400" dirty="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BEFORE INSERT TRIGGER</a:t>
                      </a:r>
                      <a:r>
                        <a:rPr lang="ko-KR" altLang="en-US" sz="1400" dirty="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를 구축하여</a:t>
                      </a:r>
                      <a:r>
                        <a:rPr lang="en-US" altLang="ko-KR" sz="1400" dirty="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, </a:t>
                      </a:r>
                      <a:r>
                        <a:rPr lang="ko-KR" altLang="en-US" sz="1400" b="1" dirty="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데이터 적재 시 고유 식별자</a:t>
                      </a:r>
                      <a:r>
                        <a:rPr lang="en-US" altLang="ko-KR" sz="1400" b="1" dirty="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(PK) </a:t>
                      </a:r>
                      <a:r>
                        <a:rPr lang="ko-KR" altLang="en-US" sz="1400" b="1" dirty="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생성을 데이터베이스 엔진 단에서 원천 자동화</a:t>
                      </a:r>
                      <a:r>
                        <a:rPr lang="en-US" altLang="ko-KR" sz="1400" b="1" dirty="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.</a:t>
                      </a:r>
                      <a:endParaRPr lang="ko-KR" altLang="en-US" sz="1400" dirty="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60886" marR="60886" marT="40591" marB="40591" anchor="ctr">
                    <a:lnL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72991878"/>
                  </a:ext>
                </a:extLst>
              </a:tr>
            </a:tbl>
          </a:graphicData>
        </a:graphic>
      </p:graphicFrame>
      <p:sp>
        <p:nvSpPr>
          <p:cNvPr id="12" name="제목 1">
            <a:extLst>
              <a:ext uri="{FF2B5EF4-FFF2-40B4-BE49-F238E27FC236}">
                <a16:creationId xmlns:a16="http://schemas.microsoft.com/office/drawing/2014/main" id="{C8E41912-7045-BF4A-DBB8-BD4595D441E6}"/>
              </a:ext>
            </a:extLst>
          </p:cNvPr>
          <p:cNvSpPr txBox="1">
            <a:spLocks/>
          </p:cNvSpPr>
          <p:nvPr/>
        </p:nvSpPr>
        <p:spPr>
          <a:xfrm>
            <a:off x="0" y="108000"/>
            <a:ext cx="4320000" cy="1080000"/>
          </a:xfrm>
          <a:prstGeom prst="rect">
            <a:avLst/>
          </a:prstGeom>
        </p:spPr>
        <p:txBody>
          <a:bodyPr anchor="ctr" anchorCtr="0"/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ko-KR" altLang="en-US" b="1" dirty="0">
                <a:latin typeface="Noto Sans KR" panose="020B0200000000000000" pitchFamily="50" charset="-127"/>
                <a:ea typeface="Noto Sans KR" panose="020B0200000000000000" pitchFamily="50" charset="-127"/>
              </a:rPr>
              <a:t>   </a:t>
            </a:r>
            <a:r>
              <a:rPr lang="ko-KR" altLang="en-US" sz="3200" b="1" dirty="0">
                <a:latin typeface="Noto Sans KR Black" panose="020B0200000000000000" pitchFamily="50" charset="-127"/>
                <a:ea typeface="Noto Sans KR Black" panose="020B0200000000000000" pitchFamily="50" charset="-127"/>
              </a:rPr>
              <a:t>소프트웨어 아키텍처</a:t>
            </a:r>
            <a:endParaRPr lang="ko-KR" altLang="en-US" sz="3600" dirty="0">
              <a:latin typeface="Noto Sans KR Black" panose="020B0200000000000000" pitchFamily="50" charset="-127"/>
              <a:ea typeface="Noto Sans KR Black" panose="020B0200000000000000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0937204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>
            <a:extLst>
              <a:ext uri="{FF2B5EF4-FFF2-40B4-BE49-F238E27FC236}">
                <a16:creationId xmlns:a16="http://schemas.microsoft.com/office/drawing/2014/main" id="{A1BC658B-3A71-2467-CB33-03A51800EBDC}"/>
              </a:ext>
            </a:extLst>
          </p:cNvPr>
          <p:cNvSpPr/>
          <p:nvPr/>
        </p:nvSpPr>
        <p:spPr>
          <a:xfrm>
            <a:off x="-1" y="0"/>
            <a:ext cx="12193200" cy="432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" name="사각형: 잘린 한쪽 모서리 3">
            <a:extLst>
              <a:ext uri="{FF2B5EF4-FFF2-40B4-BE49-F238E27FC236}">
                <a16:creationId xmlns:a16="http://schemas.microsoft.com/office/drawing/2014/main" id="{6C29B8CC-D569-0884-2DE9-9DFCA7850BB2}"/>
              </a:ext>
            </a:extLst>
          </p:cNvPr>
          <p:cNvSpPr/>
          <p:nvPr/>
        </p:nvSpPr>
        <p:spPr>
          <a:xfrm>
            <a:off x="0" y="324000"/>
            <a:ext cx="3240000" cy="720000"/>
          </a:xfrm>
          <a:prstGeom prst="snip1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5" name="L 도형 4">
            <a:extLst>
              <a:ext uri="{FF2B5EF4-FFF2-40B4-BE49-F238E27FC236}">
                <a16:creationId xmlns:a16="http://schemas.microsoft.com/office/drawing/2014/main" id="{4F9348AA-9546-4A2C-458A-3C5E0E7A8F87}"/>
              </a:ext>
            </a:extLst>
          </p:cNvPr>
          <p:cNvSpPr/>
          <p:nvPr/>
        </p:nvSpPr>
        <p:spPr>
          <a:xfrm rot="13500000">
            <a:off x="11340286" y="125999"/>
            <a:ext cx="180000" cy="180000"/>
          </a:xfrm>
          <a:prstGeom prst="corner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6" name="L 도형 5">
            <a:extLst>
              <a:ext uri="{FF2B5EF4-FFF2-40B4-BE49-F238E27FC236}">
                <a16:creationId xmlns:a16="http://schemas.microsoft.com/office/drawing/2014/main" id="{CD0274B5-2FBB-CCC2-3FDF-6B688797683C}"/>
              </a:ext>
            </a:extLst>
          </p:cNvPr>
          <p:cNvSpPr/>
          <p:nvPr/>
        </p:nvSpPr>
        <p:spPr>
          <a:xfrm rot="13500000">
            <a:off x="11595610" y="123995"/>
            <a:ext cx="180000" cy="180000"/>
          </a:xfrm>
          <a:prstGeom prst="corner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7" name="L 도형 6">
            <a:extLst>
              <a:ext uri="{FF2B5EF4-FFF2-40B4-BE49-F238E27FC236}">
                <a16:creationId xmlns:a16="http://schemas.microsoft.com/office/drawing/2014/main" id="{F55AB5B5-649B-F4D3-54AC-E78424F260C5}"/>
              </a:ext>
            </a:extLst>
          </p:cNvPr>
          <p:cNvSpPr/>
          <p:nvPr/>
        </p:nvSpPr>
        <p:spPr>
          <a:xfrm rot="13500000">
            <a:off x="11849405" y="126000"/>
            <a:ext cx="180000" cy="180000"/>
          </a:xfrm>
          <a:prstGeom prst="corner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63F8DEAC-3D34-2FB1-2E9B-9D960055F93C}"/>
              </a:ext>
            </a:extLst>
          </p:cNvPr>
          <p:cNvSpPr>
            <a:spLocks noChangeArrowheads="1"/>
          </p:cNvSpPr>
          <p:nvPr/>
        </p:nvSpPr>
        <p:spPr bwMode="auto">
          <a:xfrm>
            <a:off x="604995" y="3834702"/>
            <a:ext cx="5101624" cy="3693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ko-KR" altLang="ko-K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2" name="제목 1">
            <a:extLst>
              <a:ext uri="{FF2B5EF4-FFF2-40B4-BE49-F238E27FC236}">
                <a16:creationId xmlns:a16="http://schemas.microsoft.com/office/drawing/2014/main" id="{A8A3AE65-ADFD-505A-E1CB-1E2B4767E9A4}"/>
              </a:ext>
            </a:extLst>
          </p:cNvPr>
          <p:cNvSpPr txBox="1">
            <a:spLocks/>
          </p:cNvSpPr>
          <p:nvPr/>
        </p:nvSpPr>
        <p:spPr>
          <a:xfrm>
            <a:off x="0" y="108000"/>
            <a:ext cx="4320000" cy="1080000"/>
          </a:xfrm>
          <a:prstGeom prst="rect">
            <a:avLst/>
          </a:prstGeom>
        </p:spPr>
        <p:txBody>
          <a:bodyPr anchor="ctr" anchorCtr="0"/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ko-KR" altLang="en-US" b="1" dirty="0">
                <a:latin typeface="Noto Sans KR" panose="020B0200000000000000" pitchFamily="50" charset="-127"/>
                <a:ea typeface="Noto Sans KR" panose="020B0200000000000000" pitchFamily="50" charset="-127"/>
              </a:rPr>
              <a:t>   </a:t>
            </a:r>
            <a:r>
              <a:rPr lang="ko-KR" altLang="en-US" sz="3200" b="1" dirty="0">
                <a:latin typeface="Noto Sans KR Black" panose="020B0200000000000000" pitchFamily="50" charset="-127"/>
                <a:ea typeface="Noto Sans KR Black" panose="020B0200000000000000" pitchFamily="50" charset="-127"/>
              </a:rPr>
              <a:t>향후 개발 계획</a:t>
            </a:r>
            <a:endParaRPr lang="ko-KR" altLang="en-US" sz="3600" dirty="0">
              <a:latin typeface="Noto Sans KR Black" panose="020B0200000000000000" pitchFamily="50" charset="-127"/>
              <a:ea typeface="Noto Sans KR Black" panose="020B0200000000000000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72827899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>
            <a:extLst>
              <a:ext uri="{FF2B5EF4-FFF2-40B4-BE49-F238E27FC236}">
                <a16:creationId xmlns:a16="http://schemas.microsoft.com/office/drawing/2014/main" id="{A1BC658B-3A71-2467-CB33-03A51800EBDC}"/>
              </a:ext>
            </a:extLst>
          </p:cNvPr>
          <p:cNvSpPr/>
          <p:nvPr/>
        </p:nvSpPr>
        <p:spPr>
          <a:xfrm>
            <a:off x="-1" y="0"/>
            <a:ext cx="12193200" cy="432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" name="사각형: 잘린 한쪽 모서리 3">
            <a:extLst>
              <a:ext uri="{FF2B5EF4-FFF2-40B4-BE49-F238E27FC236}">
                <a16:creationId xmlns:a16="http://schemas.microsoft.com/office/drawing/2014/main" id="{6C29B8CC-D569-0884-2DE9-9DFCA7850BB2}"/>
              </a:ext>
            </a:extLst>
          </p:cNvPr>
          <p:cNvSpPr/>
          <p:nvPr/>
        </p:nvSpPr>
        <p:spPr>
          <a:xfrm>
            <a:off x="0" y="324000"/>
            <a:ext cx="3960000" cy="720000"/>
          </a:xfrm>
          <a:prstGeom prst="snip1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5" name="L 도형 4">
            <a:extLst>
              <a:ext uri="{FF2B5EF4-FFF2-40B4-BE49-F238E27FC236}">
                <a16:creationId xmlns:a16="http://schemas.microsoft.com/office/drawing/2014/main" id="{4F9348AA-9546-4A2C-458A-3C5E0E7A8F87}"/>
              </a:ext>
            </a:extLst>
          </p:cNvPr>
          <p:cNvSpPr/>
          <p:nvPr/>
        </p:nvSpPr>
        <p:spPr>
          <a:xfrm rot="13500000">
            <a:off x="11340286" y="125999"/>
            <a:ext cx="180000" cy="180000"/>
          </a:xfrm>
          <a:prstGeom prst="corner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6" name="L 도형 5">
            <a:extLst>
              <a:ext uri="{FF2B5EF4-FFF2-40B4-BE49-F238E27FC236}">
                <a16:creationId xmlns:a16="http://schemas.microsoft.com/office/drawing/2014/main" id="{CD0274B5-2FBB-CCC2-3FDF-6B688797683C}"/>
              </a:ext>
            </a:extLst>
          </p:cNvPr>
          <p:cNvSpPr/>
          <p:nvPr/>
        </p:nvSpPr>
        <p:spPr>
          <a:xfrm rot="13500000">
            <a:off x="11595610" y="123995"/>
            <a:ext cx="180000" cy="180000"/>
          </a:xfrm>
          <a:prstGeom prst="corner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7" name="L 도형 6">
            <a:extLst>
              <a:ext uri="{FF2B5EF4-FFF2-40B4-BE49-F238E27FC236}">
                <a16:creationId xmlns:a16="http://schemas.microsoft.com/office/drawing/2014/main" id="{F55AB5B5-649B-F4D3-54AC-E78424F260C5}"/>
              </a:ext>
            </a:extLst>
          </p:cNvPr>
          <p:cNvSpPr/>
          <p:nvPr/>
        </p:nvSpPr>
        <p:spPr>
          <a:xfrm rot="13500000">
            <a:off x="11849405" y="126000"/>
            <a:ext cx="180000" cy="180000"/>
          </a:xfrm>
          <a:prstGeom prst="corner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63F8DEAC-3D34-2FB1-2E9B-9D960055F93C}"/>
              </a:ext>
            </a:extLst>
          </p:cNvPr>
          <p:cNvSpPr>
            <a:spLocks noChangeArrowheads="1"/>
          </p:cNvSpPr>
          <p:nvPr/>
        </p:nvSpPr>
        <p:spPr bwMode="auto">
          <a:xfrm>
            <a:off x="604995" y="3834702"/>
            <a:ext cx="5101624" cy="3693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ko-KR" altLang="ko-K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8" name="제목 1">
            <a:extLst>
              <a:ext uri="{FF2B5EF4-FFF2-40B4-BE49-F238E27FC236}">
                <a16:creationId xmlns:a16="http://schemas.microsoft.com/office/drawing/2014/main" id="{598E7038-279C-D8C1-1009-3E188191B79F}"/>
              </a:ext>
            </a:extLst>
          </p:cNvPr>
          <p:cNvSpPr txBox="1">
            <a:spLocks/>
          </p:cNvSpPr>
          <p:nvPr/>
        </p:nvSpPr>
        <p:spPr>
          <a:xfrm>
            <a:off x="0" y="108000"/>
            <a:ext cx="4320000" cy="1080000"/>
          </a:xfrm>
          <a:prstGeom prst="rect">
            <a:avLst/>
          </a:prstGeom>
        </p:spPr>
        <p:txBody>
          <a:bodyPr anchor="ctr" anchorCtr="0"/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ko-KR" altLang="en-US" b="1" dirty="0">
                <a:latin typeface="Noto Sans KR" panose="020B0200000000000000" pitchFamily="50" charset="-127"/>
                <a:ea typeface="Noto Sans KR" panose="020B0200000000000000" pitchFamily="50" charset="-127"/>
              </a:rPr>
              <a:t>   </a:t>
            </a:r>
            <a:r>
              <a:rPr lang="ko-KR" altLang="en-US" sz="3200" b="1" dirty="0">
                <a:latin typeface="Noto Sans KR Black" panose="020B0200000000000000" pitchFamily="50" charset="-127"/>
                <a:ea typeface="Noto Sans KR Black" panose="020B0200000000000000" pitchFamily="50" charset="-127"/>
              </a:rPr>
              <a:t>프로젝트 수행 소감</a:t>
            </a:r>
            <a:endParaRPr lang="ko-KR" altLang="en-US" sz="3600" dirty="0">
              <a:latin typeface="Noto Sans KR Black" panose="020B0200000000000000" pitchFamily="50" charset="-127"/>
              <a:ea typeface="Noto Sans KR Black" panose="020B0200000000000000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10627010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2785</TotalTime>
  <Words>2638</Words>
  <Application>Microsoft Office PowerPoint</Application>
  <PresentationFormat>와이드스크린</PresentationFormat>
  <Paragraphs>327</Paragraphs>
  <Slides>22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8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22</vt:i4>
      </vt:variant>
    </vt:vector>
  </HeadingPairs>
  <TitlesOfParts>
    <vt:vector size="31" baseType="lpstr">
      <vt:lpstr>Arial Unicode MS</vt:lpstr>
      <vt:lpstr>Google Sans Text</vt:lpstr>
      <vt:lpstr>Noto Sans KR</vt:lpstr>
      <vt:lpstr>Noto Sans KR Black</vt:lpstr>
      <vt:lpstr>Noto Serif KR Black</vt:lpstr>
      <vt:lpstr>맑은 고딕</vt:lpstr>
      <vt:lpstr>Arial</vt:lpstr>
      <vt:lpstr>Courier New</vt:lpstr>
      <vt:lpstr>Office 테마</vt:lpstr>
      <vt:lpstr>생성형 AI기반  스마트 호텔 올인원 서비스    프로젝트 수행 결과서</vt:lpstr>
      <vt:lpstr>   목차</vt:lpstr>
      <vt:lpstr>   기획의도</vt:lpstr>
      <vt:lpstr>   기획의도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혜린 신</dc:creator>
  <cp:lastModifiedBy>혜린 신</cp:lastModifiedBy>
  <cp:revision>54</cp:revision>
  <dcterms:created xsi:type="dcterms:W3CDTF">2026-03-17T06:15:52Z</dcterms:created>
  <dcterms:modified xsi:type="dcterms:W3CDTF">2026-06-16T08:21:59Z</dcterms:modified>
</cp:coreProperties>
</file>