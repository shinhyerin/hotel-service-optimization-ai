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74" r:id="rId3"/>
    <p:sldId id="257" r:id="rId4"/>
    <p:sldId id="273" r:id="rId5"/>
    <p:sldId id="262" r:id="rId6"/>
    <p:sldId id="275" r:id="rId7"/>
    <p:sldId id="276" r:id="rId8"/>
    <p:sldId id="263" r:id="rId9"/>
    <p:sldId id="277" r:id="rId10"/>
    <p:sldId id="278" r:id="rId11"/>
    <p:sldId id="279" r:id="rId12"/>
    <p:sldId id="264" r:id="rId13"/>
    <p:sldId id="282" r:id="rId14"/>
    <p:sldId id="265" r:id="rId15"/>
    <p:sldId id="280" r:id="rId16"/>
    <p:sldId id="283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802F"/>
    <a:srgbClr val="FFD400"/>
    <a:srgbClr val="FFFFFF"/>
    <a:srgbClr val="FFFA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84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3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혜린 신" userId="5adea4bc7da63cbc" providerId="LiveId" clId="{006129DB-ED47-489C-BE29-1CD45A3BB9BA}"/>
    <pc:docChg chg="undo custSel addSld delSld modSld">
      <pc:chgData name="혜린 신" userId="5adea4bc7da63cbc" providerId="LiveId" clId="{006129DB-ED47-489C-BE29-1CD45A3BB9BA}" dt="2026-03-19T05:32:08.450" v="1842" actId="1076"/>
      <pc:docMkLst>
        <pc:docMk/>
      </pc:docMkLst>
      <pc:sldChg chg="modSp mod">
        <pc:chgData name="혜린 신" userId="5adea4bc7da63cbc" providerId="LiveId" clId="{006129DB-ED47-489C-BE29-1CD45A3BB9BA}" dt="2026-03-19T01:44:00.355" v="244" actId="113"/>
        <pc:sldMkLst>
          <pc:docMk/>
          <pc:sldMk cId="1880328308" sldId="256"/>
        </pc:sldMkLst>
        <pc:spChg chg="mod">
          <ac:chgData name="혜린 신" userId="5adea4bc7da63cbc" providerId="LiveId" clId="{006129DB-ED47-489C-BE29-1CD45A3BB9BA}" dt="2026-03-19T01:44:00.355" v="244" actId="113"/>
          <ac:spMkLst>
            <pc:docMk/>
            <pc:sldMk cId="1880328308" sldId="256"/>
            <ac:spMk id="2" creationId="{F4BD9DDA-6410-1F74-6A94-ABFD21A84C60}"/>
          </ac:spMkLst>
        </pc:spChg>
        <pc:spChg chg="mod">
          <ac:chgData name="혜린 신" userId="5adea4bc7da63cbc" providerId="LiveId" clId="{006129DB-ED47-489C-BE29-1CD45A3BB9BA}" dt="2026-03-19T01:39:44.478" v="234" actId="113"/>
          <ac:spMkLst>
            <pc:docMk/>
            <pc:sldMk cId="1880328308" sldId="256"/>
            <ac:spMk id="3" creationId="{82CE0B4F-47D8-BF46-65A7-7841EA7BDD30}"/>
          </ac:spMkLst>
        </pc:spChg>
      </pc:sldChg>
      <pc:sldChg chg="modSp mod">
        <pc:chgData name="혜린 신" userId="5adea4bc7da63cbc" providerId="LiveId" clId="{006129DB-ED47-489C-BE29-1CD45A3BB9BA}" dt="2026-03-19T02:35:36.590" v="1643" actId="20577"/>
        <pc:sldMkLst>
          <pc:docMk/>
          <pc:sldMk cId="2724097635" sldId="257"/>
        </pc:sldMkLst>
        <pc:spChg chg="mod">
          <ac:chgData name="혜린 신" userId="5adea4bc7da63cbc" providerId="LiveId" clId="{006129DB-ED47-489C-BE29-1CD45A3BB9BA}" dt="2026-03-19T01:44:34.021" v="246" actId="113"/>
          <ac:spMkLst>
            <pc:docMk/>
            <pc:sldMk cId="2724097635" sldId="257"/>
            <ac:spMk id="2" creationId="{97C5E664-A6F3-6843-C4F4-A9117F037841}"/>
          </ac:spMkLst>
        </pc:spChg>
        <pc:spChg chg="mod">
          <ac:chgData name="혜린 신" userId="5adea4bc7da63cbc" providerId="LiveId" clId="{006129DB-ED47-489C-BE29-1CD45A3BB9BA}" dt="2026-03-19T02:35:36.590" v="1643" actId="20577"/>
          <ac:spMkLst>
            <pc:docMk/>
            <pc:sldMk cId="2724097635" sldId="257"/>
            <ac:spMk id="3" creationId="{5EA8D967-A763-1F0B-A37F-1E09A1F9F81B}"/>
          </ac:spMkLst>
        </pc:spChg>
      </pc:sldChg>
      <pc:sldChg chg="modSp del mod">
        <pc:chgData name="혜린 신" userId="5adea4bc7da63cbc" providerId="LiveId" clId="{006129DB-ED47-489C-BE29-1CD45A3BB9BA}" dt="2026-03-19T01:53:30.333" v="476" actId="47"/>
        <pc:sldMkLst>
          <pc:docMk/>
          <pc:sldMk cId="1330834609" sldId="259"/>
        </pc:sldMkLst>
        <pc:spChg chg="mod">
          <ac:chgData name="혜린 신" userId="5adea4bc7da63cbc" providerId="LiveId" clId="{006129DB-ED47-489C-BE29-1CD45A3BB9BA}" dt="2026-03-19T01:46:41.450" v="340" actId="113"/>
          <ac:spMkLst>
            <pc:docMk/>
            <pc:sldMk cId="1330834609" sldId="259"/>
            <ac:spMk id="2" creationId="{A7E72BEF-73D1-8EB2-03AA-3115BDD6B139}"/>
          </ac:spMkLst>
        </pc:spChg>
        <pc:spChg chg="mod">
          <ac:chgData name="혜린 신" userId="5adea4bc7da63cbc" providerId="LiveId" clId="{006129DB-ED47-489C-BE29-1CD45A3BB9BA}" dt="2026-03-19T01:33:44.130" v="182"/>
          <ac:spMkLst>
            <pc:docMk/>
            <pc:sldMk cId="1330834609" sldId="259"/>
            <ac:spMk id="3" creationId="{4DF33E91-DE90-8D14-6EC9-DA1097C32CF5}"/>
          </ac:spMkLst>
        </pc:spChg>
      </pc:sldChg>
      <pc:sldChg chg="addSp delSp modSp del mod">
        <pc:chgData name="혜린 신" userId="5adea4bc7da63cbc" providerId="LiveId" clId="{006129DB-ED47-489C-BE29-1CD45A3BB9BA}" dt="2026-03-18T04:31:40.508" v="41" actId="47"/>
        <pc:sldMkLst>
          <pc:docMk/>
          <pc:sldMk cId="3316586898" sldId="260"/>
        </pc:sldMkLst>
        <pc:spChg chg="mod">
          <ac:chgData name="혜린 신" userId="5adea4bc7da63cbc" providerId="LiveId" clId="{006129DB-ED47-489C-BE29-1CD45A3BB9BA}" dt="2026-03-18T04:31:37.544" v="39" actId="20577"/>
          <ac:spMkLst>
            <pc:docMk/>
            <pc:sldMk cId="3316586898" sldId="260"/>
            <ac:spMk id="2" creationId="{746FC5CC-1A61-1AD5-A209-A93CC2261B0A}"/>
          </ac:spMkLst>
        </pc:spChg>
        <pc:spChg chg="del">
          <ac:chgData name="혜린 신" userId="5adea4bc7da63cbc" providerId="LiveId" clId="{006129DB-ED47-489C-BE29-1CD45A3BB9BA}" dt="2026-03-18T04:31:28.330" v="17" actId="478"/>
          <ac:spMkLst>
            <pc:docMk/>
            <pc:sldMk cId="3316586898" sldId="260"/>
            <ac:spMk id="3" creationId="{BB852E26-1989-AF73-5FAB-F9482D29FAD0}"/>
          </ac:spMkLst>
        </pc:spChg>
        <pc:spChg chg="del mod">
          <ac:chgData name="혜린 신" userId="5adea4bc7da63cbc" providerId="LiveId" clId="{006129DB-ED47-489C-BE29-1CD45A3BB9BA}" dt="2026-03-18T04:31:26.284" v="16" actId="478"/>
          <ac:spMkLst>
            <pc:docMk/>
            <pc:sldMk cId="3316586898" sldId="260"/>
            <ac:spMk id="4" creationId="{DE74E8E6-4A4B-06BB-42AA-C060A0E27EF0}"/>
          </ac:spMkLst>
        </pc:spChg>
        <pc:spChg chg="del">
          <ac:chgData name="혜린 신" userId="5adea4bc7da63cbc" providerId="LiveId" clId="{006129DB-ED47-489C-BE29-1CD45A3BB9BA}" dt="2026-03-18T04:31:21.599" v="14" actId="478"/>
          <ac:spMkLst>
            <pc:docMk/>
            <pc:sldMk cId="3316586898" sldId="260"/>
            <ac:spMk id="6" creationId="{08B20821-D3D6-8A38-F5DE-C89D7E8D64CF}"/>
          </ac:spMkLst>
        </pc:spChg>
        <pc:spChg chg="add del mod">
          <ac:chgData name="혜린 신" userId="5adea4bc7da63cbc" providerId="LiveId" clId="{006129DB-ED47-489C-BE29-1CD45A3BB9BA}" dt="2026-03-18T04:31:29.539" v="19" actId="478"/>
          <ac:spMkLst>
            <pc:docMk/>
            <pc:sldMk cId="3316586898" sldId="260"/>
            <ac:spMk id="7" creationId="{EC501AFE-392C-A486-E763-D4B693EDDE85}"/>
          </ac:spMkLst>
        </pc:spChg>
        <pc:spChg chg="add del mod">
          <ac:chgData name="혜린 신" userId="5adea4bc7da63cbc" providerId="LiveId" clId="{006129DB-ED47-489C-BE29-1CD45A3BB9BA}" dt="2026-03-18T04:31:30.487" v="20" actId="478"/>
          <ac:spMkLst>
            <pc:docMk/>
            <pc:sldMk cId="3316586898" sldId="260"/>
            <ac:spMk id="9" creationId="{C8632492-A662-C18A-2724-4F5508491201}"/>
          </ac:spMkLst>
        </pc:spChg>
      </pc:sldChg>
      <pc:sldChg chg="addSp delSp modSp add mod modClrScheme chgLayout">
        <pc:chgData name="혜린 신" userId="5adea4bc7da63cbc" providerId="LiveId" clId="{006129DB-ED47-489C-BE29-1CD45A3BB9BA}" dt="2026-03-19T05:31:21.697" v="1841" actId="113"/>
        <pc:sldMkLst>
          <pc:docMk/>
          <pc:sldMk cId="1239003251" sldId="261"/>
        </pc:sldMkLst>
        <pc:spChg chg="mod ord">
          <ac:chgData name="혜린 신" userId="5adea4bc7da63cbc" providerId="LiveId" clId="{006129DB-ED47-489C-BE29-1CD45A3BB9BA}" dt="2026-03-19T02:11:02.141" v="1139" actId="113"/>
          <ac:spMkLst>
            <pc:docMk/>
            <pc:sldMk cId="1239003251" sldId="261"/>
            <ac:spMk id="2" creationId="{A7E72BEF-73D1-8EB2-03AA-3115BDD6B139}"/>
          </ac:spMkLst>
        </pc:spChg>
        <pc:spChg chg="del mod ord">
          <ac:chgData name="혜린 신" userId="5adea4bc7da63cbc" providerId="LiveId" clId="{006129DB-ED47-489C-BE29-1CD45A3BB9BA}" dt="2026-03-19T05:30:22.575" v="1743" actId="478"/>
          <ac:spMkLst>
            <pc:docMk/>
            <pc:sldMk cId="1239003251" sldId="261"/>
            <ac:spMk id="3" creationId="{4DF33E91-DE90-8D14-6EC9-DA1097C32CF5}"/>
          </ac:spMkLst>
        </pc:spChg>
        <pc:spChg chg="add del mod ord">
          <ac:chgData name="혜린 신" userId="5adea4bc7da63cbc" providerId="LiveId" clId="{006129DB-ED47-489C-BE29-1CD45A3BB9BA}" dt="2026-03-19T05:30:21.278" v="1742" actId="478"/>
          <ac:spMkLst>
            <pc:docMk/>
            <pc:sldMk cId="1239003251" sldId="261"/>
            <ac:spMk id="4" creationId="{1A508842-32F4-CCED-A39C-C48116CE2C4B}"/>
          </ac:spMkLst>
        </pc:spChg>
        <pc:spChg chg="add del mod">
          <ac:chgData name="혜린 신" userId="5adea4bc7da63cbc" providerId="LiveId" clId="{006129DB-ED47-489C-BE29-1CD45A3BB9BA}" dt="2026-03-19T02:10:08.682" v="1130" actId="478"/>
          <ac:spMkLst>
            <pc:docMk/>
            <pc:sldMk cId="1239003251" sldId="261"/>
            <ac:spMk id="5" creationId="{63FE32F8-0153-1B28-5B42-552B408C0BB3}"/>
          </ac:spMkLst>
        </pc:spChg>
        <pc:spChg chg="add del mod">
          <ac:chgData name="혜린 신" userId="5adea4bc7da63cbc" providerId="LiveId" clId="{006129DB-ED47-489C-BE29-1CD45A3BB9BA}" dt="2026-03-19T05:30:28.805" v="1745" actId="478"/>
          <ac:spMkLst>
            <pc:docMk/>
            <pc:sldMk cId="1239003251" sldId="261"/>
            <ac:spMk id="6" creationId="{BC43E2C4-18EF-0F50-03B2-6BE1F36AA8FA}"/>
          </ac:spMkLst>
        </pc:spChg>
        <pc:spChg chg="add del mod">
          <ac:chgData name="혜린 신" userId="5adea4bc7da63cbc" providerId="LiveId" clId="{006129DB-ED47-489C-BE29-1CD45A3BB9BA}" dt="2026-03-19T05:30:54.202" v="1834" actId="478"/>
          <ac:spMkLst>
            <pc:docMk/>
            <pc:sldMk cId="1239003251" sldId="261"/>
            <ac:spMk id="7" creationId="{2AF6224E-DCC8-97F1-AF43-EE0D310062AC}"/>
          </ac:spMkLst>
        </pc:spChg>
        <pc:spChg chg="add mod">
          <ac:chgData name="혜린 신" userId="5adea4bc7da63cbc" providerId="LiveId" clId="{006129DB-ED47-489C-BE29-1CD45A3BB9BA}" dt="2026-03-19T05:31:21.697" v="1841" actId="113"/>
          <ac:spMkLst>
            <pc:docMk/>
            <pc:sldMk cId="1239003251" sldId="261"/>
            <ac:spMk id="9" creationId="{D5E087DB-D39A-8AF6-66E4-BFB4705E8D5E}"/>
          </ac:spMkLst>
        </pc:spChg>
      </pc:sldChg>
      <pc:sldChg chg="addSp delSp modSp new mod">
        <pc:chgData name="혜린 신" userId="5adea4bc7da63cbc" providerId="LiveId" clId="{006129DB-ED47-489C-BE29-1CD45A3BB9BA}" dt="2026-03-19T02:08:31.274" v="1120" actId="478"/>
        <pc:sldMkLst>
          <pc:docMk/>
          <pc:sldMk cId="3180855730" sldId="262"/>
        </pc:sldMkLst>
        <pc:spChg chg="mod">
          <ac:chgData name="혜린 신" userId="5adea4bc7da63cbc" providerId="LiveId" clId="{006129DB-ED47-489C-BE29-1CD45A3BB9BA}" dt="2026-03-19T02:02:09.531" v="590" actId="2711"/>
          <ac:spMkLst>
            <pc:docMk/>
            <pc:sldMk cId="3180855730" sldId="262"/>
            <ac:spMk id="2" creationId="{1704333C-3927-F797-5EEF-59E04DBFC292}"/>
          </ac:spMkLst>
        </pc:spChg>
        <pc:spChg chg="mod">
          <ac:chgData name="혜린 신" userId="5adea4bc7da63cbc" providerId="LiveId" clId="{006129DB-ED47-489C-BE29-1CD45A3BB9BA}" dt="2026-03-19T02:03:57.489" v="719" actId="27636"/>
          <ac:spMkLst>
            <pc:docMk/>
            <pc:sldMk cId="3180855730" sldId="262"/>
            <ac:spMk id="3" creationId="{86B1D136-6594-3C31-CC2C-47E7378E927B}"/>
          </ac:spMkLst>
        </pc:spChg>
        <pc:spChg chg="mod">
          <ac:chgData name="혜린 신" userId="5adea4bc7da63cbc" providerId="LiveId" clId="{006129DB-ED47-489C-BE29-1CD45A3BB9BA}" dt="2026-03-19T02:04:47.405" v="778" actId="20577"/>
          <ac:spMkLst>
            <pc:docMk/>
            <pc:sldMk cId="3180855730" sldId="262"/>
            <ac:spMk id="4" creationId="{70A180C4-6709-0194-6E45-04D926791744}"/>
          </ac:spMkLst>
        </pc:spChg>
        <pc:spChg chg="add mod">
          <ac:chgData name="혜린 신" userId="5adea4bc7da63cbc" providerId="LiveId" clId="{006129DB-ED47-489C-BE29-1CD45A3BB9BA}" dt="2026-03-19T02:06:51.924" v="938" actId="20577"/>
          <ac:spMkLst>
            <pc:docMk/>
            <pc:sldMk cId="3180855730" sldId="262"/>
            <ac:spMk id="5" creationId="{86B1D136-6594-3C31-CC2C-47E7378E927B}"/>
          </ac:spMkLst>
        </pc:spChg>
        <pc:spChg chg="add mod">
          <ac:chgData name="혜린 신" userId="5adea4bc7da63cbc" providerId="LiveId" clId="{006129DB-ED47-489C-BE29-1CD45A3BB9BA}" dt="2026-03-19T02:08:24.304" v="1119" actId="255"/>
          <ac:spMkLst>
            <pc:docMk/>
            <pc:sldMk cId="3180855730" sldId="262"/>
            <ac:spMk id="6" creationId="{70A180C4-6709-0194-6E45-04D926791744}"/>
          </ac:spMkLst>
        </pc:spChg>
        <pc:spChg chg="add del mod">
          <ac:chgData name="혜린 신" userId="5adea4bc7da63cbc" providerId="LiveId" clId="{006129DB-ED47-489C-BE29-1CD45A3BB9BA}" dt="2026-03-19T02:08:31.274" v="1120" actId="478"/>
          <ac:spMkLst>
            <pc:docMk/>
            <pc:sldMk cId="3180855730" sldId="262"/>
            <ac:spMk id="7" creationId="{6A7135B2-A26A-F2C6-C298-47A09EDDC4DB}"/>
          </ac:spMkLst>
        </pc:spChg>
      </pc:sldChg>
      <pc:sldChg chg="addSp delSp modSp add del mod">
        <pc:chgData name="혜린 신" userId="5adea4bc7da63cbc" providerId="LiveId" clId="{006129DB-ED47-489C-BE29-1CD45A3BB9BA}" dt="2026-03-19T02:00:38.305" v="542" actId="47"/>
        <pc:sldMkLst>
          <pc:docMk/>
          <pc:sldMk cId="3639733745" sldId="263"/>
        </pc:sldMkLst>
        <pc:spChg chg="del mod">
          <ac:chgData name="혜린 신" userId="5adea4bc7da63cbc" providerId="LiveId" clId="{006129DB-ED47-489C-BE29-1CD45A3BB9BA}" dt="2026-03-19T01:59:55.630" v="531" actId="21"/>
          <ac:spMkLst>
            <pc:docMk/>
            <pc:sldMk cId="3639733745" sldId="263"/>
            <ac:spMk id="3" creationId="{86B1D136-6594-3C31-CC2C-47E7378E927B}"/>
          </ac:spMkLst>
        </pc:spChg>
        <pc:spChg chg="del mod">
          <ac:chgData name="혜린 신" userId="5adea4bc7da63cbc" providerId="LiveId" clId="{006129DB-ED47-489C-BE29-1CD45A3BB9BA}" dt="2026-03-19T02:00:02.888" v="534" actId="21"/>
          <ac:spMkLst>
            <pc:docMk/>
            <pc:sldMk cId="3639733745" sldId="263"/>
            <ac:spMk id="4" creationId="{70A180C4-6709-0194-6E45-04D926791744}"/>
          </ac:spMkLst>
        </pc:spChg>
        <pc:spChg chg="add del mod">
          <ac:chgData name="혜린 신" userId="5adea4bc7da63cbc" providerId="LiveId" clId="{006129DB-ED47-489C-BE29-1CD45A3BB9BA}" dt="2026-03-19T02:00:17.613" v="539" actId="21"/>
          <ac:spMkLst>
            <pc:docMk/>
            <pc:sldMk cId="3639733745" sldId="263"/>
            <ac:spMk id="5" creationId="{6A7135B2-A26A-F2C6-C298-47A09EDDC4DB}"/>
          </ac:spMkLst>
        </pc:spChg>
        <pc:spChg chg="add mod">
          <ac:chgData name="혜린 신" userId="5adea4bc7da63cbc" providerId="LiveId" clId="{006129DB-ED47-489C-BE29-1CD45A3BB9BA}" dt="2026-03-19T01:59:55.630" v="531" actId="21"/>
          <ac:spMkLst>
            <pc:docMk/>
            <pc:sldMk cId="3639733745" sldId="263"/>
            <ac:spMk id="7" creationId="{CA9BC4A7-66E5-0B19-33A8-3F5E33123830}"/>
          </ac:spMkLst>
        </pc:spChg>
        <pc:spChg chg="add mod">
          <ac:chgData name="혜린 신" userId="5adea4bc7da63cbc" providerId="LiveId" clId="{006129DB-ED47-489C-BE29-1CD45A3BB9BA}" dt="2026-03-19T02:00:15.354" v="537" actId="14100"/>
          <ac:spMkLst>
            <pc:docMk/>
            <pc:sldMk cId="3639733745" sldId="263"/>
            <ac:spMk id="9" creationId="{D3CB362E-3D0B-5244-4FB6-849FDE8F3633}"/>
          </ac:spMkLst>
        </pc:spChg>
      </pc:sldChg>
      <pc:sldChg chg="addSp delSp modSp new mod">
        <pc:chgData name="혜린 신" userId="5adea4bc7da63cbc" providerId="LiveId" clId="{006129DB-ED47-489C-BE29-1CD45A3BB9BA}" dt="2026-03-19T05:09:56.300" v="1728" actId="20577"/>
        <pc:sldMkLst>
          <pc:docMk/>
          <pc:sldMk cId="2173242103" sldId="264"/>
        </pc:sldMkLst>
        <pc:spChg chg="mod">
          <ac:chgData name="혜린 신" userId="5adea4bc7da63cbc" providerId="LiveId" clId="{006129DB-ED47-489C-BE29-1CD45A3BB9BA}" dt="2026-03-19T05:09:56.300" v="1728" actId="20577"/>
          <ac:spMkLst>
            <pc:docMk/>
            <pc:sldMk cId="2173242103" sldId="264"/>
            <ac:spMk id="2" creationId="{3DE12A3C-24E9-0ED6-A8DA-DF39C30376B2}"/>
          </ac:spMkLst>
        </pc:spChg>
        <pc:spChg chg="del mod">
          <ac:chgData name="혜린 신" userId="5adea4bc7da63cbc" providerId="LiveId" clId="{006129DB-ED47-489C-BE29-1CD45A3BB9BA}" dt="2026-03-19T02:20:37.666" v="1545" actId="478"/>
          <ac:spMkLst>
            <pc:docMk/>
            <pc:sldMk cId="2173242103" sldId="264"/>
            <ac:spMk id="3" creationId="{0DF34DEF-64F2-F910-DDCA-9562CDC57915}"/>
          </ac:spMkLst>
        </pc:spChg>
        <pc:spChg chg="del mod">
          <ac:chgData name="혜린 신" userId="5adea4bc7da63cbc" providerId="LiveId" clId="{006129DB-ED47-489C-BE29-1CD45A3BB9BA}" dt="2026-03-19T02:13:13.750" v="1186" actId="478"/>
          <ac:spMkLst>
            <pc:docMk/>
            <pc:sldMk cId="2173242103" sldId="264"/>
            <ac:spMk id="4" creationId="{D2A8C7F6-2114-E214-1D3B-2BE71E7589FF}"/>
          </ac:spMkLst>
        </pc:spChg>
        <pc:spChg chg="add mod">
          <ac:chgData name="혜린 신" userId="5adea4bc7da63cbc" providerId="LiveId" clId="{006129DB-ED47-489C-BE29-1CD45A3BB9BA}" dt="2026-03-19T01:35:33.303" v="215" actId="6549"/>
          <ac:spMkLst>
            <pc:docMk/>
            <pc:sldMk cId="2173242103" sldId="264"/>
            <ac:spMk id="5" creationId="{4A04E4E7-A6C2-45ED-1409-CB076012A6FC}"/>
          </ac:spMkLst>
        </pc:spChg>
        <pc:spChg chg="add mod">
          <ac:chgData name="혜린 신" userId="5adea4bc7da63cbc" providerId="LiveId" clId="{006129DB-ED47-489C-BE29-1CD45A3BB9BA}" dt="2026-03-19T02:27:35.171" v="1636" actId="1076"/>
          <ac:spMkLst>
            <pc:docMk/>
            <pc:sldMk cId="2173242103" sldId="264"/>
            <ac:spMk id="6" creationId="{7CFEE43E-AAA9-E78C-CCA5-BB1B2F42AD19}"/>
          </ac:spMkLst>
        </pc:spChg>
        <pc:spChg chg="add mod">
          <ac:chgData name="혜린 신" userId="5adea4bc7da63cbc" providerId="LiveId" clId="{006129DB-ED47-489C-BE29-1CD45A3BB9BA}" dt="2026-03-19T02:27:43.534" v="1638" actId="14100"/>
          <ac:spMkLst>
            <pc:docMk/>
            <pc:sldMk cId="2173242103" sldId="264"/>
            <ac:spMk id="8" creationId="{A8E73566-B778-F86C-A355-4F36759DF8CA}"/>
          </ac:spMkLst>
        </pc:spChg>
      </pc:sldChg>
      <pc:sldChg chg="addSp delSp modSp add mod">
        <pc:chgData name="혜린 신" userId="5adea4bc7da63cbc" providerId="LiveId" clId="{006129DB-ED47-489C-BE29-1CD45A3BB9BA}" dt="2026-03-19T05:32:08.450" v="1842" actId="1076"/>
        <pc:sldMkLst>
          <pc:docMk/>
          <pc:sldMk cId="737299096" sldId="265"/>
        </pc:sldMkLst>
        <pc:spChg chg="mod">
          <ac:chgData name="혜린 신" userId="5adea4bc7da63cbc" providerId="LiveId" clId="{006129DB-ED47-489C-BE29-1CD45A3BB9BA}" dt="2026-03-19T05:10:01.284" v="1738" actId="20577"/>
          <ac:spMkLst>
            <pc:docMk/>
            <pc:sldMk cId="737299096" sldId="265"/>
            <ac:spMk id="2" creationId="{3DE12A3C-24E9-0ED6-A8DA-DF39C30376B2}"/>
          </ac:spMkLst>
        </pc:spChg>
        <pc:spChg chg="mod">
          <ac:chgData name="혜린 신" userId="5adea4bc7da63cbc" providerId="LiveId" clId="{006129DB-ED47-489C-BE29-1CD45A3BB9BA}" dt="2026-03-19T05:32:08.450" v="1842" actId="1076"/>
          <ac:spMkLst>
            <pc:docMk/>
            <pc:sldMk cId="737299096" sldId="265"/>
            <ac:spMk id="3" creationId="{0DF34DEF-64F2-F910-DDCA-9562CDC57915}"/>
          </ac:spMkLst>
        </pc:spChg>
        <pc:spChg chg="mod">
          <ac:chgData name="혜린 신" userId="5adea4bc7da63cbc" providerId="LiveId" clId="{006129DB-ED47-489C-BE29-1CD45A3BB9BA}" dt="2026-03-19T02:27:24.933" v="1634" actId="20577"/>
          <ac:spMkLst>
            <pc:docMk/>
            <pc:sldMk cId="737299096" sldId="265"/>
            <ac:spMk id="4" creationId="{D2A8C7F6-2114-E214-1D3B-2BE71E7589FF}"/>
          </ac:spMkLst>
        </pc:spChg>
        <pc:spChg chg="add del mod">
          <ac:chgData name="혜린 신" userId="5adea4bc7da63cbc" providerId="LiveId" clId="{006129DB-ED47-489C-BE29-1CD45A3BB9BA}" dt="2026-03-19T02:19:33.861" v="1508" actId="478"/>
          <ac:spMkLst>
            <pc:docMk/>
            <pc:sldMk cId="737299096" sldId="265"/>
            <ac:spMk id="6" creationId="{002B05AC-2CD8-537C-9C69-0BF7DF3FA51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E71D51-8A19-4BEA-9750-E87DB394B54C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6FAA0A-814C-4D3B-A4DE-794F9EB0F9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44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467586-B62B-4F97-F9D3-663CB92A4C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8E2DDB6-C587-7E94-5036-39A64AAA0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BB4BA8-FA6E-690E-C083-8853DD031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CD80C6-7BF1-3B22-22D9-DEB5C6F41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8710B3-FBB5-85C5-76E2-C6A345BFC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346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C3B95-92B7-BA44-43EB-C57ED45C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1A2ED-9CFF-6002-751A-E34F1E560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A5BD20-EDD7-59D5-C50B-2AAE9E945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74B935-60A8-03C6-C302-ABC8C4EA0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5D1696-A134-EDBC-52B7-2F8AFC6C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83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1AA29E-4AFF-553C-934D-4ADAAA07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29C10C-3681-96A5-D906-4CD0CFF69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21118A-323A-915D-0F87-23FED6ED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22F649-C515-E05B-AF16-65D9D5496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30C56B-7419-A09C-2D4D-CE03DC129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852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BF71BA-3CAB-62CE-B1A8-0B57F06D3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452E23-15E7-FBD7-0826-AC958AB91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06005FE-C902-8E68-FE76-28CAD775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65C47A-E3A0-B753-4D0B-9C4EFD53A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9A8754-BE79-941C-A2BE-3153B512A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A0DA21-FF3C-F340-C0E6-5F4042259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9272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28CFBD-4F3B-14E5-CBBF-5A2356F0E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5BA703-92F8-D644-01C2-991574455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AE5FDB2-F10E-7452-6048-799E2AD33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4D93139-C3F3-57A0-5EC5-0A6B67C511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8BC998E-5890-327A-907F-969A37C05D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6EE1A5-3874-F396-0F7B-4C030C9E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7EE2BC-120D-E000-F4C4-89180033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B921C2F-7646-725F-5F21-1A44AFA04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11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07780-4F34-906D-2E05-75EF75192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C457ECC-F4BB-5F13-86C0-43A8997B1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2592E3-90F5-E824-38B7-D8E0D4937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0579572-12DC-AD29-81BE-C3DEAF296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109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3CC1785-2247-A3AE-B631-2AF84193A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165E1B-FC72-A477-46D2-D298DF5F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E38255-D771-5480-84CE-8528264A9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6639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C2023-CF4F-097B-4932-1BF771E20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F45860-BE6E-DE8C-1A7C-5A5654440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DF9599-3EAE-778A-AA03-CDF694784D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7E3AA2-FC1E-6E60-DC54-95C70D6A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FB5714-C024-EBDC-E82C-9CE2CAB7E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BFE02E-2F07-A4F5-B34A-FDF515304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909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07986F-C1FE-9879-A7A5-D6E74A432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BCF20C1-91BD-6693-4390-94B7D78F3F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C3FA89-7B9E-A2B6-59B3-AABBCED25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5F2029-DE32-2573-1381-192C069EB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86CD83-BABD-FF5B-ACBE-8A9D27EC1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9CD9C7-33B0-E36E-2FBF-473D89775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5695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16447-59EB-8BC4-EC22-C269E360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1CB07F-9222-06A7-B63F-9CF53E504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65E716-0A27-C400-31CF-F47323EE5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D2B25-E786-DC88-AD5F-ACA78F95F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9AF6C2-5F61-C825-40B1-03CB6022A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655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E48E22D-D1D3-A97E-DC6B-2D6FD106B3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A3A6FC-9B11-2DAE-00BD-A75037AD6F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262885-4696-33DD-0489-03675487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AD23BB-0530-1AEA-3A4B-E7D8F9F8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115DFB-F5CA-231E-6171-57FF6BDA4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3772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87E5880-AC21-439F-AB11-42B1DB0A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7CE7E3-B3A2-5723-C4DA-98BDC14E3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A46755-F84B-0EC2-3126-5A0CB1D62D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27968-2FEC-4B32-BACB-7408E34A3E11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DC04B1-14D5-2C82-4215-1E586AC32B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AA5210-11D6-4416-00B8-192C998E98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0354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BD9DDA-6410-1F74-6A94-ABFD21A84C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035" y="1515979"/>
            <a:ext cx="12071927" cy="2387600"/>
          </a:xfrm>
        </p:spPr>
        <p:txBody>
          <a:bodyPr>
            <a:noAutofit/>
          </a:bodyPr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생성형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AI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기반 </a:t>
            </a:r>
            <a:b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스마트 호텔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올인원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서비스</a:t>
            </a:r>
            <a:b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수행 결과서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CE0B4F-47D8-BF46-65A7-7841EA7BDD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7" y="4056210"/>
            <a:ext cx="9144000" cy="1655762"/>
          </a:xfrm>
        </p:spPr>
        <p:txBody>
          <a:bodyPr>
            <a:normAutofit fontScale="92500" lnSpcReduction="20000"/>
          </a:bodyPr>
          <a:lstStyle/>
          <a:p>
            <a:pPr algn="l"/>
            <a:endParaRPr lang="en-US" altLang="ko-KR" dirty="0"/>
          </a:p>
          <a:p>
            <a:pPr algn="r"/>
            <a:endParaRPr lang="en-US" altLang="ko-KR" b="1" dirty="0"/>
          </a:p>
          <a:p>
            <a:r>
              <a:rPr lang="en-US" altLang="ko-KR" sz="3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2026.06.15.</a:t>
            </a:r>
          </a:p>
          <a:p>
            <a:r>
              <a:rPr lang="ko-KR" altLang="en-US" sz="3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신혜린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7D2B4BA-86B7-33EB-3FE6-DF838C287F96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428B6EB7-9629-2D9E-89A5-A8AEB5E1406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L 도형 10">
            <a:extLst>
              <a:ext uri="{FF2B5EF4-FFF2-40B4-BE49-F238E27FC236}">
                <a16:creationId xmlns:a16="http://schemas.microsoft.com/office/drawing/2014/main" id="{D0A615ED-02C6-450A-6C8D-9B1095A4926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L 도형 11">
            <a:extLst>
              <a:ext uri="{FF2B5EF4-FFF2-40B4-BE49-F238E27FC236}">
                <a16:creationId xmlns:a16="http://schemas.microsoft.com/office/drawing/2014/main" id="{81DA8C8C-8394-7EA1-2446-6E54B0C7CBE2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6298E60-FF59-F86F-F449-137837A280A8}"/>
              </a:ext>
            </a:extLst>
          </p:cNvPr>
          <p:cNvSpPr/>
          <p:nvPr/>
        </p:nvSpPr>
        <p:spPr>
          <a:xfrm>
            <a:off x="5195997" y="4385636"/>
            <a:ext cx="1800000" cy="5813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28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CBFBBEDE-0A8D-4E83-B725-2F613A5E7037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잘린 한쪽 모서리 13">
            <a:extLst>
              <a:ext uri="{FF2B5EF4-FFF2-40B4-BE49-F238E27FC236}">
                <a16:creationId xmlns:a16="http://schemas.microsoft.com/office/drawing/2014/main" id="{746B476A-0F05-DA17-4793-617FB17DA9D8}"/>
              </a:ext>
            </a:extLst>
          </p:cNvPr>
          <p:cNvSpPr/>
          <p:nvPr/>
        </p:nvSpPr>
        <p:spPr>
          <a:xfrm>
            <a:off x="-766" y="317921"/>
            <a:ext cx="2515105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L 도형 9">
            <a:extLst>
              <a:ext uri="{FF2B5EF4-FFF2-40B4-BE49-F238E27FC236}">
                <a16:creationId xmlns:a16="http://schemas.microsoft.com/office/drawing/2014/main" id="{227285A9-8D4E-6425-4998-D9D8A7E7CA51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L 도형 10">
            <a:extLst>
              <a:ext uri="{FF2B5EF4-FFF2-40B4-BE49-F238E27FC236}">
                <a16:creationId xmlns:a16="http://schemas.microsoft.com/office/drawing/2014/main" id="{103EA615-B974-526D-5CC5-1AA27D538E5F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L 도형 12">
            <a:extLst>
              <a:ext uri="{FF2B5EF4-FFF2-40B4-BE49-F238E27FC236}">
                <a16:creationId xmlns:a16="http://schemas.microsoft.com/office/drawing/2014/main" id="{63B901FB-C4F8-5870-D36E-013276586CF9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7C5E664-A6F3-6843-C4F4-A9117F037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3341" y="60556"/>
            <a:ext cx="2640254" cy="1289849"/>
          </a:xfrm>
        </p:spPr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목차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E610155-5549-0F16-0A12-07A5EE895635}"/>
              </a:ext>
            </a:extLst>
          </p:cNvPr>
          <p:cNvSpPr/>
          <p:nvPr/>
        </p:nvSpPr>
        <p:spPr>
          <a:xfrm>
            <a:off x="-766" y="1059394"/>
            <a:ext cx="252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5449981-4F30-BCA7-D834-1D3714F1E2ED}"/>
              </a:ext>
            </a:extLst>
          </p:cNvPr>
          <p:cNvSpPr/>
          <p:nvPr/>
        </p:nvSpPr>
        <p:spPr>
          <a:xfrm>
            <a:off x="2408787" y="1068311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7E1282-07AB-0118-5C66-A89F3F66C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686" y="15688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3571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CBFBBEDE-0A8D-4E83-B725-2F613A5E7037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잘린 한쪽 모서리 13">
            <a:extLst>
              <a:ext uri="{FF2B5EF4-FFF2-40B4-BE49-F238E27FC236}">
                <a16:creationId xmlns:a16="http://schemas.microsoft.com/office/drawing/2014/main" id="{746B476A-0F05-DA17-4793-617FB17DA9D8}"/>
              </a:ext>
            </a:extLst>
          </p:cNvPr>
          <p:cNvSpPr/>
          <p:nvPr/>
        </p:nvSpPr>
        <p:spPr>
          <a:xfrm>
            <a:off x="-766" y="317921"/>
            <a:ext cx="2515105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L 도형 9">
            <a:extLst>
              <a:ext uri="{FF2B5EF4-FFF2-40B4-BE49-F238E27FC236}">
                <a16:creationId xmlns:a16="http://schemas.microsoft.com/office/drawing/2014/main" id="{227285A9-8D4E-6425-4998-D9D8A7E7CA51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L 도형 10">
            <a:extLst>
              <a:ext uri="{FF2B5EF4-FFF2-40B4-BE49-F238E27FC236}">
                <a16:creationId xmlns:a16="http://schemas.microsoft.com/office/drawing/2014/main" id="{103EA615-B974-526D-5CC5-1AA27D538E5F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L 도형 12">
            <a:extLst>
              <a:ext uri="{FF2B5EF4-FFF2-40B4-BE49-F238E27FC236}">
                <a16:creationId xmlns:a16="http://schemas.microsoft.com/office/drawing/2014/main" id="{63B901FB-C4F8-5870-D36E-013276586CF9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7C5E664-A6F3-6843-C4F4-A9117F037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3341" y="60556"/>
            <a:ext cx="2640254" cy="1289849"/>
          </a:xfrm>
        </p:spPr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기획의도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E610155-5549-0F16-0A12-07A5EE895635}"/>
              </a:ext>
            </a:extLst>
          </p:cNvPr>
          <p:cNvSpPr/>
          <p:nvPr/>
        </p:nvSpPr>
        <p:spPr>
          <a:xfrm>
            <a:off x="-766" y="1059394"/>
            <a:ext cx="252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5449981-4F30-BCA7-D834-1D3714F1E2ED}"/>
              </a:ext>
            </a:extLst>
          </p:cNvPr>
          <p:cNvSpPr/>
          <p:nvPr/>
        </p:nvSpPr>
        <p:spPr>
          <a:xfrm>
            <a:off x="2408787" y="1068311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7E1282-07AB-0118-5C66-A89F3F66C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686" y="1568853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b="1" dirty="0"/>
              <a:t>#</a:t>
            </a:r>
            <a:r>
              <a:rPr lang="ko-KR" altLang="en-US" b="1" dirty="0"/>
              <a:t> </a:t>
            </a:r>
            <a:r>
              <a:rPr lang="ko-KR" altLang="en-US" b="1" dirty="0" err="1"/>
              <a:t>호스피탈리티</a:t>
            </a:r>
            <a:r>
              <a:rPr lang="ko-KR" altLang="en-US" b="1" dirty="0"/>
              <a:t> 산업의 디지털 전환 가속화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 err="1"/>
              <a:t>비대면</a:t>
            </a:r>
            <a:r>
              <a:rPr lang="ko-KR" altLang="en-US" dirty="0"/>
              <a:t> 서비스 수요 증가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인력난 및 운영비 상승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데이터 기반 의사결정 중요성 확대 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4097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CBFBBEDE-0A8D-4E83-B725-2F613A5E7037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잘린 한쪽 모서리 13">
            <a:extLst>
              <a:ext uri="{FF2B5EF4-FFF2-40B4-BE49-F238E27FC236}">
                <a16:creationId xmlns:a16="http://schemas.microsoft.com/office/drawing/2014/main" id="{746B476A-0F05-DA17-4793-617FB17DA9D8}"/>
              </a:ext>
            </a:extLst>
          </p:cNvPr>
          <p:cNvSpPr/>
          <p:nvPr/>
        </p:nvSpPr>
        <p:spPr>
          <a:xfrm>
            <a:off x="-766" y="317921"/>
            <a:ext cx="2515105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L 도형 9">
            <a:extLst>
              <a:ext uri="{FF2B5EF4-FFF2-40B4-BE49-F238E27FC236}">
                <a16:creationId xmlns:a16="http://schemas.microsoft.com/office/drawing/2014/main" id="{227285A9-8D4E-6425-4998-D9D8A7E7CA51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L 도형 10">
            <a:extLst>
              <a:ext uri="{FF2B5EF4-FFF2-40B4-BE49-F238E27FC236}">
                <a16:creationId xmlns:a16="http://schemas.microsoft.com/office/drawing/2014/main" id="{103EA615-B974-526D-5CC5-1AA27D538E5F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L 도형 12">
            <a:extLst>
              <a:ext uri="{FF2B5EF4-FFF2-40B4-BE49-F238E27FC236}">
                <a16:creationId xmlns:a16="http://schemas.microsoft.com/office/drawing/2014/main" id="{63B901FB-C4F8-5870-D36E-013276586CF9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7C5E664-A6F3-6843-C4F4-A9117F037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3341" y="60556"/>
            <a:ext cx="2640254" cy="1289849"/>
          </a:xfrm>
        </p:spPr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기획의도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E610155-5549-0F16-0A12-07A5EE895635}"/>
              </a:ext>
            </a:extLst>
          </p:cNvPr>
          <p:cNvSpPr/>
          <p:nvPr/>
        </p:nvSpPr>
        <p:spPr>
          <a:xfrm>
            <a:off x="-766" y="1059394"/>
            <a:ext cx="252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5449981-4F30-BCA7-D834-1D3714F1E2ED}"/>
              </a:ext>
            </a:extLst>
          </p:cNvPr>
          <p:cNvSpPr/>
          <p:nvPr/>
        </p:nvSpPr>
        <p:spPr>
          <a:xfrm>
            <a:off x="2408787" y="1068311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7E1282-07AB-0118-5C66-A89F3F66C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686" y="1568853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altLang="ko-KR" b="1" dirty="0"/>
              <a:t>#</a:t>
            </a:r>
            <a:r>
              <a:rPr lang="ko-KR" altLang="en-US" b="1" dirty="0"/>
              <a:t> 산업계의 주요 문제점</a:t>
            </a:r>
            <a:r>
              <a:rPr lang="en-US" altLang="ko-KR" b="1" dirty="0"/>
              <a:t>(Pain Point)</a:t>
            </a:r>
          </a:p>
          <a:p>
            <a:r>
              <a:rPr lang="ko-KR" altLang="en-US" b="1" dirty="0"/>
              <a:t>예약 단계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인기 객실의 공실 발생 시점을 예측하기 어려움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고객은 반복적인 </a:t>
            </a:r>
            <a:r>
              <a:rPr lang="ko-KR" altLang="en-US" dirty="0" err="1"/>
              <a:t>새로고침에</a:t>
            </a:r>
            <a:r>
              <a:rPr lang="ko-KR" altLang="en-US" dirty="0"/>
              <a:t> 의존 </a:t>
            </a:r>
          </a:p>
          <a:p>
            <a:r>
              <a:rPr lang="ko-KR" altLang="en-US" b="1" dirty="0"/>
              <a:t>운영 단계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공유공간 </a:t>
            </a:r>
            <a:r>
              <a:rPr lang="ko-KR" altLang="en-US" dirty="0" err="1"/>
              <a:t>노쇼</a:t>
            </a:r>
            <a:r>
              <a:rPr lang="en-US" altLang="ko-KR" dirty="0"/>
              <a:t>(No-show) </a:t>
            </a:r>
            <a:r>
              <a:rPr lang="ko-KR" altLang="en-US" dirty="0"/>
              <a:t>및 장시간 </a:t>
            </a:r>
            <a:r>
              <a:rPr lang="ko-KR" altLang="en-US" dirty="0" err="1"/>
              <a:t>자리비움</a:t>
            </a:r>
            <a:r>
              <a:rPr lang="ko-KR" altLang="en-US" dirty="0"/>
              <a:t> 발생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실제 이용 현황 파악이 어려워 자원 활용률 저하 </a:t>
            </a:r>
          </a:p>
          <a:p>
            <a:r>
              <a:rPr lang="ko-KR" altLang="en-US" b="1" dirty="0"/>
              <a:t>응대 단계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반복 문의 응대로 인한 업무 과중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신입 직원의 규정 숙지 부족으로 서비스 품질 편차 발생 </a:t>
            </a:r>
          </a:p>
          <a:p>
            <a:r>
              <a:rPr lang="ko-KR" altLang="en-US" b="1" dirty="0"/>
              <a:t>➔ 결과</a:t>
            </a:r>
          </a:p>
          <a:p>
            <a:pPr marL="0" indent="0">
              <a:buNone/>
            </a:pPr>
            <a:r>
              <a:rPr lang="ko-KR" altLang="en-US" dirty="0"/>
              <a:t>자원 활용 효율 저하</a:t>
            </a:r>
            <a:r>
              <a:rPr lang="en-US" altLang="ko-KR" dirty="0"/>
              <a:t>, </a:t>
            </a:r>
            <a:r>
              <a:rPr lang="ko-KR" altLang="en-US" dirty="0"/>
              <a:t>운영 비용 증가</a:t>
            </a:r>
            <a:r>
              <a:rPr lang="en-US" altLang="ko-KR" dirty="0"/>
              <a:t>, </a:t>
            </a:r>
            <a:r>
              <a:rPr lang="ko-KR" altLang="en-US" dirty="0"/>
              <a:t>고객 경험 악화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7017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27BDC17-BF29-4E47-CBE6-D60575997B0B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8CD96050-6FD3-6D4E-23AE-F1C333B875AC}"/>
              </a:ext>
            </a:extLst>
          </p:cNvPr>
          <p:cNvSpPr/>
          <p:nvPr/>
        </p:nvSpPr>
        <p:spPr>
          <a:xfrm>
            <a:off x="-766" y="317921"/>
            <a:ext cx="684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31568C67-4688-F84D-0E55-CA6D0C343ED2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L 도형 7">
            <a:extLst>
              <a:ext uri="{FF2B5EF4-FFF2-40B4-BE49-F238E27FC236}">
                <a16:creationId xmlns:a16="http://schemas.microsoft.com/office/drawing/2014/main" id="{366A52A5-70D0-7102-FF91-436F36AB2423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L 도형 8">
            <a:extLst>
              <a:ext uri="{FF2B5EF4-FFF2-40B4-BE49-F238E27FC236}">
                <a16:creationId xmlns:a16="http://schemas.microsoft.com/office/drawing/2014/main" id="{C5D3C134-DAE7-582F-17DD-A51860D3A19B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ED8C13AE-58CC-AB73-2319-A77D93DB84A2}"/>
              </a:ext>
            </a:extLst>
          </p:cNvPr>
          <p:cNvSpPr txBox="1">
            <a:spLocks/>
          </p:cNvSpPr>
          <p:nvPr/>
        </p:nvSpPr>
        <p:spPr>
          <a:xfrm>
            <a:off x="-63341" y="60556"/>
            <a:ext cx="7804426" cy="12898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개발목표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B341B19-5870-107F-C75D-E896A92B33F9}"/>
              </a:ext>
            </a:extLst>
          </p:cNvPr>
          <p:cNvSpPr/>
          <p:nvPr/>
        </p:nvSpPr>
        <p:spPr>
          <a:xfrm>
            <a:off x="-766" y="1059394"/>
            <a:ext cx="684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EC49A65-75BE-4E83-550F-AC2B7362D9AB}"/>
              </a:ext>
            </a:extLst>
          </p:cNvPr>
          <p:cNvSpPr/>
          <p:nvPr/>
        </p:nvSpPr>
        <p:spPr>
          <a:xfrm>
            <a:off x="673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C22C2BEC-F8F5-CD3B-3C01-477C6B69F2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973925" cy="4351338"/>
          </a:xfrm>
        </p:spPr>
        <p:txBody>
          <a:bodyPr>
            <a:normAutofit lnSpcReduction="10000"/>
          </a:bodyPr>
          <a:lstStyle/>
          <a:p>
            <a:r>
              <a:rPr lang="en-US" altLang="ko-KR" b="1" dirty="0"/>
              <a:t>01. </a:t>
            </a:r>
            <a:r>
              <a:rPr lang="ko-KR" altLang="en-US" b="1" dirty="0"/>
              <a:t>예약 의사결정 지원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AI </a:t>
            </a:r>
            <a:r>
              <a:rPr lang="ko-KR" altLang="en-US" dirty="0"/>
              <a:t>기반 취소 확률 예측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실시간 예약 모니터링 제공 </a:t>
            </a:r>
          </a:p>
          <a:p>
            <a:r>
              <a:rPr lang="en-US" altLang="ko-KR" b="1" dirty="0"/>
              <a:t>02. </a:t>
            </a:r>
            <a:r>
              <a:rPr lang="ko-KR" altLang="en-US" b="1" dirty="0"/>
              <a:t>공간 운영 효율화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 err="1"/>
              <a:t>노쇼</a:t>
            </a:r>
            <a:r>
              <a:rPr lang="ko-KR" altLang="en-US" dirty="0"/>
              <a:t> 및 </a:t>
            </a:r>
            <a:r>
              <a:rPr lang="ko-KR" altLang="en-US" dirty="0" err="1"/>
              <a:t>자리비움</a:t>
            </a:r>
            <a:r>
              <a:rPr lang="ko-KR" altLang="en-US" dirty="0"/>
              <a:t> 자동 판별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공간 활용 데이터 확보 </a:t>
            </a:r>
          </a:p>
          <a:p>
            <a:r>
              <a:rPr lang="en-US" altLang="ko-KR" b="1" dirty="0"/>
              <a:t>03. </a:t>
            </a:r>
            <a:r>
              <a:rPr lang="ko-KR" altLang="en-US" b="1" dirty="0"/>
              <a:t>고객 및 직원 응대 자동화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호텔 규정 안내 </a:t>
            </a:r>
            <a:r>
              <a:rPr lang="ko-KR" altLang="en-US" dirty="0" err="1"/>
              <a:t>챗봇</a:t>
            </a:r>
            <a:r>
              <a:rPr lang="ko-KR" altLang="en-US" dirty="0"/>
              <a:t> 제공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매뉴얼 검색 자동화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80855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27BDC17-BF29-4E47-CBE6-D60575997B0B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8CD96050-6FD3-6D4E-23AE-F1C333B875AC}"/>
              </a:ext>
            </a:extLst>
          </p:cNvPr>
          <p:cNvSpPr/>
          <p:nvPr/>
        </p:nvSpPr>
        <p:spPr>
          <a:xfrm>
            <a:off x="-766" y="317921"/>
            <a:ext cx="684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31568C67-4688-F84D-0E55-CA6D0C343ED2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L 도형 7">
            <a:extLst>
              <a:ext uri="{FF2B5EF4-FFF2-40B4-BE49-F238E27FC236}">
                <a16:creationId xmlns:a16="http://schemas.microsoft.com/office/drawing/2014/main" id="{366A52A5-70D0-7102-FF91-436F36AB2423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L 도형 8">
            <a:extLst>
              <a:ext uri="{FF2B5EF4-FFF2-40B4-BE49-F238E27FC236}">
                <a16:creationId xmlns:a16="http://schemas.microsoft.com/office/drawing/2014/main" id="{C5D3C134-DAE7-582F-17DD-A51860D3A19B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ED8C13AE-58CC-AB73-2319-A77D93DB84A2}"/>
              </a:ext>
            </a:extLst>
          </p:cNvPr>
          <p:cNvSpPr txBox="1">
            <a:spLocks/>
          </p:cNvSpPr>
          <p:nvPr/>
        </p:nvSpPr>
        <p:spPr>
          <a:xfrm>
            <a:off x="-63341" y="60556"/>
            <a:ext cx="7804426" cy="12898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사용기술 목록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B341B19-5870-107F-C75D-E896A92B33F9}"/>
              </a:ext>
            </a:extLst>
          </p:cNvPr>
          <p:cNvSpPr/>
          <p:nvPr/>
        </p:nvSpPr>
        <p:spPr>
          <a:xfrm>
            <a:off x="-766" y="1059394"/>
            <a:ext cx="684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EC49A65-75BE-4E83-550F-AC2B7362D9AB}"/>
              </a:ext>
            </a:extLst>
          </p:cNvPr>
          <p:cNvSpPr/>
          <p:nvPr/>
        </p:nvSpPr>
        <p:spPr>
          <a:xfrm>
            <a:off x="673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C22C2BEC-F8F5-CD3B-3C01-477C6B69F2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659776" cy="4351338"/>
          </a:xfrm>
        </p:spPr>
        <p:txBody>
          <a:bodyPr>
            <a:normAutofit fontScale="32500" lnSpcReduction="20000"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언어 및 프레임워크 </a:t>
            </a:r>
            <a:r>
              <a:rPr lang="en-US" altLang="ko-KR" b="1" dirty="0"/>
              <a:t>(Languages &amp; Frameworks)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Python</a:t>
            </a:r>
            <a:r>
              <a:rPr lang="en-US" altLang="ko-KR" dirty="0"/>
              <a:t> — v3.11.9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Flask</a:t>
            </a:r>
            <a:r>
              <a:rPr lang="en-US" altLang="ko-KR" dirty="0"/>
              <a:t> — v3.0.3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HTML5 / CSS3 / JavaScript</a:t>
            </a:r>
            <a:endParaRPr lang="en-US" altLang="ko-KR" dirty="0"/>
          </a:p>
          <a:p>
            <a:r>
              <a:rPr lang="en-US" altLang="ko-KR" b="1" dirty="0"/>
              <a:t>2. </a:t>
            </a:r>
            <a:r>
              <a:rPr lang="ko-KR" altLang="en-US" b="1" dirty="0"/>
              <a:t>데이터베이스 및 연동 </a:t>
            </a:r>
            <a:r>
              <a:rPr lang="en-US" altLang="ko-KR" b="1" dirty="0"/>
              <a:t>(Database &amp; Connectors)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Oracle Database Express Edition</a:t>
            </a:r>
            <a:r>
              <a:rPr lang="en-US" altLang="ko-KR" dirty="0"/>
              <a:t> — 11g Release 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Oracle Instant Client</a:t>
            </a:r>
            <a:r>
              <a:rPr lang="en-US" altLang="ko-KR" dirty="0"/>
              <a:t> — v19.25.0.0.0 (Thick Mode </a:t>
            </a:r>
            <a:r>
              <a:rPr lang="ko-KR" altLang="en-US" dirty="0"/>
              <a:t>지원</a:t>
            </a:r>
            <a:r>
              <a:rPr lang="en-US" altLang="ko-KR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 err="1"/>
              <a:t>oracledb</a:t>
            </a:r>
            <a:r>
              <a:rPr lang="en-US" altLang="ko-KR" b="1" dirty="0"/>
              <a:t> (Python Library)</a:t>
            </a:r>
            <a:r>
              <a:rPr lang="en-US" altLang="ko-KR" dirty="0"/>
              <a:t> — v1.4.2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SQL Developer</a:t>
            </a:r>
            <a:r>
              <a:rPr lang="en-US" altLang="ko-KR" dirty="0"/>
              <a:t> — v19.2.1</a:t>
            </a:r>
          </a:p>
          <a:p>
            <a:r>
              <a:rPr lang="en-US" altLang="ko-KR" b="1" dirty="0"/>
              <a:t>3. </a:t>
            </a:r>
            <a:r>
              <a:rPr lang="ko-KR" altLang="en-US" b="1" dirty="0"/>
              <a:t>데이터 분석 및 </a:t>
            </a:r>
            <a:r>
              <a:rPr lang="ko-KR" altLang="en-US" b="1" dirty="0" err="1"/>
              <a:t>머신러닝</a:t>
            </a:r>
            <a:r>
              <a:rPr lang="ko-KR" altLang="en-US" b="1" dirty="0"/>
              <a:t> </a:t>
            </a:r>
            <a:r>
              <a:rPr lang="en-US" altLang="ko-KR" b="1" dirty="0"/>
              <a:t>(Data Science &amp; Machine Learning)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scikit-learn</a:t>
            </a:r>
            <a:r>
              <a:rPr lang="en-US" altLang="ko-KR" dirty="0"/>
              <a:t> — v1.8.0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pandas</a:t>
            </a:r>
            <a:r>
              <a:rPr lang="en-US" altLang="ko-KR" dirty="0"/>
              <a:t> — v3.0.3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 err="1"/>
              <a:t>numpy</a:t>
            </a:r>
            <a:r>
              <a:rPr lang="en-US" altLang="ko-KR" dirty="0"/>
              <a:t> — v2.4.4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 err="1"/>
              <a:t>scipy</a:t>
            </a:r>
            <a:r>
              <a:rPr lang="en-US" altLang="ko-KR" dirty="0"/>
              <a:t> — v1.17.1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 err="1"/>
              <a:t>joblib</a:t>
            </a:r>
            <a:r>
              <a:rPr lang="en-US" altLang="ko-KR" dirty="0"/>
              <a:t> — v1.5.3</a:t>
            </a:r>
          </a:p>
          <a:p>
            <a:r>
              <a:rPr lang="en-US" altLang="ko-KR" b="1" dirty="0"/>
              <a:t>4. </a:t>
            </a:r>
            <a:r>
              <a:rPr lang="ko-KR" altLang="en-US" b="1" dirty="0"/>
              <a:t>개발 도구 </a:t>
            </a:r>
            <a:r>
              <a:rPr lang="en-US" altLang="ko-KR" b="1" dirty="0"/>
              <a:t>(Development Tools)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PyCharm Professional</a:t>
            </a:r>
            <a:r>
              <a:rPr lang="en-US" altLang="ko-KR" dirty="0"/>
              <a:t> — v2025.3.3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Java Development Kit (JDK)</a:t>
            </a:r>
            <a:r>
              <a:rPr lang="en-US" altLang="ko-KR" dirty="0"/>
              <a:t> — v11.0.23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8329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27BDC17-BF29-4E47-CBE6-D60575997B0B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8CD96050-6FD3-6D4E-23AE-F1C333B875AC}"/>
              </a:ext>
            </a:extLst>
          </p:cNvPr>
          <p:cNvSpPr/>
          <p:nvPr/>
        </p:nvSpPr>
        <p:spPr>
          <a:xfrm>
            <a:off x="-766" y="317921"/>
            <a:ext cx="684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31568C67-4688-F84D-0E55-CA6D0C343ED2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L 도형 7">
            <a:extLst>
              <a:ext uri="{FF2B5EF4-FFF2-40B4-BE49-F238E27FC236}">
                <a16:creationId xmlns:a16="http://schemas.microsoft.com/office/drawing/2014/main" id="{366A52A5-70D0-7102-FF91-436F36AB2423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L 도형 8">
            <a:extLst>
              <a:ext uri="{FF2B5EF4-FFF2-40B4-BE49-F238E27FC236}">
                <a16:creationId xmlns:a16="http://schemas.microsoft.com/office/drawing/2014/main" id="{C5D3C134-DAE7-582F-17DD-A51860D3A19B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ED8C13AE-58CC-AB73-2319-A77D93DB84A2}"/>
              </a:ext>
            </a:extLst>
          </p:cNvPr>
          <p:cNvSpPr txBox="1">
            <a:spLocks/>
          </p:cNvSpPr>
          <p:nvPr/>
        </p:nvSpPr>
        <p:spPr>
          <a:xfrm>
            <a:off x="-63341" y="60556"/>
            <a:ext cx="7804426" cy="12898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사용기술 경험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B341B19-5870-107F-C75D-E896A92B33F9}"/>
              </a:ext>
            </a:extLst>
          </p:cNvPr>
          <p:cNvSpPr/>
          <p:nvPr/>
        </p:nvSpPr>
        <p:spPr>
          <a:xfrm>
            <a:off x="-766" y="1059394"/>
            <a:ext cx="684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EC49A65-75BE-4E83-550F-AC2B7362D9AB}"/>
              </a:ext>
            </a:extLst>
          </p:cNvPr>
          <p:cNvSpPr/>
          <p:nvPr/>
        </p:nvSpPr>
        <p:spPr>
          <a:xfrm>
            <a:off x="673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DFF77BE-D210-87F7-804F-A672093E61F9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910570" y="1922612"/>
            <a:ext cx="2666008" cy="40318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#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Machine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&amp; Data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Science</a:t>
            </a:r>
            <a:endParaRPr kumimoji="0" lang="ko-KR" altLang="ko-KR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Supervised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(지도학습)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RandomForestClassifier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Preprocessing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전처리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Feature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Importance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(변수 중요도 분석)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Manipulation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&amp;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Analytics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(데이터 핸들링)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pandas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/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numpy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/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scipy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joblib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#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Database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&amp;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System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Integration</a:t>
            </a:r>
            <a:endParaRPr kumimoji="0" lang="ko-KR" altLang="ko-KR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Database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Operations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(Oracle 11g)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Oracle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Instant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Client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Thick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oracledb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Architecture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Flask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Flask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Router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@app.route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&amp; API 구현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api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chart-data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(GET) </a:t>
            </a:r>
            <a:endParaRPr kumimoji="0" lang="en-US" altLang="ko-KR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api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predict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(POST):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api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reserve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(POST):</a:t>
            </a:r>
            <a:endParaRPr kumimoji="0" lang="ko-KR" altLang="ko-KR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Asynchronous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Action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(비동기 통신)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JavaScript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Fetch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API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Dynamic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Chart.js (시각화)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#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Python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Core</a:t>
            </a: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Development</a:t>
            </a:r>
            <a:endParaRPr kumimoji="0" lang="ko-KR" altLang="ko-KR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파일 입출력 및 환경 관리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db_config.py / upload_to_oracle.py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C37DDE3-176A-546B-EFC8-AB8FF4D0D4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73226" y="2010362"/>
            <a:ext cx="3419766" cy="3724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800" b="1" dirty="0"/>
              <a:t>#</a:t>
            </a:r>
            <a:r>
              <a:rPr lang="ko-KR" altLang="en-US" sz="800" b="1" dirty="0"/>
              <a:t> </a:t>
            </a:r>
            <a:r>
              <a:rPr lang="en-US" altLang="ko-KR" sz="800" b="1" dirty="0"/>
              <a:t>Deep Learning &amp; Computer Vision</a:t>
            </a:r>
          </a:p>
          <a:p>
            <a:r>
              <a:rPr lang="en-US" altLang="ko-KR" sz="800" b="1" dirty="0"/>
              <a:t>Neural Networks (</a:t>
            </a:r>
            <a:r>
              <a:rPr lang="ko-KR" altLang="en-US" sz="800" b="1" dirty="0"/>
              <a:t>신경망 구조</a:t>
            </a:r>
            <a:r>
              <a:rPr lang="en-US" altLang="ko-KR" sz="8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800" b="1" dirty="0"/>
              <a:t>CNN (Convolutional Neural Network)</a:t>
            </a:r>
            <a:r>
              <a:rPr lang="ko-KR" altLang="en-US" sz="800" dirty="0"/>
              <a:t> </a:t>
            </a:r>
            <a:endParaRPr lang="en-US" altLang="ko-KR" sz="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800" b="1" dirty="0"/>
              <a:t>YOLOv11 (You Only Look Once v11)</a:t>
            </a:r>
            <a:r>
              <a:rPr lang="ko-KR" altLang="en-US" sz="800" dirty="0"/>
              <a:t> </a:t>
            </a:r>
          </a:p>
          <a:p>
            <a:r>
              <a:rPr lang="en-US" altLang="ko-KR" sz="800" b="1" dirty="0"/>
              <a:t>Multi-Class Detection (</a:t>
            </a:r>
            <a:r>
              <a:rPr lang="ko-KR" altLang="en-US" sz="800" b="1" dirty="0"/>
              <a:t>다중 객체 인식</a:t>
            </a:r>
            <a:r>
              <a:rPr lang="en-US" altLang="ko-KR" sz="8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800" b="1" dirty="0"/>
              <a:t>Person, Laptop, Bag </a:t>
            </a:r>
            <a:r>
              <a:rPr lang="ko-KR" altLang="en-US" sz="800" b="1" dirty="0"/>
              <a:t>동시 인식</a:t>
            </a:r>
            <a:r>
              <a:rPr lang="ko-KR" altLang="en-US" sz="800" dirty="0"/>
              <a:t> </a:t>
            </a:r>
          </a:p>
          <a:p>
            <a:r>
              <a:rPr lang="en-US" altLang="ko-KR" sz="800" b="1" dirty="0"/>
              <a:t>#</a:t>
            </a:r>
            <a:r>
              <a:rPr lang="ko-KR" altLang="en-US" sz="800" b="1" dirty="0"/>
              <a:t> </a:t>
            </a:r>
            <a:r>
              <a:rPr lang="en-US" altLang="ko-KR" sz="800" b="1" dirty="0"/>
              <a:t>Business Logic &amp; Server Integration</a:t>
            </a:r>
          </a:p>
          <a:p>
            <a:r>
              <a:rPr lang="en-US" altLang="ko-KR" sz="800" b="1" dirty="0"/>
              <a:t>Conditional Recognition Logic (</a:t>
            </a:r>
            <a:r>
              <a:rPr lang="ko-KR" altLang="en-US" sz="800" b="1" dirty="0"/>
              <a:t>조건부 인지 로직</a:t>
            </a:r>
            <a:r>
              <a:rPr lang="en-US" altLang="ko-KR" sz="8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800" b="1" dirty="0"/>
              <a:t>객체 간 관계 분석 알고리즘 설계</a:t>
            </a:r>
            <a:r>
              <a:rPr lang="ko-KR" altLang="en-US" sz="8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800" b="1" dirty="0" err="1"/>
              <a:t>노쇼</a:t>
            </a:r>
            <a:r>
              <a:rPr lang="en-US" altLang="ko-KR" sz="800" b="1" dirty="0"/>
              <a:t>(No-Show)</a:t>
            </a:r>
            <a:r>
              <a:rPr lang="en-US" altLang="ko-KR" sz="800" dirty="0"/>
              <a:t> / </a:t>
            </a:r>
            <a:r>
              <a:rPr lang="ko-KR" altLang="en-US" sz="800" b="1" dirty="0" err="1"/>
              <a:t>자리비움</a:t>
            </a:r>
            <a:r>
              <a:rPr lang="en-US" altLang="ko-KR" sz="800" b="1" dirty="0"/>
              <a:t> / </a:t>
            </a:r>
            <a:r>
              <a:rPr lang="ko-KR" altLang="en-US" sz="800" b="1" dirty="0"/>
              <a:t>이용률 저조</a:t>
            </a:r>
            <a:endParaRPr lang="en-US" altLang="ko-KR" sz="800" dirty="0"/>
          </a:p>
          <a:p>
            <a:pPr marL="285750" indent="-285750"/>
            <a:r>
              <a:rPr lang="en-US" altLang="ko-KR" sz="800" b="1" dirty="0"/>
              <a:t>Backend Infrastructure &amp; Communication (</a:t>
            </a:r>
            <a:r>
              <a:rPr lang="ko-KR" altLang="en-US" sz="800" b="1" dirty="0"/>
              <a:t>네트워크 및 통신</a:t>
            </a:r>
            <a:r>
              <a:rPr lang="en-US" altLang="ko-KR" sz="8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800" b="1" dirty="0"/>
              <a:t>RESTful API </a:t>
            </a:r>
            <a:r>
              <a:rPr lang="ko-KR" altLang="en-US" sz="800" b="1" dirty="0"/>
              <a:t>아키텍처</a:t>
            </a:r>
            <a:r>
              <a:rPr lang="ko-KR" altLang="en-US" sz="8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800" b="1" dirty="0"/>
              <a:t>Scalable Architecture (</a:t>
            </a:r>
            <a:r>
              <a:rPr lang="ko-KR" altLang="en-US" sz="800" b="1" dirty="0"/>
              <a:t>확장성 설계</a:t>
            </a:r>
            <a:r>
              <a:rPr lang="en-US" altLang="ko-KR" sz="800" b="1" dirty="0"/>
              <a:t>)</a:t>
            </a:r>
            <a:r>
              <a:rPr lang="ko-KR" altLang="en-US" sz="800" dirty="0"/>
              <a:t> </a:t>
            </a:r>
          </a:p>
          <a:p>
            <a:r>
              <a:rPr lang="en-US" altLang="ko-KR" sz="800" b="1" dirty="0"/>
              <a:t>#</a:t>
            </a:r>
            <a:r>
              <a:rPr lang="ko-KR" altLang="en-US" sz="800" b="1" dirty="0"/>
              <a:t> </a:t>
            </a:r>
            <a:r>
              <a:rPr lang="en-US" altLang="ko-KR" sz="800" b="1" dirty="0"/>
              <a:t>Performance Optimization (</a:t>
            </a:r>
            <a:r>
              <a:rPr lang="ko-KR" altLang="en-US" sz="800" b="1" dirty="0" err="1"/>
              <a:t>비기능</a:t>
            </a:r>
            <a:r>
              <a:rPr lang="ko-KR" altLang="en-US" sz="800" b="1" dirty="0"/>
              <a:t> 성능</a:t>
            </a:r>
            <a:r>
              <a:rPr lang="en-US" altLang="ko-KR" sz="800" b="1" dirty="0"/>
              <a:t>)</a:t>
            </a:r>
          </a:p>
          <a:p>
            <a:r>
              <a:rPr lang="ko-KR" altLang="en-US" sz="800" b="1" dirty="0"/>
              <a:t>실시간성 확보 </a:t>
            </a:r>
            <a:r>
              <a:rPr lang="en-US" altLang="ko-KR" sz="800" b="1" dirty="0"/>
              <a:t>(Latency Control)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800" b="1" dirty="0"/>
              <a:t>1</a:t>
            </a:r>
            <a:r>
              <a:rPr lang="ko-KR" altLang="en-US" sz="800" b="1" dirty="0"/>
              <a:t>초 이내 지연 시간</a:t>
            </a:r>
            <a:r>
              <a:rPr lang="en-US" altLang="ko-KR" sz="800" b="1" dirty="0"/>
              <a:t>(Latency </a:t>
            </a:r>
            <a:r>
              <a:rPr lang="ko-KR" altLang="en-US" sz="800" b="1" dirty="0"/>
              <a:t>＜ </a:t>
            </a:r>
            <a:r>
              <a:rPr lang="en-US" altLang="ko-KR" sz="800" b="1" dirty="0"/>
              <a:t>1s) </a:t>
            </a:r>
            <a:r>
              <a:rPr lang="ko-KR" altLang="en-US" sz="800" b="1" dirty="0"/>
              <a:t>달성</a:t>
            </a:r>
            <a:r>
              <a:rPr lang="ko-KR" altLang="en-US" sz="800" dirty="0"/>
              <a:t> 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F1D5DD4B-7C12-E238-04DF-F49CFB0268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65844" y="1893417"/>
            <a:ext cx="3037162" cy="37887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800" b="1" dirty="0"/>
              <a:t>#</a:t>
            </a:r>
            <a:r>
              <a:rPr lang="ko-KR" altLang="en-US" sz="800" b="1" dirty="0"/>
              <a:t> </a:t>
            </a:r>
            <a:r>
              <a:rPr lang="en-US" altLang="ko-KR" sz="800" b="1" dirty="0"/>
              <a:t>Natural Language Processing &amp; Generative AI</a:t>
            </a:r>
          </a:p>
          <a:p>
            <a:r>
              <a:rPr lang="en-US" altLang="ko-KR" sz="800" b="1" dirty="0"/>
              <a:t>LLM &amp; Applications (</a:t>
            </a:r>
            <a:r>
              <a:rPr lang="ko-KR" altLang="en-US" sz="800" b="1" dirty="0"/>
              <a:t>대형 언어 모델 및 응용</a:t>
            </a:r>
            <a:r>
              <a:rPr lang="en-US" altLang="ko-KR" sz="8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800" b="1" dirty="0"/>
              <a:t>SLM (Small Language Model / </a:t>
            </a:r>
            <a:r>
              <a:rPr lang="ko-KR" altLang="en-US" sz="800" b="1" dirty="0"/>
              <a:t>소형 언어 모델</a:t>
            </a:r>
            <a:r>
              <a:rPr lang="en-US" altLang="ko-KR" sz="800" b="1" dirty="0"/>
              <a:t>)</a:t>
            </a:r>
            <a:r>
              <a:rPr lang="ko-KR" altLang="en-US" sz="8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800" b="1" dirty="0"/>
              <a:t>Hugging Face Transformers</a:t>
            </a:r>
            <a:r>
              <a:rPr lang="ko-KR" altLang="en-US" sz="800" dirty="0"/>
              <a:t> </a:t>
            </a:r>
          </a:p>
          <a:p>
            <a:r>
              <a:rPr lang="en-US" altLang="ko-KR" sz="800" b="1" dirty="0"/>
              <a:t>NLP Pipeline (</a:t>
            </a:r>
            <a:r>
              <a:rPr lang="ko-KR" altLang="en-US" sz="800" b="1" dirty="0"/>
              <a:t>자연어 처리 파이프라인</a:t>
            </a:r>
            <a:r>
              <a:rPr lang="en-US" altLang="ko-KR" sz="8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800" b="1" dirty="0"/>
              <a:t>NER (Named Entity Recognition / </a:t>
            </a:r>
            <a:r>
              <a:rPr lang="ko-KR" altLang="en-US" sz="800" b="1" dirty="0" err="1"/>
              <a:t>개체명</a:t>
            </a:r>
            <a:r>
              <a:rPr lang="ko-KR" altLang="en-US" sz="800" b="1" dirty="0"/>
              <a:t> 인식</a:t>
            </a:r>
            <a:r>
              <a:rPr lang="en-US" altLang="ko-KR" sz="800" b="1" dirty="0"/>
              <a:t>)</a:t>
            </a:r>
            <a:r>
              <a:rPr lang="ko-KR" altLang="en-US" sz="8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800" b="1" dirty="0" err="1"/>
              <a:t>QnA</a:t>
            </a:r>
            <a:r>
              <a:rPr lang="en-US" altLang="ko-KR" sz="800" b="1" dirty="0"/>
              <a:t> (Question Answering) System</a:t>
            </a:r>
            <a:r>
              <a:rPr lang="ko-KR" altLang="en-US" sz="800" dirty="0"/>
              <a:t> </a:t>
            </a:r>
          </a:p>
          <a:p>
            <a:r>
              <a:rPr lang="en-US" altLang="ko-KR" sz="800" b="1" dirty="0"/>
              <a:t>#</a:t>
            </a:r>
            <a:r>
              <a:rPr lang="ko-KR" altLang="en-US" sz="800" b="1" dirty="0"/>
              <a:t> </a:t>
            </a:r>
            <a:r>
              <a:rPr lang="en-US" altLang="ko-KR" sz="800" b="1" dirty="0"/>
              <a:t>Safety &amp; Security Engineering (</a:t>
            </a:r>
            <a:r>
              <a:rPr lang="ko-KR" altLang="en-US" sz="800" b="1" dirty="0"/>
              <a:t>신뢰성 및 보안</a:t>
            </a:r>
            <a:r>
              <a:rPr lang="en-US" altLang="ko-KR" sz="800" b="1" dirty="0"/>
              <a:t>)</a:t>
            </a:r>
          </a:p>
          <a:p>
            <a:r>
              <a:rPr lang="en-US" altLang="ko-KR" sz="800" b="1" dirty="0"/>
              <a:t>Hallucination Control (</a:t>
            </a:r>
            <a:r>
              <a:rPr lang="ko-KR" altLang="en-US" sz="800" b="1" dirty="0"/>
              <a:t>환각 현상 제어</a:t>
            </a:r>
            <a:r>
              <a:rPr lang="en-US" altLang="ko-KR" sz="8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800" b="1" dirty="0"/>
              <a:t>규정 기반 팩트 </a:t>
            </a:r>
            <a:r>
              <a:rPr lang="ko-KR" altLang="en-US" sz="800" b="1" dirty="0" err="1"/>
              <a:t>체킹</a:t>
            </a:r>
            <a:r>
              <a:rPr lang="ko-KR" altLang="en-US" sz="800" b="1" dirty="0"/>
              <a:t> </a:t>
            </a:r>
            <a:r>
              <a:rPr lang="en-US" altLang="ko-KR" sz="800" b="1" dirty="0"/>
              <a:t>(Fact Checking)</a:t>
            </a:r>
            <a:r>
              <a:rPr lang="ko-KR" altLang="en-US" sz="8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800" b="1" dirty="0"/>
              <a:t>방어형 예외 처리 </a:t>
            </a:r>
            <a:r>
              <a:rPr lang="en-US" altLang="ko-KR" sz="800" b="1" dirty="0"/>
              <a:t>(Exception Handling)</a:t>
            </a:r>
            <a:r>
              <a:rPr lang="ko-KR" altLang="en-US" sz="800" dirty="0"/>
              <a:t> </a:t>
            </a:r>
          </a:p>
          <a:p>
            <a:r>
              <a:rPr lang="en-US" altLang="ko-KR" sz="800" b="1" dirty="0"/>
              <a:t>Data Sovereignty (</a:t>
            </a:r>
            <a:r>
              <a:rPr lang="ko-KR" altLang="en-US" sz="800" b="1" dirty="0"/>
              <a:t>데이터 독립성 및 보안</a:t>
            </a:r>
            <a:r>
              <a:rPr lang="en-US" altLang="ko-KR" sz="8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800" b="1" dirty="0"/>
              <a:t>On-Premise / </a:t>
            </a:r>
            <a:r>
              <a:rPr lang="ko-KR" altLang="en-US" sz="800" b="1" dirty="0"/>
              <a:t>로컬 환경 추론</a:t>
            </a:r>
            <a:r>
              <a:rPr lang="ko-KR" altLang="en-US" sz="800" dirty="0"/>
              <a:t> </a:t>
            </a:r>
          </a:p>
          <a:p>
            <a:r>
              <a:rPr lang="en-US" altLang="ko-KR" sz="800" b="1" dirty="0"/>
              <a:t>Context Management (</a:t>
            </a:r>
            <a:r>
              <a:rPr lang="ko-KR" altLang="en-US" sz="800" b="1" dirty="0"/>
              <a:t>대화 흐름 관리</a:t>
            </a:r>
            <a:r>
              <a:rPr lang="en-US" altLang="ko-KR" sz="8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800" b="1" dirty="0"/>
              <a:t>가벼운 컨텍스트 유지 기능</a:t>
            </a:r>
            <a:r>
              <a:rPr lang="ko-KR" altLang="en-US" sz="800" dirty="0"/>
              <a:t> </a:t>
            </a:r>
          </a:p>
          <a:p>
            <a:pPr marL="0" indent="0">
              <a:buNone/>
            </a:pP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4052761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7" y="317921"/>
            <a:ext cx="3239999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324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3131233" y="1059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개발스케줄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D39B9A3-757B-50E1-CAC6-3407243AD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898" y="1631124"/>
            <a:ext cx="5753100" cy="389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739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7" y="317921"/>
            <a:ext cx="3239999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324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3131233" y="1059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요구사항 정의서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241B492-0CB0-DC36-958F-8876D73A238B}"/>
              </a:ext>
            </a:extLst>
          </p:cNvPr>
          <p:cNvGraphicFramePr>
            <a:graphicFrameLocks noGrp="1"/>
          </p:cNvGraphicFramePr>
          <p:nvPr/>
        </p:nvGraphicFramePr>
        <p:xfrm>
          <a:off x="3101562" y="1825625"/>
          <a:ext cx="5988876" cy="4351338"/>
        </p:xfrm>
        <a:graphic>
          <a:graphicData uri="http://schemas.openxmlformats.org/drawingml/2006/table">
            <a:tbl>
              <a:tblPr/>
              <a:tblGrid>
                <a:gridCol w="1497219">
                  <a:extLst>
                    <a:ext uri="{9D8B030D-6E8A-4147-A177-3AD203B41FA5}">
                      <a16:colId xmlns:a16="http://schemas.microsoft.com/office/drawing/2014/main" val="1365139266"/>
                    </a:ext>
                  </a:extLst>
                </a:gridCol>
                <a:gridCol w="1497219">
                  <a:extLst>
                    <a:ext uri="{9D8B030D-6E8A-4147-A177-3AD203B41FA5}">
                      <a16:colId xmlns:a16="http://schemas.microsoft.com/office/drawing/2014/main" val="1452505922"/>
                    </a:ext>
                  </a:extLst>
                </a:gridCol>
                <a:gridCol w="1497219">
                  <a:extLst>
                    <a:ext uri="{9D8B030D-6E8A-4147-A177-3AD203B41FA5}">
                      <a16:colId xmlns:a16="http://schemas.microsoft.com/office/drawing/2014/main" val="1790792719"/>
                    </a:ext>
                  </a:extLst>
                </a:gridCol>
                <a:gridCol w="1497219">
                  <a:extLst>
                    <a:ext uri="{9D8B030D-6E8A-4147-A177-3AD203B41FA5}">
                      <a16:colId xmlns:a16="http://schemas.microsoft.com/office/drawing/2014/main" val="3821103449"/>
                    </a:ext>
                  </a:extLst>
                </a:gridCol>
              </a:tblGrid>
              <a:tr h="370327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요구사항 </a:t>
                      </a:r>
                      <a:r>
                        <a:rPr lang="en-US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ID</a:t>
                      </a:r>
                      <a:endParaRPr lang="en-US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분류</a:t>
                      </a:r>
                      <a:endParaRPr lang="ko-KR" altLang="en-US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요구사항 명칭</a:t>
                      </a:r>
                      <a:endParaRPr lang="ko-KR" altLang="en-US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상세 명세 </a:t>
                      </a:r>
                      <a:r>
                        <a:rPr lang="en-US" altLang="ko-KR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 및 제약조건</a:t>
                      </a:r>
                      <a:r>
                        <a:rPr lang="en-US" altLang="ko-KR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endParaRPr lang="ko-KR" altLang="en-US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9607631"/>
                  </a:ext>
                </a:extLst>
              </a:tr>
              <a:tr h="995253">
                <a:tc>
                  <a:txBody>
                    <a:bodyPr/>
                    <a:lstStyle/>
                    <a:p>
                      <a:pPr rtl="0"/>
                      <a:r>
                        <a:rPr lang="en-US" sz="1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REQ-ML-01</a:t>
                      </a:r>
                      <a:endParaRPr lang="en-US" sz="1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실시간 취소율 예측 기능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사용자가 </a:t>
                      </a:r>
                      <a:r>
                        <a:rPr lang="en-US" altLang="ko-KR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</a:t>
                      </a:r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가지 핵심 변수</a:t>
                      </a:r>
                      <a:r>
                        <a:rPr lang="en-US" altLang="ko-KR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(lead time, country </a:t>
                      </a:r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등</a:t>
                      </a:r>
                      <a:r>
                        <a:rPr lang="en-US" altLang="ko-KR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변경할 때마다 </a:t>
                      </a:r>
                      <a:r>
                        <a:rPr lang="en-US" altLang="ko-KR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AI </a:t>
                      </a:r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모델이 </a:t>
                      </a:r>
                      <a:r>
                        <a:rPr lang="en-US" altLang="ko-KR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is_canceled </a:t>
                      </a:r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확률을 실시간으로 계산하여 반환해야 함</a:t>
                      </a:r>
                      <a:r>
                        <a:rPr lang="en-US" altLang="ko-KR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8755778"/>
                  </a:ext>
                </a:extLst>
              </a:tr>
              <a:tr h="839021">
                <a:tc>
                  <a:txBody>
                    <a:bodyPr/>
                    <a:lstStyle/>
                    <a:p>
                      <a:pPr rtl="0"/>
                      <a:r>
                        <a:rPr lang="en-US" sz="1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REQ-ML-02</a:t>
                      </a:r>
                      <a:endParaRPr lang="en-US" sz="1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비동기 대시보드 연동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화면 전체의 </a:t>
                      </a:r>
                      <a:r>
                        <a:rPr lang="ko-KR" altLang="en-US" sz="10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새로고침</a:t>
                      </a:r>
                      <a:r>
                        <a:rPr lang="ko-KR" altLang="en-US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없이 </a:t>
                      </a:r>
                      <a:r>
                        <a:rPr lang="en-US" altLang="ko-KR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Fetch API</a:t>
                      </a:r>
                      <a:r>
                        <a:rPr lang="ko-KR" altLang="en-US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통해 실시간 예측 데이터가 그래프</a:t>
                      </a:r>
                      <a:r>
                        <a:rPr lang="en-US" altLang="ko-KR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(Chart.js)</a:t>
                      </a:r>
                      <a:r>
                        <a:rPr lang="ko-KR" altLang="en-US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에 즉각 반영되어야 함</a:t>
                      </a:r>
                      <a:r>
                        <a:rPr lang="en-US" altLang="ko-KR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921024"/>
                  </a:ext>
                </a:extLst>
              </a:tr>
              <a:tr h="1151484">
                <a:tc>
                  <a:txBody>
                    <a:bodyPr/>
                    <a:lstStyle/>
                    <a:p>
                      <a:pPr rtl="0"/>
                      <a:r>
                        <a:rPr lang="en-US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REQ-ML-03</a:t>
                      </a:r>
                      <a:endParaRPr lang="en-US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예약 취소 및 가중치 반영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예약 내역 검색 후 </a:t>
                      </a:r>
                      <a:r>
                        <a:rPr lang="en-US" altLang="ko-KR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[</a:t>
                      </a:r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예약 취소</a:t>
                      </a:r>
                      <a:r>
                        <a:rPr lang="en-US" altLang="ko-KR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] </a:t>
                      </a:r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수행 시</a:t>
                      </a:r>
                      <a:r>
                        <a:rPr lang="en-US" altLang="ko-KR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해당 고객의 과거 취소 이력</a:t>
                      </a:r>
                      <a:r>
                        <a:rPr lang="en-US" altLang="ko-KR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(previous_cancellations)</a:t>
                      </a:r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을 </a:t>
                      </a:r>
                      <a:r>
                        <a:rPr lang="en-US" altLang="ko-KR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+1 </a:t>
                      </a:r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누적하여 차후 예측 및 </a:t>
                      </a:r>
                      <a:r>
                        <a:rPr lang="en-US" altLang="ko-KR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DB </a:t>
                      </a:r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전체 통계 지표에 반영해야 함</a:t>
                      </a:r>
                      <a:r>
                        <a:rPr lang="en-US" altLang="ko-KR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0235461"/>
                  </a:ext>
                </a:extLst>
              </a:tr>
              <a:tr h="995253">
                <a:tc>
                  <a:txBody>
                    <a:bodyPr/>
                    <a:lstStyle/>
                    <a:p>
                      <a:pPr rtl="0"/>
                      <a:r>
                        <a:rPr lang="en-US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REQ-ML-04</a:t>
                      </a:r>
                      <a:endParaRPr lang="en-US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비기능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데이터베이스 호환성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Oracle 11g Express Edition </a:t>
                      </a:r>
                      <a:r>
                        <a:rPr lang="ko-KR" altLang="en-US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환경과의 호환성을 위해 </a:t>
                      </a:r>
                      <a:r>
                        <a:rPr lang="en-US" altLang="ko-KR" sz="10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oracledb</a:t>
                      </a:r>
                      <a:r>
                        <a:rPr lang="en-US" altLang="ko-KR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라이브러리의 </a:t>
                      </a:r>
                      <a:r>
                        <a:rPr lang="en-US" altLang="ko-KR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Thick Mode </a:t>
                      </a:r>
                      <a:r>
                        <a:rPr lang="ko-KR" altLang="en-US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클라이언트를 활성화하여 안정적인 커넥션을 유지해야 함</a:t>
                      </a:r>
                      <a:r>
                        <a:rPr lang="en-US" altLang="ko-KR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570425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5C576001-5583-5558-A731-F6B137C87FD8}"/>
              </a:ext>
            </a:extLst>
          </p:cNvPr>
          <p:cNvSpPr txBox="1"/>
          <p:nvPr/>
        </p:nvSpPr>
        <p:spPr>
          <a:xfrm>
            <a:off x="788525" y="1249650"/>
            <a:ext cx="62532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[Flask] </a:t>
            </a:r>
            <a:r>
              <a:rPr lang="ko-KR" altLang="en-US" dirty="0"/>
              <a:t>호텔 예약 취소 확률 예측 시스템</a:t>
            </a:r>
          </a:p>
        </p:txBody>
      </p:sp>
    </p:spTree>
    <p:extLst>
      <p:ext uri="{BB962C8B-B14F-4D97-AF65-F5344CB8AC3E}">
        <p14:creationId xmlns:p14="http://schemas.microsoft.com/office/powerpoint/2010/main" val="3199350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7" y="317921"/>
            <a:ext cx="3239999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324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3131233" y="1059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요구사항 정의서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C676F6-3232-92C4-62FA-0FFB8019F397}"/>
              </a:ext>
            </a:extLst>
          </p:cNvPr>
          <p:cNvSpPr txBox="1"/>
          <p:nvPr/>
        </p:nvSpPr>
        <p:spPr>
          <a:xfrm>
            <a:off x="562819" y="1287542"/>
            <a:ext cx="62532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[YOLOv11] </a:t>
            </a:r>
            <a:r>
              <a:rPr lang="ko-KR" altLang="en-US" dirty="0"/>
              <a:t>공유 공간 이용 실태 분석 시스템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9DCA9A75-A720-4224-2D11-FB5C9114C7C3}"/>
              </a:ext>
            </a:extLst>
          </p:cNvPr>
          <p:cNvGraphicFramePr>
            <a:graphicFrameLocks noGrp="1"/>
          </p:cNvGraphicFramePr>
          <p:nvPr/>
        </p:nvGraphicFramePr>
        <p:xfrm>
          <a:off x="2869900" y="1825625"/>
          <a:ext cx="6452200" cy="4351338"/>
        </p:xfrm>
        <a:graphic>
          <a:graphicData uri="http://schemas.openxmlformats.org/drawingml/2006/table">
            <a:tbl>
              <a:tblPr/>
              <a:tblGrid>
                <a:gridCol w="1613050">
                  <a:extLst>
                    <a:ext uri="{9D8B030D-6E8A-4147-A177-3AD203B41FA5}">
                      <a16:colId xmlns:a16="http://schemas.microsoft.com/office/drawing/2014/main" val="3622144557"/>
                    </a:ext>
                  </a:extLst>
                </a:gridCol>
                <a:gridCol w="1613050">
                  <a:extLst>
                    <a:ext uri="{9D8B030D-6E8A-4147-A177-3AD203B41FA5}">
                      <a16:colId xmlns:a16="http://schemas.microsoft.com/office/drawing/2014/main" val="3057314468"/>
                    </a:ext>
                  </a:extLst>
                </a:gridCol>
                <a:gridCol w="1613050">
                  <a:extLst>
                    <a:ext uri="{9D8B030D-6E8A-4147-A177-3AD203B41FA5}">
                      <a16:colId xmlns:a16="http://schemas.microsoft.com/office/drawing/2014/main" val="3610667015"/>
                    </a:ext>
                  </a:extLst>
                </a:gridCol>
                <a:gridCol w="1613050">
                  <a:extLst>
                    <a:ext uri="{9D8B030D-6E8A-4147-A177-3AD203B41FA5}">
                      <a16:colId xmlns:a16="http://schemas.microsoft.com/office/drawing/2014/main" val="2476841852"/>
                    </a:ext>
                  </a:extLst>
                </a:gridCol>
              </a:tblGrid>
              <a:tr h="398977"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요구사항 </a:t>
                      </a:r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ID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분류</a:t>
                      </a:r>
                      <a:endParaRPr lang="ko-KR" alt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요구사항 명칭</a:t>
                      </a:r>
                      <a:endParaRPr lang="ko-KR" alt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상세 명세 </a:t>
                      </a:r>
                      <a:r>
                        <a:rPr lang="en-US" altLang="ko-KR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 및 제약조건</a:t>
                      </a:r>
                      <a:r>
                        <a:rPr lang="en-US" altLang="ko-KR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endParaRPr lang="ko-KR" alt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9699457"/>
                  </a:ext>
                </a:extLst>
              </a:tr>
              <a:tr h="903931">
                <a:tc>
                  <a:txBody>
                    <a:bodyPr/>
                    <a:lstStyle/>
                    <a:p>
                      <a:pPr rtl="0"/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REQ-CV-01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멀티 클래스 객체 탐지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입력되는 실시간 영상 프레임에서 사람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(Person), 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노트북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(Laptop), 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가방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(Bag) 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객체를 동시에 식별해야 함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2587836"/>
                  </a:ext>
                </a:extLst>
              </a:tr>
              <a:tr h="1240568">
                <a:tc>
                  <a:txBody>
                    <a:bodyPr/>
                    <a:lstStyle/>
                    <a:p>
                      <a:pPr rtl="0"/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REQ-CV-02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관계 인지형 노쇼 판별 로직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단순히 사람 수만 세는 것이 아니라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객체 간의 관계를 파악하여 </a:t>
                      </a:r>
                      <a:r>
                        <a:rPr lang="ko-KR" alt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노쇼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사람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0/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물건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0), </a:t>
                      </a:r>
                      <a:r>
                        <a:rPr lang="ko-KR" alt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자리비움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사람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0/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물건⭕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), </a:t>
                      </a:r>
                      <a:r>
                        <a:rPr lang="ko-KR" alt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이용률 저조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상태를 조건부로 인지해야 함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1619993"/>
                  </a:ext>
                </a:extLst>
              </a:tr>
              <a:tr h="1072249">
                <a:tc>
                  <a:txBody>
                    <a:bodyPr/>
                    <a:lstStyle/>
                    <a:p>
                      <a:pPr rtl="0"/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REQ-CV-03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확장형 </a:t>
                      </a: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REST API 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통신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CCTV 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스트리밍 스크립트와 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YOLOv11 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추론 엔진 간의 데이터 송수신은 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JSON 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포맷의 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REST API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통해 처리하며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향후 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Room ID 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확장이 가능해야 함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919764"/>
                  </a:ext>
                </a:extLst>
              </a:tr>
              <a:tr h="735613">
                <a:tc>
                  <a:txBody>
                    <a:bodyPr/>
                    <a:lstStyle/>
                    <a:p>
                      <a:pPr rtl="0"/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REQ-CV-04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비기능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실시간성 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Latency)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이미지 분석 요청부터 응답 및 </a:t>
                      </a:r>
                      <a:r>
                        <a:rPr lang="en-US" altLang="ko-KR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UI </a:t>
                      </a:r>
                      <a:r>
                        <a:rPr lang="ko-KR" altLang="en-US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업데이트까지 걸리는 총 지연 시간은 </a:t>
                      </a:r>
                      <a:r>
                        <a:rPr lang="en-US" altLang="ko-KR" sz="11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</a:t>
                      </a:r>
                      <a:r>
                        <a:rPr lang="ko-KR" altLang="en-US" sz="11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초 이내</a:t>
                      </a:r>
                      <a:r>
                        <a:rPr lang="ko-KR" altLang="en-US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여야 함</a:t>
                      </a:r>
                      <a:r>
                        <a:rPr lang="en-US" altLang="ko-KR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211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9319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7" y="317921"/>
            <a:ext cx="3239999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324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3131233" y="1059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요구사항 정의서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18D10F-EA50-7960-D710-3353AB2628A7}"/>
              </a:ext>
            </a:extLst>
          </p:cNvPr>
          <p:cNvSpPr txBox="1"/>
          <p:nvPr/>
        </p:nvSpPr>
        <p:spPr>
          <a:xfrm>
            <a:off x="545457" y="1306792"/>
            <a:ext cx="62532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[SLM] </a:t>
            </a:r>
            <a:r>
              <a:rPr lang="ko-KR" altLang="en-US" dirty="0"/>
              <a:t>가상 호텔 사내 규정 안내 </a:t>
            </a:r>
            <a:r>
              <a:rPr lang="ko-KR" altLang="en-US" dirty="0" err="1"/>
              <a:t>챗봇</a:t>
            </a:r>
            <a:endParaRPr lang="ko-KR" altLang="en-US" dirty="0"/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5F3E0F10-E57E-74BC-0ECD-1A3AC7B4F742}"/>
              </a:ext>
            </a:extLst>
          </p:cNvPr>
          <p:cNvGraphicFramePr>
            <a:graphicFrameLocks noGrp="1"/>
          </p:cNvGraphicFramePr>
          <p:nvPr/>
        </p:nvGraphicFramePr>
        <p:xfrm>
          <a:off x="2869900" y="1825625"/>
          <a:ext cx="6452200" cy="4351338"/>
        </p:xfrm>
        <a:graphic>
          <a:graphicData uri="http://schemas.openxmlformats.org/drawingml/2006/table">
            <a:tbl>
              <a:tblPr/>
              <a:tblGrid>
                <a:gridCol w="1613050">
                  <a:extLst>
                    <a:ext uri="{9D8B030D-6E8A-4147-A177-3AD203B41FA5}">
                      <a16:colId xmlns:a16="http://schemas.microsoft.com/office/drawing/2014/main" val="4270241945"/>
                    </a:ext>
                  </a:extLst>
                </a:gridCol>
                <a:gridCol w="1613050">
                  <a:extLst>
                    <a:ext uri="{9D8B030D-6E8A-4147-A177-3AD203B41FA5}">
                      <a16:colId xmlns:a16="http://schemas.microsoft.com/office/drawing/2014/main" val="1671883002"/>
                    </a:ext>
                  </a:extLst>
                </a:gridCol>
                <a:gridCol w="1613050">
                  <a:extLst>
                    <a:ext uri="{9D8B030D-6E8A-4147-A177-3AD203B41FA5}">
                      <a16:colId xmlns:a16="http://schemas.microsoft.com/office/drawing/2014/main" val="2124066401"/>
                    </a:ext>
                  </a:extLst>
                </a:gridCol>
                <a:gridCol w="1613050">
                  <a:extLst>
                    <a:ext uri="{9D8B030D-6E8A-4147-A177-3AD203B41FA5}">
                      <a16:colId xmlns:a16="http://schemas.microsoft.com/office/drawing/2014/main" val="3508781994"/>
                    </a:ext>
                  </a:extLst>
                </a:gridCol>
              </a:tblGrid>
              <a:tr h="398977"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요구사항 </a:t>
                      </a:r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ID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분류</a:t>
                      </a:r>
                      <a:endParaRPr lang="ko-KR" alt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요구사항 명칭</a:t>
                      </a:r>
                      <a:endParaRPr lang="ko-KR" alt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상세 명세 </a:t>
                      </a:r>
                      <a:r>
                        <a:rPr lang="en-US" altLang="ko-KR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 및 제약조건</a:t>
                      </a:r>
                      <a:r>
                        <a:rPr lang="en-US" altLang="ko-KR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endParaRPr lang="ko-KR" alt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857511"/>
                  </a:ext>
                </a:extLst>
              </a:tr>
              <a:tr h="903931">
                <a:tc>
                  <a:txBody>
                    <a:bodyPr/>
                    <a:lstStyle/>
                    <a:p>
                      <a:pPr rtl="0"/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REQ-NLP-01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구어체 및 의도 추출 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(NER)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문법에 완벽하지 않은 일상 대화체나 구어체 질문 속에서 핵심 엔티티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장소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물품 등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와 의도를 정확히 식별해야 함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616170"/>
                  </a:ext>
                </a:extLst>
              </a:tr>
              <a:tr h="735613">
                <a:tc>
                  <a:txBody>
                    <a:bodyPr/>
                    <a:lstStyle/>
                    <a:p>
                      <a:pPr rtl="0"/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REQ-NLP-02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매뉴얼 기반 팩트 체킹 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(QnA)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반드시 탑재된 호텔 사내 운영 규정 문서 범위 내에서만 정답을 도출해야 함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663956"/>
                  </a:ext>
                </a:extLst>
              </a:tr>
              <a:tr h="1240568">
                <a:tc>
                  <a:txBody>
                    <a:bodyPr/>
                    <a:lstStyle/>
                    <a:p>
                      <a:pPr rtl="0"/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REQ-NLP-03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환각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Hallucination) 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제어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매뉴얼 범위를 벗어난 질의에 대해서는 답변을 지어내지 않고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"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해당 정보는 매뉴얼에 등록되어 있지 않습니다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." </a:t>
                      </a:r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등의 고정된 방어형 답변을 출력해야 함</a:t>
                      </a:r>
                      <a:r>
                        <a:rPr lang="en-US" altLang="ko-KR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3395573"/>
                  </a:ext>
                </a:extLst>
              </a:tr>
              <a:tr h="1072249">
                <a:tc>
                  <a:txBody>
                    <a:bodyPr/>
                    <a:lstStyle/>
                    <a:p>
                      <a:pPr rtl="0"/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REQ-NLP-04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비기능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추론 속도 및 자원 효율성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답변 출력까지의 시간은 </a:t>
                      </a:r>
                      <a:r>
                        <a:rPr lang="ko-KR" altLang="en-US" sz="11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최대 </a:t>
                      </a:r>
                      <a:r>
                        <a:rPr lang="en-US" altLang="ko-KR" sz="11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</a:t>
                      </a:r>
                      <a:r>
                        <a:rPr lang="ko-KR" altLang="en-US" sz="11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초 이내</a:t>
                      </a:r>
                      <a:r>
                        <a:rPr lang="ko-KR" altLang="en-US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여야 하며</a:t>
                      </a:r>
                      <a:r>
                        <a:rPr lang="en-US" altLang="ko-KR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고가의 다중 </a:t>
                      </a:r>
                      <a:r>
                        <a:rPr lang="en-US" altLang="ko-KR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GPU</a:t>
                      </a:r>
                      <a:r>
                        <a:rPr lang="ko-KR" altLang="en-US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가 아닌 단일 </a:t>
                      </a:r>
                      <a:r>
                        <a:rPr lang="en-US" altLang="ko-KR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GPU </a:t>
                      </a:r>
                      <a:r>
                        <a:rPr lang="ko-KR" altLang="en-US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혹은 로컬 환경에서 구동 가능해야 함 </a:t>
                      </a:r>
                      <a:r>
                        <a:rPr lang="en-US" altLang="ko-KR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보안 및 독립성 유지</a:t>
                      </a:r>
                      <a:r>
                        <a:rPr lang="en-US" altLang="ko-KR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5814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837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5851AB10-9A35-E519-0351-802D6855E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78000"/>
            <a:ext cx="8140190" cy="4320000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F89837B3-A748-268F-FFBC-20EBE847ED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2251678"/>
              </p:ext>
            </p:extLst>
          </p:nvPr>
        </p:nvGraphicFramePr>
        <p:xfrm>
          <a:off x="8308248" y="909000"/>
          <a:ext cx="3672000" cy="504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1909459315"/>
                    </a:ext>
                  </a:extLst>
                </a:gridCol>
                <a:gridCol w="3384000">
                  <a:extLst>
                    <a:ext uri="{9D8B030D-6E8A-4147-A177-3AD203B41FA5}">
                      <a16:colId xmlns:a16="http://schemas.microsoft.com/office/drawing/2014/main" val="1052583633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Description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02834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내비게이션 바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페이지 스크롤과 관계없이 상단에 고정 노출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4115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>
                          <a:solidFill>
                            <a:sysClr val="windowText" lastClr="000000"/>
                          </a:solidFill>
                        </a:rPr>
                        <a:t>로고</a:t>
                      </a:r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: </a:t>
                      </a:r>
                      <a:r>
                        <a:rPr lang="ko-KR" altLang="en-US" sz="900" dirty="0">
                          <a:solidFill>
                            <a:sysClr val="windowText" lastClr="000000"/>
                          </a:solidFill>
                        </a:rPr>
                        <a:t>버튼 클릭 시 </a:t>
                      </a:r>
                      <a:r>
                        <a:rPr lang="ko-KR" altLang="en-US" sz="900" dirty="0" err="1">
                          <a:solidFill>
                            <a:sysClr val="windowText" lastClr="000000"/>
                          </a:solidFill>
                        </a:rPr>
                        <a:t>메인페이지로</a:t>
                      </a:r>
                      <a:r>
                        <a:rPr lang="ko-KR" altLang="en-US" sz="900" dirty="0">
                          <a:solidFill>
                            <a:sysClr val="windowText" lastClr="000000"/>
                          </a:solidFill>
                        </a:rPr>
                        <a:t>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660472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>
                          <a:solidFill>
                            <a:sysClr val="windowText" lastClr="000000"/>
                          </a:solidFill>
                        </a:rPr>
                        <a:t>예약 정보 검색</a:t>
                      </a:r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: </a:t>
                      </a:r>
                      <a:r>
                        <a:rPr lang="ko-KR" altLang="en-US" sz="900" dirty="0">
                          <a:solidFill>
                            <a:sysClr val="windowText" lastClr="000000"/>
                          </a:solidFill>
                        </a:rPr>
                        <a:t>버튼 클릭 시 고객 정보 검색 페이지</a:t>
                      </a:r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(search.html)</a:t>
                      </a:r>
                      <a:r>
                        <a:rPr lang="ko-KR" altLang="en-US" sz="900" dirty="0">
                          <a:solidFill>
                            <a:sysClr val="windowText" lastClr="000000"/>
                          </a:solidFill>
                        </a:rPr>
                        <a:t>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869792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/>
                        <a:t>Predict Now: </a:t>
                      </a:r>
                      <a:r>
                        <a:rPr lang="ko-KR" altLang="en-US" sz="900" dirty="0"/>
                        <a:t>버튼 클릭 시 예측 페이지</a:t>
                      </a:r>
                      <a:r>
                        <a:rPr lang="en-US" altLang="ko-KR" sz="900" dirty="0"/>
                        <a:t>(predict.html)</a:t>
                      </a:r>
                      <a:r>
                        <a:rPr lang="ko-KR" altLang="en-US" sz="900" dirty="0"/>
                        <a:t>로 즉시 라우팅을 수행함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117957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좌측 고정 내비게이션 바</a:t>
                      </a:r>
                      <a:r>
                        <a:rPr lang="en-US" altLang="ko-KR" sz="900" b="1" dirty="0"/>
                        <a:t>: </a:t>
                      </a:r>
                      <a:r>
                        <a:rPr lang="ko-KR" altLang="en-US" sz="900" b="0" dirty="0"/>
                        <a:t>마우스를 올리면 글자가 나타남</a:t>
                      </a:r>
                      <a:r>
                        <a:rPr lang="en-US" altLang="ko-KR" sz="900" b="0" dirty="0"/>
                        <a:t>. </a:t>
                      </a:r>
                      <a:r>
                        <a:rPr lang="ko-KR" altLang="en-US" sz="900" b="0" dirty="0"/>
                        <a:t>글자 클릭 시 해당 페이지로 이동함</a:t>
                      </a:r>
                      <a:r>
                        <a:rPr lang="en-US" altLang="ko-KR" sz="900" b="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732173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b="1" dirty="0"/>
                        <a:t>Home :</a:t>
                      </a:r>
                      <a:r>
                        <a:rPr lang="ko-KR" altLang="en-US" sz="900" dirty="0"/>
                        <a:t> 세 페이지의 </a:t>
                      </a:r>
                      <a:r>
                        <a:rPr lang="ko-KR" altLang="en-US" sz="900" dirty="0" err="1"/>
                        <a:t>캐러셀이</a:t>
                      </a:r>
                      <a:r>
                        <a:rPr lang="ko-KR" altLang="en-US" sz="900" dirty="0"/>
                        <a:t> 자동으로 슬라이드 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14515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b="1" dirty="0"/>
                        <a:t>Why Prediction Matters (Section 2):</a:t>
                      </a:r>
                      <a:r>
                        <a:rPr lang="ko-KR" altLang="en-US" sz="900" dirty="0"/>
                        <a:t> 예측 모델의 필요성을 세 가지로 나누어 설명함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401048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b="1" dirty="0"/>
                        <a:t>How</a:t>
                      </a:r>
                      <a:r>
                        <a:rPr lang="ko-KR" altLang="en-US" sz="900" b="1" dirty="0"/>
                        <a:t> </a:t>
                      </a:r>
                      <a:r>
                        <a:rPr lang="en-US" altLang="ko-KR" sz="900" b="1" dirty="0"/>
                        <a:t>It Works (Section 3):</a:t>
                      </a:r>
                      <a:r>
                        <a:rPr lang="ko-KR" altLang="en-US" sz="900" dirty="0"/>
                        <a:t> </a:t>
                      </a:r>
                      <a:r>
                        <a:rPr lang="ko-KR" altLang="en-US" sz="900" dirty="0" err="1"/>
                        <a:t>취소율</a:t>
                      </a:r>
                      <a:r>
                        <a:rPr lang="ko-KR" altLang="en-US" sz="900" dirty="0"/>
                        <a:t> 예측 및 그래프 확인 과정과 예약 정보 검색 페이지를 통한 본인 내역 확인 기능을 </a:t>
                      </a:r>
                      <a:r>
                        <a:rPr lang="en-US" altLang="ko-KR" sz="900" dirty="0"/>
                        <a:t>Step</a:t>
                      </a:r>
                      <a:r>
                        <a:rPr lang="ko-KR" altLang="en-US" sz="900" dirty="0"/>
                        <a:t>별로 안내함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867698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b="1" dirty="0"/>
                        <a:t>Key </a:t>
                      </a:r>
                      <a:r>
                        <a:rPr lang="en-US" altLang="ko-KR" sz="900" b="1" dirty="0" err="1"/>
                        <a:t>Feartures</a:t>
                      </a:r>
                      <a:r>
                        <a:rPr lang="en-US" altLang="ko-KR" sz="900" b="1" dirty="0"/>
                        <a:t> (Section 4):</a:t>
                      </a:r>
                      <a:r>
                        <a:rPr lang="en-US" altLang="ko-KR" sz="900" dirty="0"/>
                        <a:t> </a:t>
                      </a:r>
                      <a:r>
                        <a:rPr lang="ko-KR" altLang="en-US" sz="900" dirty="0"/>
                        <a:t>모델링에 사용된 핵심 피처가 예약 </a:t>
                      </a:r>
                      <a:r>
                        <a:rPr lang="ko-KR" altLang="en-US" sz="900" dirty="0" err="1"/>
                        <a:t>취소율</a:t>
                      </a:r>
                      <a:r>
                        <a:rPr lang="ko-KR" altLang="en-US" sz="900" dirty="0"/>
                        <a:t> 예측에 어떻게 기여하는지 소개함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544477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solidFill>
                            <a:sysClr val="windowText" lastClr="000000"/>
                          </a:solidFill>
                        </a:rPr>
                        <a:t>Check Point</a:t>
                      </a:r>
                      <a:endParaRPr lang="ko-KR" altLang="en-US" sz="9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9358335"/>
                  </a:ext>
                </a:extLst>
              </a:tr>
              <a:tr h="432000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풀페이지 스크롤</a:t>
                      </a:r>
                      <a:r>
                        <a:rPr lang="en-US" altLang="ko-KR" sz="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800" dirty="0"/>
                        <a:t> 마우스 휠 이벤트를 제어하여 일반적인 스크롤이 아닌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섹션 단위로 부드럽게 끊어 넘어가는 기능 적용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1084806"/>
                  </a:ext>
                </a:extLst>
              </a:tr>
              <a:tr h="432000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컴포넌트 분리 구조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Flask</a:t>
                      </a:r>
                      <a:r>
                        <a:rPr lang="ko-KR" altLang="en-US" sz="900" dirty="0"/>
                        <a:t>의 </a:t>
                      </a:r>
                      <a:r>
                        <a:rPr lang="en-US" altLang="ko-KR" sz="900" dirty="0"/>
                        <a:t>Jinja2</a:t>
                      </a:r>
                      <a:r>
                        <a:rPr lang="ko-KR" altLang="en-US" sz="900" dirty="0"/>
                        <a:t>을 활용하여 각 섹션의 </a:t>
                      </a:r>
                      <a:r>
                        <a:rPr lang="en-US" altLang="ko-KR" sz="900" dirty="0"/>
                        <a:t>HTML </a:t>
                      </a:r>
                      <a:r>
                        <a:rPr lang="ko-KR" altLang="en-US" sz="900" dirty="0"/>
                        <a:t>및 </a:t>
                      </a:r>
                      <a:r>
                        <a:rPr lang="en-US" altLang="ko-KR" sz="900" dirty="0"/>
                        <a:t>CSS </a:t>
                      </a:r>
                      <a:r>
                        <a:rPr lang="ko-KR" altLang="en-US" sz="900" dirty="0"/>
                        <a:t>가독성과 유지보수성을 극대화함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75331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9458B48-348F-904A-96FE-ADC1301FC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73179"/>
              </p:ext>
            </p:extLst>
          </p:nvPr>
        </p:nvGraphicFramePr>
        <p:xfrm>
          <a:off x="252596" y="1237202"/>
          <a:ext cx="6264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3761885617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3707622563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134594205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96785495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83615634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50251126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Page Title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메인 랜딩 페이지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Screen ID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UI-MAIN-01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2026.05.15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16233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Screen Path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188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8374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56D51E58-4F90-6869-B8EE-E2681E26A6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1067157"/>
              </p:ext>
            </p:extLst>
          </p:nvPr>
        </p:nvGraphicFramePr>
        <p:xfrm>
          <a:off x="8267404" y="1234938"/>
          <a:ext cx="3672000" cy="3182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435373391"/>
                    </a:ext>
                  </a:extLst>
                </a:gridCol>
                <a:gridCol w="3384000">
                  <a:extLst>
                    <a:ext uri="{9D8B030D-6E8A-4147-A177-3AD203B41FA5}">
                      <a16:colId xmlns:a16="http://schemas.microsoft.com/office/drawing/2014/main" val="2014592507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Description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164192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실시간 듀얼 차트 </a:t>
                      </a:r>
                      <a:r>
                        <a:rPr lang="en-US" altLang="ko-KR" sz="900" b="1" dirty="0"/>
                        <a:t>(Chart.js):</a:t>
                      </a:r>
                      <a:r>
                        <a:rPr lang="ko-KR" altLang="en-US" sz="900" b="1" dirty="0"/>
                        <a:t> </a:t>
                      </a:r>
                      <a:r>
                        <a:rPr lang="ko-KR" altLang="en-US" sz="900" b="0" dirty="0"/>
                        <a:t>휴양형 호텔</a:t>
                      </a:r>
                      <a:r>
                        <a:rPr lang="ko-KR" altLang="en-US" sz="900" dirty="0"/>
                        <a:t>과 도심형 호텔의 도넛 그래프 레이아웃</a:t>
                      </a:r>
                      <a:r>
                        <a:rPr lang="en-US" altLang="ko-KR" sz="900" dirty="0"/>
                        <a:t>. </a:t>
                      </a:r>
                      <a:r>
                        <a:rPr lang="ko-KR" altLang="en-US" sz="900" dirty="0"/>
                        <a:t>입력 폼 제어에 따라 선택된 호텔 타입의 취소 확률 데이터가 실시간으로 반영 및 업데이트됨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1523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인공지능 실시간 분석 리포트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계산된 예측 확률을 기반으로 현재 상태</a:t>
                      </a:r>
                      <a:r>
                        <a:rPr lang="en-US" altLang="ko-KR" sz="900" dirty="0"/>
                        <a:t>(</a:t>
                      </a:r>
                      <a:r>
                        <a:rPr lang="en-US" altLang="ko-KR" sz="900" b="1" dirty="0"/>
                        <a:t>HIGH RISK / STABLE STATUS</a:t>
                      </a:r>
                      <a:r>
                        <a:rPr lang="en-US" altLang="ko-KR" sz="900" dirty="0"/>
                        <a:t>)</a:t>
                      </a:r>
                      <a:r>
                        <a:rPr lang="ko-KR" altLang="en-US" sz="900" dirty="0"/>
                        <a:t>를 판별하고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텍스트 스토리텔링 방식의 맞춤형 인사이트 리포트를 렌더링함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6199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예약 및 개인정보 입력 폼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이름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연락처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예약일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객실 요금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추가 요청 사항 등을 수집하는 영역</a:t>
                      </a:r>
                      <a:r>
                        <a:rPr lang="en-US" altLang="ko-KR" sz="900" dirty="0"/>
                        <a:t>. [</a:t>
                      </a:r>
                      <a:r>
                        <a:rPr lang="ko-KR" altLang="en-US" sz="900" dirty="0"/>
                        <a:t>입력 초기화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시 데이터와 차트가 초기화되며</a:t>
                      </a:r>
                      <a:r>
                        <a:rPr lang="en-US" altLang="ko-KR" sz="900" dirty="0"/>
                        <a:t>, [</a:t>
                      </a:r>
                      <a:r>
                        <a:rPr lang="ko-KR" altLang="en-US" sz="900" dirty="0"/>
                        <a:t>예약하기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클릭 시 </a:t>
                      </a:r>
                      <a:r>
                        <a:rPr lang="en-US" altLang="ko-KR" sz="900" dirty="0"/>
                        <a:t>DB </a:t>
                      </a:r>
                      <a:r>
                        <a:rPr lang="ko-KR" altLang="en-US" sz="900" dirty="0"/>
                        <a:t>연동 기능이 수행됨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36631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solidFill>
                            <a:sysClr val="windowText" lastClr="000000"/>
                          </a:solidFill>
                        </a:rPr>
                        <a:t>Check Point</a:t>
                      </a:r>
                      <a:endParaRPr lang="ko-KR" altLang="en-US" sz="9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8949567"/>
                  </a:ext>
                </a:extLst>
              </a:tr>
              <a:tr h="432000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b="1" dirty="0"/>
                        <a:t>비동기 실시간 예측 트리거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폼 내부의 모든 </a:t>
                      </a:r>
                      <a:r>
                        <a:rPr lang="en-US" altLang="ko-KR" sz="800" dirty="0"/>
                        <a:t>input, select, </a:t>
                      </a:r>
                      <a:r>
                        <a:rPr lang="en-US" altLang="ko-KR" sz="800" dirty="0" err="1"/>
                        <a:t>textarea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값에 변경 이벤트가 발생할 때마다 </a:t>
                      </a:r>
                      <a:r>
                        <a:rPr lang="ko-KR" altLang="en-US" sz="800" dirty="0" err="1"/>
                        <a:t>새로고침</a:t>
                      </a:r>
                      <a:r>
                        <a:rPr lang="ko-KR" altLang="en-US" sz="800" dirty="0"/>
                        <a:t> 없이 </a:t>
                      </a:r>
                      <a:r>
                        <a:rPr lang="ko-KR" altLang="en-US" sz="800" dirty="0" err="1"/>
                        <a:t>백엔드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API(/</a:t>
                      </a:r>
                      <a:r>
                        <a:rPr lang="en-US" altLang="ko-KR" sz="800" dirty="0" err="1"/>
                        <a:t>api</a:t>
                      </a:r>
                      <a:r>
                        <a:rPr lang="en-US" altLang="ko-KR" sz="800" dirty="0"/>
                        <a:t>/predict)</a:t>
                      </a:r>
                      <a:r>
                        <a:rPr lang="ko-KR" altLang="en-US" sz="800" dirty="0"/>
                        <a:t>와 실시간 통신하여 그래프와 리포트 데이터를 동적 갱신함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9299508"/>
                  </a:ext>
                </a:extLst>
              </a:tr>
              <a:tr h="432000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파싱 및 유효성 검증 예외 처리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예약 날짜를 기반으로 선행 기간</a:t>
                      </a:r>
                      <a:r>
                        <a:rPr lang="en-US" altLang="ko-KR" sz="900" dirty="0"/>
                        <a:t>(</a:t>
                      </a:r>
                      <a:r>
                        <a:rPr lang="en-US" altLang="ko-KR" sz="900" dirty="0" err="1"/>
                        <a:t>lead_time</a:t>
                      </a:r>
                      <a:r>
                        <a:rPr lang="en-US" altLang="ko-KR" sz="900" dirty="0"/>
                        <a:t>)</a:t>
                      </a:r>
                      <a:r>
                        <a:rPr lang="ko-KR" altLang="en-US" sz="900" dirty="0"/>
                        <a:t>을 자동 계산하며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추가 요청 사항의 문자열 길이에 따라 가중치 가변 처리</a:t>
                      </a:r>
                      <a:r>
                        <a:rPr lang="en-US" altLang="ko-KR" sz="900" dirty="0"/>
                        <a:t>. </a:t>
                      </a:r>
                      <a:r>
                        <a:rPr lang="ko-KR" altLang="en-US" sz="900" dirty="0"/>
                        <a:t>전화번호 입력란은 숫자 이외의 문자 입력을 차단함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5794178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BFB3996-D455-70A0-1685-06ECE662BA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9547548"/>
              </p:ext>
            </p:extLst>
          </p:nvPr>
        </p:nvGraphicFramePr>
        <p:xfrm>
          <a:off x="171443" y="1410962"/>
          <a:ext cx="7794738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738">
                  <a:extLst>
                    <a:ext uri="{9D8B030D-6E8A-4147-A177-3AD203B41FA5}">
                      <a16:colId xmlns:a16="http://schemas.microsoft.com/office/drawing/2014/main" val="3761885617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3707622563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1345942057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3967854958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836156341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150251126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Page Title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예약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취소율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예측 페이지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ysClr val="windowText" lastClr="000000"/>
                          </a:solidFill>
                        </a:rPr>
                        <a:t>Screen ID</a:t>
                      </a:r>
                      <a:endParaRPr lang="ko-KR" altLang="en-US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ysClr val="windowText" lastClr="000000"/>
                          </a:solidFill>
                        </a:rPr>
                        <a:t>UI-PREDICT-01</a:t>
                      </a:r>
                      <a:endParaRPr lang="ko-KR" altLang="en-US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2026.05.16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16233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Screen Path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예측 페이지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1883973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587C7D1F-A8BE-278A-806A-0CF5648CF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38000"/>
            <a:ext cx="7966181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1057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7591E9-EF62-809A-1D8F-15093911B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38000"/>
            <a:ext cx="7929392" cy="4320000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296471FB-746A-D425-E722-9631694FC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337892"/>
              </p:ext>
            </p:extLst>
          </p:nvPr>
        </p:nvGraphicFramePr>
        <p:xfrm>
          <a:off x="171443" y="1410962"/>
          <a:ext cx="7794738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738">
                  <a:extLst>
                    <a:ext uri="{9D8B030D-6E8A-4147-A177-3AD203B41FA5}">
                      <a16:colId xmlns:a16="http://schemas.microsoft.com/office/drawing/2014/main" val="3761885617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3707622563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1345942057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3967854958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836156341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150251126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Page Title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예약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취소율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예측 페이지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ysClr val="windowText" lastClr="000000"/>
                          </a:solidFill>
                        </a:rPr>
                        <a:t>Screen ID</a:t>
                      </a:r>
                      <a:endParaRPr lang="ko-KR" altLang="en-US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ysClr val="windowText" lastClr="000000"/>
                          </a:solidFill>
                        </a:rPr>
                        <a:t>UI-PREDICT-01</a:t>
                      </a:r>
                      <a:endParaRPr lang="ko-KR" altLang="en-US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2026.05.16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16233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Screen Path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예측 페이지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1883973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7880DB03-7F35-B46A-A643-9542DE66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0893048"/>
              </p:ext>
            </p:extLst>
          </p:nvPr>
        </p:nvGraphicFramePr>
        <p:xfrm>
          <a:off x="8267404" y="1234938"/>
          <a:ext cx="3672000" cy="3182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435373391"/>
                    </a:ext>
                  </a:extLst>
                </a:gridCol>
                <a:gridCol w="3384000">
                  <a:extLst>
                    <a:ext uri="{9D8B030D-6E8A-4147-A177-3AD203B41FA5}">
                      <a16:colId xmlns:a16="http://schemas.microsoft.com/office/drawing/2014/main" val="2014592507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Description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164192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실시간 듀얼 차트 </a:t>
                      </a:r>
                      <a:r>
                        <a:rPr lang="en-US" altLang="ko-KR" sz="900" b="1" dirty="0"/>
                        <a:t>(Chart.js):</a:t>
                      </a:r>
                      <a:r>
                        <a:rPr lang="ko-KR" altLang="en-US" sz="900" b="1" dirty="0"/>
                        <a:t> </a:t>
                      </a:r>
                      <a:r>
                        <a:rPr lang="ko-KR" altLang="en-US" sz="900" b="0" dirty="0"/>
                        <a:t>휴양형 호텔</a:t>
                      </a:r>
                      <a:r>
                        <a:rPr lang="ko-KR" altLang="en-US" sz="900" dirty="0"/>
                        <a:t>과 도심형 호텔의 도넛 그래프 레이아웃</a:t>
                      </a:r>
                      <a:r>
                        <a:rPr lang="en-US" altLang="ko-KR" sz="900" dirty="0"/>
                        <a:t>. </a:t>
                      </a:r>
                      <a:r>
                        <a:rPr lang="ko-KR" altLang="en-US" sz="900" dirty="0"/>
                        <a:t>입력 폼 제어에 따라 선택된 호텔 타입의 취소 확률 데이터가 실시간으로 반영 및 업데이트됨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1523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인공지능 실시간 분석 리포트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계산된 예측 확률을 기반으로 현재 상태</a:t>
                      </a:r>
                      <a:r>
                        <a:rPr lang="en-US" altLang="ko-KR" sz="900" dirty="0"/>
                        <a:t>(</a:t>
                      </a:r>
                      <a:r>
                        <a:rPr lang="en-US" altLang="ko-KR" sz="900" b="1" dirty="0"/>
                        <a:t>HIGH RISK / STABLE STATUS</a:t>
                      </a:r>
                      <a:r>
                        <a:rPr lang="en-US" altLang="ko-KR" sz="900" dirty="0"/>
                        <a:t>)</a:t>
                      </a:r>
                      <a:r>
                        <a:rPr lang="ko-KR" altLang="en-US" sz="900" dirty="0"/>
                        <a:t>를 판별하고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텍스트 스토리텔링 방식의 맞춤형 인사이트 리포트를 렌더링함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6199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예약 및 개인정보 입력 폼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이름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연락처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예약일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객실 요금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추가 요청 사항 등을 수집하는 영역</a:t>
                      </a:r>
                      <a:r>
                        <a:rPr lang="en-US" altLang="ko-KR" sz="900" dirty="0"/>
                        <a:t>. [</a:t>
                      </a:r>
                      <a:r>
                        <a:rPr lang="ko-KR" altLang="en-US" sz="900" dirty="0"/>
                        <a:t>입력 초기화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시 데이터와 차트가 초기화되며</a:t>
                      </a:r>
                      <a:r>
                        <a:rPr lang="en-US" altLang="ko-KR" sz="900" dirty="0"/>
                        <a:t>, [</a:t>
                      </a:r>
                      <a:r>
                        <a:rPr lang="ko-KR" altLang="en-US" sz="900" dirty="0"/>
                        <a:t>예약하기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클릭 시 </a:t>
                      </a:r>
                      <a:r>
                        <a:rPr lang="en-US" altLang="ko-KR" sz="900" dirty="0"/>
                        <a:t>DB </a:t>
                      </a:r>
                      <a:r>
                        <a:rPr lang="ko-KR" altLang="en-US" sz="900" dirty="0"/>
                        <a:t>연동 기능이 수행됨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36631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solidFill>
                            <a:sysClr val="windowText" lastClr="000000"/>
                          </a:solidFill>
                        </a:rPr>
                        <a:t>Check Point</a:t>
                      </a:r>
                      <a:endParaRPr lang="ko-KR" altLang="en-US" sz="9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8949567"/>
                  </a:ext>
                </a:extLst>
              </a:tr>
              <a:tr h="432000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b="1" dirty="0"/>
                        <a:t>비동기 실시간 예측 트리거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폼 내부의 모든 </a:t>
                      </a:r>
                      <a:r>
                        <a:rPr lang="en-US" altLang="ko-KR" sz="800" dirty="0"/>
                        <a:t>input, select, </a:t>
                      </a:r>
                      <a:r>
                        <a:rPr lang="en-US" altLang="ko-KR" sz="800" dirty="0" err="1"/>
                        <a:t>textarea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값에 변경 이벤트가 발생할 때마다 </a:t>
                      </a:r>
                      <a:r>
                        <a:rPr lang="ko-KR" altLang="en-US" sz="800" dirty="0" err="1"/>
                        <a:t>새로고침</a:t>
                      </a:r>
                      <a:r>
                        <a:rPr lang="ko-KR" altLang="en-US" sz="800" dirty="0"/>
                        <a:t> 없이 </a:t>
                      </a:r>
                      <a:r>
                        <a:rPr lang="ko-KR" altLang="en-US" sz="800" dirty="0" err="1"/>
                        <a:t>백엔드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API(/</a:t>
                      </a:r>
                      <a:r>
                        <a:rPr lang="en-US" altLang="ko-KR" sz="800" dirty="0" err="1"/>
                        <a:t>api</a:t>
                      </a:r>
                      <a:r>
                        <a:rPr lang="en-US" altLang="ko-KR" sz="800" dirty="0"/>
                        <a:t>/predict)</a:t>
                      </a:r>
                      <a:r>
                        <a:rPr lang="ko-KR" altLang="en-US" sz="800" dirty="0"/>
                        <a:t>와 실시간 통신하여 그래프와 리포트 데이터를 동적 갱신함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9299508"/>
                  </a:ext>
                </a:extLst>
              </a:tr>
              <a:tr h="432000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파싱 및 유효성 검증 예외 처리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예약 날짜를 기반으로 선행 기간</a:t>
                      </a:r>
                      <a:r>
                        <a:rPr lang="en-US" altLang="ko-KR" sz="900" dirty="0"/>
                        <a:t>(</a:t>
                      </a:r>
                      <a:r>
                        <a:rPr lang="en-US" altLang="ko-KR" sz="900" dirty="0" err="1"/>
                        <a:t>lead_time</a:t>
                      </a:r>
                      <a:r>
                        <a:rPr lang="en-US" altLang="ko-KR" sz="900" dirty="0"/>
                        <a:t>)</a:t>
                      </a:r>
                      <a:r>
                        <a:rPr lang="ko-KR" altLang="en-US" sz="900" dirty="0"/>
                        <a:t>을 자동 계산하며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추가 요청 사항의 문자열 길이에 따라 가중치 가변 처리</a:t>
                      </a:r>
                      <a:r>
                        <a:rPr lang="en-US" altLang="ko-KR" sz="900" dirty="0"/>
                        <a:t>. </a:t>
                      </a:r>
                      <a:r>
                        <a:rPr lang="ko-KR" altLang="en-US" sz="900" dirty="0"/>
                        <a:t>전화번호 입력란은 숫자 이외의 문자 입력을 차단함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5794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80896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905B856-2639-27B2-AF7C-FC0D95E146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04"/>
          <a:stretch/>
        </p:blipFill>
        <p:spPr>
          <a:xfrm>
            <a:off x="0" y="2178000"/>
            <a:ext cx="8578256" cy="4680000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506274AC-AE2D-69EB-FEA2-FE3D6855D7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0893048"/>
              </p:ext>
            </p:extLst>
          </p:nvPr>
        </p:nvGraphicFramePr>
        <p:xfrm>
          <a:off x="8267404" y="1234938"/>
          <a:ext cx="3672000" cy="3182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435373391"/>
                    </a:ext>
                  </a:extLst>
                </a:gridCol>
                <a:gridCol w="3384000">
                  <a:extLst>
                    <a:ext uri="{9D8B030D-6E8A-4147-A177-3AD203B41FA5}">
                      <a16:colId xmlns:a16="http://schemas.microsoft.com/office/drawing/2014/main" val="2014592507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Description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164192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실시간 듀얼 차트 </a:t>
                      </a:r>
                      <a:r>
                        <a:rPr lang="en-US" altLang="ko-KR" sz="900" b="1" dirty="0"/>
                        <a:t>(Chart.js):</a:t>
                      </a:r>
                      <a:r>
                        <a:rPr lang="ko-KR" altLang="en-US" sz="900" b="1" dirty="0"/>
                        <a:t> </a:t>
                      </a:r>
                      <a:r>
                        <a:rPr lang="ko-KR" altLang="en-US" sz="900" b="0" dirty="0"/>
                        <a:t>휴양형 호텔</a:t>
                      </a:r>
                      <a:r>
                        <a:rPr lang="ko-KR" altLang="en-US" sz="900" dirty="0"/>
                        <a:t>과 도심형 호텔의 도넛 그래프 레이아웃</a:t>
                      </a:r>
                      <a:r>
                        <a:rPr lang="en-US" altLang="ko-KR" sz="900" dirty="0"/>
                        <a:t>. </a:t>
                      </a:r>
                      <a:r>
                        <a:rPr lang="ko-KR" altLang="en-US" sz="900" dirty="0"/>
                        <a:t>입력 폼 제어에 따라 선택된 호텔 타입의 취소 확률 데이터가 실시간으로 반영 및 업데이트됨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1523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인공지능 실시간 분석 리포트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계산된 예측 확률을 기반으로 현재 상태</a:t>
                      </a:r>
                      <a:r>
                        <a:rPr lang="en-US" altLang="ko-KR" sz="900" dirty="0"/>
                        <a:t>(</a:t>
                      </a:r>
                      <a:r>
                        <a:rPr lang="en-US" altLang="ko-KR" sz="900" b="1" dirty="0"/>
                        <a:t>HIGH RISK / STABLE STATUS</a:t>
                      </a:r>
                      <a:r>
                        <a:rPr lang="en-US" altLang="ko-KR" sz="900" dirty="0"/>
                        <a:t>)</a:t>
                      </a:r>
                      <a:r>
                        <a:rPr lang="ko-KR" altLang="en-US" sz="900" dirty="0"/>
                        <a:t>를 판별하고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텍스트 스토리텔링 방식의 맞춤형 인사이트 리포트를 렌더링함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6199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예약 및 개인정보 입력 폼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이름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연락처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예약일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객실 요금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추가 요청 사항 등을 수집하는 영역</a:t>
                      </a:r>
                      <a:r>
                        <a:rPr lang="en-US" altLang="ko-KR" sz="900" dirty="0"/>
                        <a:t>. [</a:t>
                      </a:r>
                      <a:r>
                        <a:rPr lang="ko-KR" altLang="en-US" sz="900" dirty="0"/>
                        <a:t>입력 초기화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시 데이터와 차트가 초기화되며</a:t>
                      </a:r>
                      <a:r>
                        <a:rPr lang="en-US" altLang="ko-KR" sz="900" dirty="0"/>
                        <a:t>, [</a:t>
                      </a:r>
                      <a:r>
                        <a:rPr lang="ko-KR" altLang="en-US" sz="900" dirty="0"/>
                        <a:t>예약하기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클릭 시 </a:t>
                      </a:r>
                      <a:r>
                        <a:rPr lang="en-US" altLang="ko-KR" sz="900" dirty="0"/>
                        <a:t>DB </a:t>
                      </a:r>
                      <a:r>
                        <a:rPr lang="ko-KR" altLang="en-US" sz="900" dirty="0"/>
                        <a:t>연동 기능이 수행됨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36631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solidFill>
                            <a:sysClr val="windowText" lastClr="000000"/>
                          </a:solidFill>
                        </a:rPr>
                        <a:t>Check Point</a:t>
                      </a:r>
                      <a:endParaRPr lang="ko-KR" altLang="en-US" sz="9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8949567"/>
                  </a:ext>
                </a:extLst>
              </a:tr>
              <a:tr h="432000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b="1" dirty="0"/>
                        <a:t>비동기 실시간 예측 트리거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폼 내부의 모든 </a:t>
                      </a:r>
                      <a:r>
                        <a:rPr lang="en-US" altLang="ko-KR" sz="800" dirty="0"/>
                        <a:t>input, select, </a:t>
                      </a:r>
                      <a:r>
                        <a:rPr lang="en-US" altLang="ko-KR" sz="800" dirty="0" err="1"/>
                        <a:t>textarea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값에 변경 이벤트가 발생할 때마다 </a:t>
                      </a:r>
                      <a:r>
                        <a:rPr lang="ko-KR" altLang="en-US" sz="800" dirty="0" err="1"/>
                        <a:t>새로고침</a:t>
                      </a:r>
                      <a:r>
                        <a:rPr lang="ko-KR" altLang="en-US" sz="800" dirty="0"/>
                        <a:t> 없이 </a:t>
                      </a:r>
                      <a:r>
                        <a:rPr lang="ko-KR" altLang="en-US" sz="800" dirty="0" err="1"/>
                        <a:t>백엔드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API(/</a:t>
                      </a:r>
                      <a:r>
                        <a:rPr lang="en-US" altLang="ko-KR" sz="800" dirty="0" err="1"/>
                        <a:t>api</a:t>
                      </a:r>
                      <a:r>
                        <a:rPr lang="en-US" altLang="ko-KR" sz="800" dirty="0"/>
                        <a:t>/predict)</a:t>
                      </a:r>
                      <a:r>
                        <a:rPr lang="ko-KR" altLang="en-US" sz="800" dirty="0"/>
                        <a:t>와 실시간 통신하여 그래프와 리포트 데이터를 동적 갱신함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9299508"/>
                  </a:ext>
                </a:extLst>
              </a:tr>
              <a:tr h="432000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파싱 및 유효성 검증 예외 처리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예약 날짜를 기반으로 선행 기간</a:t>
                      </a:r>
                      <a:r>
                        <a:rPr lang="en-US" altLang="ko-KR" sz="900" dirty="0"/>
                        <a:t>(</a:t>
                      </a:r>
                      <a:r>
                        <a:rPr lang="en-US" altLang="ko-KR" sz="900" dirty="0" err="1"/>
                        <a:t>lead_time</a:t>
                      </a:r>
                      <a:r>
                        <a:rPr lang="en-US" altLang="ko-KR" sz="900" dirty="0"/>
                        <a:t>)</a:t>
                      </a:r>
                      <a:r>
                        <a:rPr lang="ko-KR" altLang="en-US" sz="900" dirty="0"/>
                        <a:t>을 자동 계산하며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추가 요청 사항의 문자열 길이에 따라 가중치 가변 처리</a:t>
                      </a:r>
                      <a:r>
                        <a:rPr lang="en-US" altLang="ko-KR" sz="900" dirty="0"/>
                        <a:t>. </a:t>
                      </a:r>
                      <a:r>
                        <a:rPr lang="ko-KR" altLang="en-US" sz="900" dirty="0"/>
                        <a:t>전화번호 입력란은 숫자 이외의 문자 입력을 차단함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5794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36063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55569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2295</TotalTime>
  <Words>1843</Words>
  <Application>Microsoft Office PowerPoint</Application>
  <PresentationFormat>와이드스크린</PresentationFormat>
  <Paragraphs>264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Noto Sans KR Black</vt:lpstr>
      <vt:lpstr>Arial</vt:lpstr>
      <vt:lpstr>Noto Sans KR</vt:lpstr>
      <vt:lpstr>맑은 고딕</vt:lpstr>
      <vt:lpstr>Arial Unicode MS</vt:lpstr>
      <vt:lpstr>Office 테마</vt:lpstr>
      <vt:lpstr>생성형 AI기반  스마트 호텔 올인원 서비스 프로젝트 수행 결과서</vt:lpstr>
      <vt:lpstr>   목차</vt:lpstr>
      <vt:lpstr>   기획의도</vt:lpstr>
      <vt:lpstr>   기획의도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혜린 신</dc:creator>
  <cp:lastModifiedBy>혜린 신</cp:lastModifiedBy>
  <cp:revision>37</cp:revision>
  <dcterms:created xsi:type="dcterms:W3CDTF">2026-03-17T06:15:52Z</dcterms:created>
  <dcterms:modified xsi:type="dcterms:W3CDTF">2026-06-15T08:46:22Z</dcterms:modified>
</cp:coreProperties>
</file>