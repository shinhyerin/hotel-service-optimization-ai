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74" r:id="rId3"/>
    <p:sldId id="257" r:id="rId4"/>
    <p:sldId id="293" r:id="rId5"/>
    <p:sldId id="262" r:id="rId6"/>
    <p:sldId id="275" r:id="rId7"/>
    <p:sldId id="276" r:id="rId8"/>
    <p:sldId id="263" r:id="rId9"/>
    <p:sldId id="277" r:id="rId10"/>
    <p:sldId id="278" r:id="rId11"/>
    <p:sldId id="279" r:id="rId12"/>
    <p:sldId id="264" r:id="rId13"/>
    <p:sldId id="282" r:id="rId14"/>
    <p:sldId id="265" r:id="rId15"/>
    <p:sldId id="280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AD9D"/>
    <a:srgbClr val="8D775C"/>
    <a:srgbClr val="8F7A5F"/>
    <a:srgbClr val="C9A063"/>
    <a:srgbClr val="FD802F"/>
    <a:srgbClr val="FFD400"/>
    <a:srgbClr val="FFFFFF"/>
    <a:srgbClr val="FFFA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84" autoAdjust="0"/>
    <p:restoredTop sz="94660"/>
  </p:normalViewPr>
  <p:slideViewPr>
    <p:cSldViewPr snapToGrid="0">
      <p:cViewPr>
        <p:scale>
          <a:sx n="110" d="100"/>
          <a:sy n="110" d="100"/>
        </p:scale>
        <p:origin x="3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혜린 신" userId="5adea4bc7da63cbc" providerId="LiveId" clId="{006129DB-ED47-489C-BE29-1CD45A3BB9BA}"/>
    <pc:docChg chg="undo custSel addSld delSld modSld">
      <pc:chgData name="혜린 신" userId="5adea4bc7da63cbc" providerId="LiveId" clId="{006129DB-ED47-489C-BE29-1CD45A3BB9BA}" dt="2026-03-19T05:32:08.450" v="1842" actId="1076"/>
      <pc:docMkLst>
        <pc:docMk/>
      </pc:docMkLst>
      <pc:sldChg chg="modSp mod">
        <pc:chgData name="혜린 신" userId="5adea4bc7da63cbc" providerId="LiveId" clId="{006129DB-ED47-489C-BE29-1CD45A3BB9BA}" dt="2026-03-19T01:44:00.355" v="244" actId="113"/>
        <pc:sldMkLst>
          <pc:docMk/>
          <pc:sldMk cId="1880328308" sldId="256"/>
        </pc:sldMkLst>
        <pc:spChg chg="mod">
          <ac:chgData name="혜린 신" userId="5adea4bc7da63cbc" providerId="LiveId" clId="{006129DB-ED47-489C-BE29-1CD45A3BB9BA}" dt="2026-03-19T01:44:00.355" v="244" actId="113"/>
          <ac:spMkLst>
            <pc:docMk/>
            <pc:sldMk cId="1880328308" sldId="256"/>
            <ac:spMk id="2" creationId="{F4BD9DDA-6410-1F74-6A94-ABFD21A84C60}"/>
          </ac:spMkLst>
        </pc:spChg>
        <pc:spChg chg="mod">
          <ac:chgData name="혜린 신" userId="5adea4bc7da63cbc" providerId="LiveId" clId="{006129DB-ED47-489C-BE29-1CD45A3BB9BA}" dt="2026-03-19T01:39:44.478" v="234" actId="113"/>
          <ac:spMkLst>
            <pc:docMk/>
            <pc:sldMk cId="1880328308" sldId="256"/>
            <ac:spMk id="3" creationId="{82CE0B4F-47D8-BF46-65A7-7841EA7BDD30}"/>
          </ac:spMkLst>
        </pc:spChg>
      </pc:sldChg>
      <pc:sldChg chg="modSp mod">
        <pc:chgData name="혜린 신" userId="5adea4bc7da63cbc" providerId="LiveId" clId="{006129DB-ED47-489C-BE29-1CD45A3BB9BA}" dt="2026-03-19T02:35:36.590" v="1643" actId="20577"/>
        <pc:sldMkLst>
          <pc:docMk/>
          <pc:sldMk cId="2724097635" sldId="257"/>
        </pc:sldMkLst>
        <pc:spChg chg="mod">
          <ac:chgData name="혜린 신" userId="5adea4bc7da63cbc" providerId="LiveId" clId="{006129DB-ED47-489C-BE29-1CD45A3BB9BA}" dt="2026-03-19T01:44:34.021" v="246" actId="113"/>
          <ac:spMkLst>
            <pc:docMk/>
            <pc:sldMk cId="2724097635" sldId="257"/>
            <ac:spMk id="2" creationId="{97C5E664-A6F3-6843-C4F4-A9117F037841}"/>
          </ac:spMkLst>
        </pc:spChg>
        <pc:spChg chg="mod">
          <ac:chgData name="혜린 신" userId="5adea4bc7da63cbc" providerId="LiveId" clId="{006129DB-ED47-489C-BE29-1CD45A3BB9BA}" dt="2026-03-19T02:35:36.590" v="1643" actId="20577"/>
          <ac:spMkLst>
            <pc:docMk/>
            <pc:sldMk cId="2724097635" sldId="257"/>
            <ac:spMk id="3" creationId="{5EA8D967-A763-1F0B-A37F-1E09A1F9F81B}"/>
          </ac:spMkLst>
        </pc:spChg>
      </pc:sldChg>
      <pc:sldChg chg="modSp del mod">
        <pc:chgData name="혜린 신" userId="5adea4bc7da63cbc" providerId="LiveId" clId="{006129DB-ED47-489C-BE29-1CD45A3BB9BA}" dt="2026-03-19T01:53:30.333" v="476" actId="47"/>
        <pc:sldMkLst>
          <pc:docMk/>
          <pc:sldMk cId="1330834609" sldId="259"/>
        </pc:sldMkLst>
        <pc:spChg chg="mod">
          <ac:chgData name="혜린 신" userId="5adea4bc7da63cbc" providerId="LiveId" clId="{006129DB-ED47-489C-BE29-1CD45A3BB9BA}" dt="2026-03-19T01:46:41.450" v="340" actId="113"/>
          <ac:spMkLst>
            <pc:docMk/>
            <pc:sldMk cId="1330834609" sldId="259"/>
            <ac:spMk id="2" creationId="{A7E72BEF-73D1-8EB2-03AA-3115BDD6B139}"/>
          </ac:spMkLst>
        </pc:spChg>
        <pc:spChg chg="mod">
          <ac:chgData name="혜린 신" userId="5adea4bc7da63cbc" providerId="LiveId" clId="{006129DB-ED47-489C-BE29-1CD45A3BB9BA}" dt="2026-03-19T01:33:44.130" v="182"/>
          <ac:spMkLst>
            <pc:docMk/>
            <pc:sldMk cId="1330834609" sldId="259"/>
            <ac:spMk id="3" creationId="{4DF33E91-DE90-8D14-6EC9-DA1097C32CF5}"/>
          </ac:spMkLst>
        </pc:spChg>
      </pc:sldChg>
      <pc:sldChg chg="addSp delSp modSp del mod">
        <pc:chgData name="혜린 신" userId="5adea4bc7da63cbc" providerId="LiveId" clId="{006129DB-ED47-489C-BE29-1CD45A3BB9BA}" dt="2026-03-18T04:31:40.508" v="41" actId="47"/>
        <pc:sldMkLst>
          <pc:docMk/>
          <pc:sldMk cId="3316586898" sldId="260"/>
        </pc:sldMkLst>
        <pc:spChg chg="mod">
          <ac:chgData name="혜린 신" userId="5adea4bc7da63cbc" providerId="LiveId" clId="{006129DB-ED47-489C-BE29-1CD45A3BB9BA}" dt="2026-03-18T04:31:37.544" v="39" actId="20577"/>
          <ac:spMkLst>
            <pc:docMk/>
            <pc:sldMk cId="3316586898" sldId="260"/>
            <ac:spMk id="2" creationId="{746FC5CC-1A61-1AD5-A209-A93CC2261B0A}"/>
          </ac:spMkLst>
        </pc:spChg>
        <pc:spChg chg="del">
          <ac:chgData name="혜린 신" userId="5adea4bc7da63cbc" providerId="LiveId" clId="{006129DB-ED47-489C-BE29-1CD45A3BB9BA}" dt="2026-03-18T04:31:28.330" v="17" actId="478"/>
          <ac:spMkLst>
            <pc:docMk/>
            <pc:sldMk cId="3316586898" sldId="260"/>
            <ac:spMk id="3" creationId="{BB852E26-1989-AF73-5FAB-F9482D29FAD0}"/>
          </ac:spMkLst>
        </pc:spChg>
        <pc:spChg chg="del mod">
          <ac:chgData name="혜린 신" userId="5adea4bc7da63cbc" providerId="LiveId" clId="{006129DB-ED47-489C-BE29-1CD45A3BB9BA}" dt="2026-03-18T04:31:26.284" v="16" actId="478"/>
          <ac:spMkLst>
            <pc:docMk/>
            <pc:sldMk cId="3316586898" sldId="260"/>
            <ac:spMk id="4" creationId="{DE74E8E6-4A4B-06BB-42AA-C060A0E27EF0}"/>
          </ac:spMkLst>
        </pc:spChg>
        <pc:spChg chg="del">
          <ac:chgData name="혜린 신" userId="5adea4bc7da63cbc" providerId="LiveId" clId="{006129DB-ED47-489C-BE29-1CD45A3BB9BA}" dt="2026-03-18T04:31:21.599" v="14" actId="478"/>
          <ac:spMkLst>
            <pc:docMk/>
            <pc:sldMk cId="3316586898" sldId="260"/>
            <ac:spMk id="6" creationId="{08B20821-D3D6-8A38-F5DE-C89D7E8D64CF}"/>
          </ac:spMkLst>
        </pc:spChg>
        <pc:spChg chg="add del mod">
          <ac:chgData name="혜린 신" userId="5adea4bc7da63cbc" providerId="LiveId" clId="{006129DB-ED47-489C-BE29-1CD45A3BB9BA}" dt="2026-03-18T04:31:29.539" v="19" actId="478"/>
          <ac:spMkLst>
            <pc:docMk/>
            <pc:sldMk cId="3316586898" sldId="260"/>
            <ac:spMk id="7" creationId="{EC501AFE-392C-A486-E763-D4B693EDDE85}"/>
          </ac:spMkLst>
        </pc:spChg>
        <pc:spChg chg="add del mod">
          <ac:chgData name="혜린 신" userId="5adea4bc7da63cbc" providerId="LiveId" clId="{006129DB-ED47-489C-BE29-1CD45A3BB9BA}" dt="2026-03-18T04:31:30.487" v="20" actId="478"/>
          <ac:spMkLst>
            <pc:docMk/>
            <pc:sldMk cId="3316586898" sldId="260"/>
            <ac:spMk id="9" creationId="{C8632492-A662-C18A-2724-4F5508491201}"/>
          </ac:spMkLst>
        </pc:spChg>
      </pc:sldChg>
      <pc:sldChg chg="addSp delSp modSp add mod modClrScheme chgLayout">
        <pc:chgData name="혜린 신" userId="5adea4bc7da63cbc" providerId="LiveId" clId="{006129DB-ED47-489C-BE29-1CD45A3BB9BA}" dt="2026-03-19T05:31:21.697" v="1841" actId="113"/>
        <pc:sldMkLst>
          <pc:docMk/>
          <pc:sldMk cId="1239003251" sldId="261"/>
        </pc:sldMkLst>
        <pc:spChg chg="mod ord">
          <ac:chgData name="혜린 신" userId="5adea4bc7da63cbc" providerId="LiveId" clId="{006129DB-ED47-489C-BE29-1CD45A3BB9BA}" dt="2026-03-19T02:11:02.141" v="1139" actId="113"/>
          <ac:spMkLst>
            <pc:docMk/>
            <pc:sldMk cId="1239003251" sldId="261"/>
            <ac:spMk id="2" creationId="{A7E72BEF-73D1-8EB2-03AA-3115BDD6B139}"/>
          </ac:spMkLst>
        </pc:spChg>
        <pc:spChg chg="del mod ord">
          <ac:chgData name="혜린 신" userId="5adea4bc7da63cbc" providerId="LiveId" clId="{006129DB-ED47-489C-BE29-1CD45A3BB9BA}" dt="2026-03-19T05:30:22.575" v="1743" actId="478"/>
          <ac:spMkLst>
            <pc:docMk/>
            <pc:sldMk cId="1239003251" sldId="261"/>
            <ac:spMk id="3" creationId="{4DF33E91-DE90-8D14-6EC9-DA1097C32CF5}"/>
          </ac:spMkLst>
        </pc:spChg>
        <pc:spChg chg="add del mod ord">
          <ac:chgData name="혜린 신" userId="5adea4bc7da63cbc" providerId="LiveId" clId="{006129DB-ED47-489C-BE29-1CD45A3BB9BA}" dt="2026-03-19T05:30:21.278" v="1742" actId="478"/>
          <ac:spMkLst>
            <pc:docMk/>
            <pc:sldMk cId="1239003251" sldId="261"/>
            <ac:spMk id="4" creationId="{1A508842-32F4-CCED-A39C-C48116CE2C4B}"/>
          </ac:spMkLst>
        </pc:spChg>
        <pc:spChg chg="add del mod">
          <ac:chgData name="혜린 신" userId="5adea4bc7da63cbc" providerId="LiveId" clId="{006129DB-ED47-489C-BE29-1CD45A3BB9BA}" dt="2026-03-19T02:10:08.682" v="1130" actId="478"/>
          <ac:spMkLst>
            <pc:docMk/>
            <pc:sldMk cId="1239003251" sldId="261"/>
            <ac:spMk id="5" creationId="{63FE32F8-0153-1B28-5B42-552B408C0BB3}"/>
          </ac:spMkLst>
        </pc:spChg>
        <pc:spChg chg="add del mod">
          <ac:chgData name="혜린 신" userId="5adea4bc7da63cbc" providerId="LiveId" clId="{006129DB-ED47-489C-BE29-1CD45A3BB9BA}" dt="2026-03-19T05:30:28.805" v="1745" actId="478"/>
          <ac:spMkLst>
            <pc:docMk/>
            <pc:sldMk cId="1239003251" sldId="261"/>
            <ac:spMk id="6" creationId="{BC43E2C4-18EF-0F50-03B2-6BE1F36AA8FA}"/>
          </ac:spMkLst>
        </pc:spChg>
        <pc:spChg chg="add del mod">
          <ac:chgData name="혜린 신" userId="5adea4bc7da63cbc" providerId="LiveId" clId="{006129DB-ED47-489C-BE29-1CD45A3BB9BA}" dt="2026-03-19T05:30:54.202" v="1834" actId="478"/>
          <ac:spMkLst>
            <pc:docMk/>
            <pc:sldMk cId="1239003251" sldId="261"/>
            <ac:spMk id="7" creationId="{2AF6224E-DCC8-97F1-AF43-EE0D310062AC}"/>
          </ac:spMkLst>
        </pc:spChg>
        <pc:spChg chg="add mod">
          <ac:chgData name="혜린 신" userId="5adea4bc7da63cbc" providerId="LiveId" clId="{006129DB-ED47-489C-BE29-1CD45A3BB9BA}" dt="2026-03-19T05:31:21.697" v="1841" actId="113"/>
          <ac:spMkLst>
            <pc:docMk/>
            <pc:sldMk cId="1239003251" sldId="261"/>
            <ac:spMk id="9" creationId="{D5E087DB-D39A-8AF6-66E4-BFB4705E8D5E}"/>
          </ac:spMkLst>
        </pc:spChg>
      </pc:sldChg>
      <pc:sldChg chg="addSp delSp modSp new mod">
        <pc:chgData name="혜린 신" userId="5adea4bc7da63cbc" providerId="LiveId" clId="{006129DB-ED47-489C-BE29-1CD45A3BB9BA}" dt="2026-03-19T02:08:31.274" v="1120" actId="478"/>
        <pc:sldMkLst>
          <pc:docMk/>
          <pc:sldMk cId="3180855730" sldId="262"/>
        </pc:sldMkLst>
        <pc:spChg chg="mod">
          <ac:chgData name="혜린 신" userId="5adea4bc7da63cbc" providerId="LiveId" clId="{006129DB-ED47-489C-BE29-1CD45A3BB9BA}" dt="2026-03-19T02:02:09.531" v="590" actId="2711"/>
          <ac:spMkLst>
            <pc:docMk/>
            <pc:sldMk cId="3180855730" sldId="262"/>
            <ac:spMk id="2" creationId="{1704333C-3927-F797-5EEF-59E04DBFC292}"/>
          </ac:spMkLst>
        </pc:spChg>
        <pc:spChg chg="mod">
          <ac:chgData name="혜린 신" userId="5adea4bc7da63cbc" providerId="LiveId" clId="{006129DB-ED47-489C-BE29-1CD45A3BB9BA}" dt="2026-03-19T02:03:57.489" v="719" actId="27636"/>
          <ac:spMkLst>
            <pc:docMk/>
            <pc:sldMk cId="3180855730" sldId="262"/>
            <ac:spMk id="3" creationId="{86B1D136-6594-3C31-CC2C-47E7378E927B}"/>
          </ac:spMkLst>
        </pc:spChg>
        <pc:spChg chg="mod">
          <ac:chgData name="혜린 신" userId="5adea4bc7da63cbc" providerId="LiveId" clId="{006129DB-ED47-489C-BE29-1CD45A3BB9BA}" dt="2026-03-19T02:04:47.405" v="778" actId="20577"/>
          <ac:spMkLst>
            <pc:docMk/>
            <pc:sldMk cId="3180855730" sldId="262"/>
            <ac:spMk id="4" creationId="{70A180C4-6709-0194-6E45-04D926791744}"/>
          </ac:spMkLst>
        </pc:spChg>
        <pc:spChg chg="add mod">
          <ac:chgData name="혜린 신" userId="5adea4bc7da63cbc" providerId="LiveId" clId="{006129DB-ED47-489C-BE29-1CD45A3BB9BA}" dt="2026-03-19T02:06:51.924" v="938" actId="20577"/>
          <ac:spMkLst>
            <pc:docMk/>
            <pc:sldMk cId="3180855730" sldId="262"/>
            <ac:spMk id="5" creationId="{86B1D136-6594-3C31-CC2C-47E7378E927B}"/>
          </ac:spMkLst>
        </pc:spChg>
        <pc:spChg chg="add mod">
          <ac:chgData name="혜린 신" userId="5adea4bc7da63cbc" providerId="LiveId" clId="{006129DB-ED47-489C-BE29-1CD45A3BB9BA}" dt="2026-03-19T02:08:24.304" v="1119" actId="255"/>
          <ac:spMkLst>
            <pc:docMk/>
            <pc:sldMk cId="3180855730" sldId="262"/>
            <ac:spMk id="6" creationId="{70A180C4-6709-0194-6E45-04D926791744}"/>
          </ac:spMkLst>
        </pc:spChg>
        <pc:spChg chg="add del mod">
          <ac:chgData name="혜린 신" userId="5adea4bc7da63cbc" providerId="LiveId" clId="{006129DB-ED47-489C-BE29-1CD45A3BB9BA}" dt="2026-03-19T02:08:31.274" v="1120" actId="478"/>
          <ac:spMkLst>
            <pc:docMk/>
            <pc:sldMk cId="3180855730" sldId="262"/>
            <ac:spMk id="7" creationId="{6A7135B2-A26A-F2C6-C298-47A09EDDC4DB}"/>
          </ac:spMkLst>
        </pc:spChg>
      </pc:sldChg>
      <pc:sldChg chg="addSp delSp modSp add del mod">
        <pc:chgData name="혜린 신" userId="5adea4bc7da63cbc" providerId="LiveId" clId="{006129DB-ED47-489C-BE29-1CD45A3BB9BA}" dt="2026-03-19T02:00:38.305" v="542" actId="47"/>
        <pc:sldMkLst>
          <pc:docMk/>
          <pc:sldMk cId="3639733745" sldId="263"/>
        </pc:sldMkLst>
        <pc:spChg chg="del mod">
          <ac:chgData name="혜린 신" userId="5adea4bc7da63cbc" providerId="LiveId" clId="{006129DB-ED47-489C-BE29-1CD45A3BB9BA}" dt="2026-03-19T01:59:55.630" v="531" actId="21"/>
          <ac:spMkLst>
            <pc:docMk/>
            <pc:sldMk cId="3639733745" sldId="263"/>
            <ac:spMk id="3" creationId="{86B1D136-6594-3C31-CC2C-47E7378E927B}"/>
          </ac:spMkLst>
        </pc:spChg>
        <pc:spChg chg="del mod">
          <ac:chgData name="혜린 신" userId="5adea4bc7da63cbc" providerId="LiveId" clId="{006129DB-ED47-489C-BE29-1CD45A3BB9BA}" dt="2026-03-19T02:00:02.888" v="534" actId="21"/>
          <ac:spMkLst>
            <pc:docMk/>
            <pc:sldMk cId="3639733745" sldId="263"/>
            <ac:spMk id="4" creationId="{70A180C4-6709-0194-6E45-04D926791744}"/>
          </ac:spMkLst>
        </pc:spChg>
        <pc:spChg chg="add del mod">
          <ac:chgData name="혜린 신" userId="5adea4bc7da63cbc" providerId="LiveId" clId="{006129DB-ED47-489C-BE29-1CD45A3BB9BA}" dt="2026-03-19T02:00:17.613" v="539" actId="21"/>
          <ac:spMkLst>
            <pc:docMk/>
            <pc:sldMk cId="3639733745" sldId="263"/>
            <ac:spMk id="5" creationId="{6A7135B2-A26A-F2C6-C298-47A09EDDC4DB}"/>
          </ac:spMkLst>
        </pc:spChg>
        <pc:spChg chg="add mod">
          <ac:chgData name="혜린 신" userId="5adea4bc7da63cbc" providerId="LiveId" clId="{006129DB-ED47-489C-BE29-1CD45A3BB9BA}" dt="2026-03-19T01:59:55.630" v="531" actId="21"/>
          <ac:spMkLst>
            <pc:docMk/>
            <pc:sldMk cId="3639733745" sldId="263"/>
            <ac:spMk id="7" creationId="{CA9BC4A7-66E5-0B19-33A8-3F5E33123830}"/>
          </ac:spMkLst>
        </pc:spChg>
        <pc:spChg chg="add mod">
          <ac:chgData name="혜린 신" userId="5adea4bc7da63cbc" providerId="LiveId" clId="{006129DB-ED47-489C-BE29-1CD45A3BB9BA}" dt="2026-03-19T02:00:15.354" v="537" actId="14100"/>
          <ac:spMkLst>
            <pc:docMk/>
            <pc:sldMk cId="3639733745" sldId="263"/>
            <ac:spMk id="9" creationId="{D3CB362E-3D0B-5244-4FB6-849FDE8F3633}"/>
          </ac:spMkLst>
        </pc:spChg>
      </pc:sldChg>
      <pc:sldChg chg="addSp delSp modSp new mod">
        <pc:chgData name="혜린 신" userId="5adea4bc7da63cbc" providerId="LiveId" clId="{006129DB-ED47-489C-BE29-1CD45A3BB9BA}" dt="2026-03-19T05:09:56.300" v="1728" actId="20577"/>
        <pc:sldMkLst>
          <pc:docMk/>
          <pc:sldMk cId="2173242103" sldId="264"/>
        </pc:sldMkLst>
        <pc:spChg chg="mod">
          <ac:chgData name="혜린 신" userId="5adea4bc7da63cbc" providerId="LiveId" clId="{006129DB-ED47-489C-BE29-1CD45A3BB9BA}" dt="2026-03-19T05:09:56.300" v="1728" actId="20577"/>
          <ac:spMkLst>
            <pc:docMk/>
            <pc:sldMk cId="2173242103" sldId="264"/>
            <ac:spMk id="2" creationId="{3DE12A3C-24E9-0ED6-A8DA-DF39C30376B2}"/>
          </ac:spMkLst>
        </pc:spChg>
        <pc:spChg chg="del mod">
          <ac:chgData name="혜린 신" userId="5adea4bc7da63cbc" providerId="LiveId" clId="{006129DB-ED47-489C-BE29-1CD45A3BB9BA}" dt="2026-03-19T02:20:37.666" v="1545" actId="478"/>
          <ac:spMkLst>
            <pc:docMk/>
            <pc:sldMk cId="2173242103" sldId="264"/>
            <ac:spMk id="3" creationId="{0DF34DEF-64F2-F910-DDCA-9562CDC57915}"/>
          </ac:spMkLst>
        </pc:spChg>
        <pc:spChg chg="del mod">
          <ac:chgData name="혜린 신" userId="5adea4bc7da63cbc" providerId="LiveId" clId="{006129DB-ED47-489C-BE29-1CD45A3BB9BA}" dt="2026-03-19T02:13:13.750" v="1186" actId="478"/>
          <ac:spMkLst>
            <pc:docMk/>
            <pc:sldMk cId="2173242103" sldId="264"/>
            <ac:spMk id="4" creationId="{D2A8C7F6-2114-E214-1D3B-2BE71E7589FF}"/>
          </ac:spMkLst>
        </pc:spChg>
        <pc:spChg chg="add mod">
          <ac:chgData name="혜린 신" userId="5adea4bc7da63cbc" providerId="LiveId" clId="{006129DB-ED47-489C-BE29-1CD45A3BB9BA}" dt="2026-03-19T01:35:33.303" v="215" actId="6549"/>
          <ac:spMkLst>
            <pc:docMk/>
            <pc:sldMk cId="2173242103" sldId="264"/>
            <ac:spMk id="5" creationId="{4A04E4E7-A6C2-45ED-1409-CB076012A6FC}"/>
          </ac:spMkLst>
        </pc:spChg>
        <pc:spChg chg="add mod">
          <ac:chgData name="혜린 신" userId="5adea4bc7da63cbc" providerId="LiveId" clId="{006129DB-ED47-489C-BE29-1CD45A3BB9BA}" dt="2026-03-19T02:27:35.171" v="1636" actId="1076"/>
          <ac:spMkLst>
            <pc:docMk/>
            <pc:sldMk cId="2173242103" sldId="264"/>
            <ac:spMk id="6" creationId="{7CFEE43E-AAA9-E78C-CCA5-BB1B2F42AD19}"/>
          </ac:spMkLst>
        </pc:spChg>
        <pc:spChg chg="add mod">
          <ac:chgData name="혜린 신" userId="5adea4bc7da63cbc" providerId="LiveId" clId="{006129DB-ED47-489C-BE29-1CD45A3BB9BA}" dt="2026-03-19T02:27:43.534" v="1638" actId="14100"/>
          <ac:spMkLst>
            <pc:docMk/>
            <pc:sldMk cId="2173242103" sldId="264"/>
            <ac:spMk id="8" creationId="{A8E73566-B778-F86C-A355-4F36759DF8CA}"/>
          </ac:spMkLst>
        </pc:spChg>
      </pc:sldChg>
      <pc:sldChg chg="addSp delSp modSp add mod">
        <pc:chgData name="혜린 신" userId="5adea4bc7da63cbc" providerId="LiveId" clId="{006129DB-ED47-489C-BE29-1CD45A3BB9BA}" dt="2026-03-19T05:32:08.450" v="1842" actId="1076"/>
        <pc:sldMkLst>
          <pc:docMk/>
          <pc:sldMk cId="737299096" sldId="265"/>
        </pc:sldMkLst>
        <pc:spChg chg="mod">
          <ac:chgData name="혜린 신" userId="5adea4bc7da63cbc" providerId="LiveId" clId="{006129DB-ED47-489C-BE29-1CD45A3BB9BA}" dt="2026-03-19T05:10:01.284" v="1738" actId="20577"/>
          <ac:spMkLst>
            <pc:docMk/>
            <pc:sldMk cId="737299096" sldId="265"/>
            <ac:spMk id="2" creationId="{3DE12A3C-24E9-0ED6-A8DA-DF39C30376B2}"/>
          </ac:spMkLst>
        </pc:spChg>
        <pc:spChg chg="mod">
          <ac:chgData name="혜린 신" userId="5adea4bc7da63cbc" providerId="LiveId" clId="{006129DB-ED47-489C-BE29-1CD45A3BB9BA}" dt="2026-03-19T05:32:08.450" v="1842" actId="1076"/>
          <ac:spMkLst>
            <pc:docMk/>
            <pc:sldMk cId="737299096" sldId="265"/>
            <ac:spMk id="3" creationId="{0DF34DEF-64F2-F910-DDCA-9562CDC57915}"/>
          </ac:spMkLst>
        </pc:spChg>
        <pc:spChg chg="mod">
          <ac:chgData name="혜린 신" userId="5adea4bc7da63cbc" providerId="LiveId" clId="{006129DB-ED47-489C-BE29-1CD45A3BB9BA}" dt="2026-03-19T02:27:24.933" v="1634" actId="20577"/>
          <ac:spMkLst>
            <pc:docMk/>
            <pc:sldMk cId="737299096" sldId="265"/>
            <ac:spMk id="4" creationId="{D2A8C7F6-2114-E214-1D3B-2BE71E7589FF}"/>
          </ac:spMkLst>
        </pc:spChg>
        <pc:spChg chg="add del mod">
          <ac:chgData name="혜린 신" userId="5adea4bc7da63cbc" providerId="LiveId" clId="{006129DB-ED47-489C-BE29-1CD45A3BB9BA}" dt="2026-03-19T02:19:33.861" v="1508" actId="478"/>
          <ac:spMkLst>
            <pc:docMk/>
            <pc:sldMk cId="737299096" sldId="265"/>
            <ac:spMk id="6" creationId="{002B05AC-2CD8-537C-9C69-0BF7DF3FA5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71D51-8A19-4BEA-9750-E87DB394B54C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FAA0A-814C-4D3B-A4DE-794F9EB0F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44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67586-B62B-4F97-F9D3-663CB92A4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E2DDB6-C587-7E94-5036-39A64AAA0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BB4BA8-FA6E-690E-C083-8853DD031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D80C6-7BF1-3B22-22D9-DEB5C6F4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8710B3-FBB5-85C5-76E2-C6A345BF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346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C3B95-92B7-BA44-43EB-C57ED45C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1A2ED-9CFF-6002-751A-E34F1E56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A5BD20-EDD7-59D5-C50B-2AAE9E94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74B935-60A8-03C6-C302-ABC8C4EA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5D1696-A134-EDBC-52B7-2F8AFC6C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83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1AA29E-4AFF-553C-934D-4ADAAA07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29C10C-3681-96A5-D906-4CD0CFF69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21118A-323A-915D-0F87-23FED6ED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22F649-C515-E05B-AF16-65D9D5496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30C56B-7419-A09C-2D4D-CE03DC129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852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F71BA-3CAB-62CE-B1A8-0B57F06D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452E23-15E7-FBD7-0826-AC958AB91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6005FE-C902-8E68-FE76-28CAD775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65C47A-E3A0-B753-4D0B-9C4EFD53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9A8754-BE79-941C-A2BE-3153B512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A0DA21-FF3C-F340-C0E6-5F404225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72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8CFBD-4F3B-14E5-CBBF-5A2356F0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5BA703-92F8-D644-01C2-991574455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E5FDB2-F10E-7452-6048-799E2AD33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4D93139-C3F3-57A0-5EC5-0A6B67C51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BC998E-5890-327A-907F-969A37C05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6EE1A5-3874-F396-0F7B-4C030C9E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7EE2BC-120D-E000-F4C4-89180033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921C2F-7646-725F-5F21-1A44AFA0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18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07780-4F34-906D-2E05-75EF7519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457ECC-F4BB-5F13-86C0-43A8997B1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2592E3-90F5-E824-38B7-D8E0D493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579572-12DC-AD29-81BE-C3DEAF29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10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CC1785-2247-A3AE-B631-2AF84193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165E1B-FC72-A477-46D2-D298DF5F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E38255-D771-5480-84CE-8528264A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63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C2023-CF4F-097B-4932-1BF771E20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F45860-BE6E-DE8C-1A7C-5A5654440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DF9599-3EAE-778A-AA03-CDF694784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7E3AA2-FC1E-6E60-DC54-95C70D6A9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FB5714-C024-EBDC-E82C-9CE2CAB7E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BFE02E-2F07-A4F5-B34A-FDF51530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09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7986F-C1FE-9879-A7A5-D6E74A432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CF20C1-91BD-6693-4390-94B7D78F3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C3FA89-7B9E-A2B6-59B3-AABBCED25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5F2029-DE32-2573-1381-192C069E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86CD83-BABD-FF5B-ACBE-8A9D27EC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9CD9C7-33B0-E36E-2FBF-473D8977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56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16447-59EB-8BC4-EC22-C269E360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1CB07F-9222-06A7-B63F-9CF53E504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5E716-0A27-C400-31CF-F47323EE5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6D2B25-E786-DC88-AD5F-ACA78F95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9AF6C2-5F61-C825-40B1-03CB6022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655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48E22D-D1D3-A97E-DC6B-2D6FD106B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A3A6FC-9B11-2DAE-00BD-A75037AD6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262885-4696-33DD-0489-03675487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AD23BB-0530-1AEA-3A4B-E7D8F9F8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115DFB-F5CA-231E-6171-57FF6BDA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77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7E5880-AC21-439F-AB11-42B1DB0A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7CE7E3-B3A2-5723-C4DA-98BDC14E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A46755-F84B-0EC2-3126-5A0CB1D62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27968-2FEC-4B32-BACB-7408E34A3E1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DC04B1-14D5-2C82-4215-1E586AC32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AA5210-11D6-4416-00B8-192C998E9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354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D9DDA-6410-1F74-6A94-ABFD21A84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000" y="1250066"/>
            <a:ext cx="8765662" cy="2902369"/>
          </a:xfrm>
        </p:spPr>
        <p:txBody>
          <a:bodyPr>
            <a:noAutofit/>
          </a:bodyPr>
          <a:lstStyle/>
          <a:p>
            <a:pPr algn="l"/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생성형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</a:t>
            </a:r>
            <a:b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스마트 호텔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올인원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서비스</a:t>
            </a:r>
            <a:br>
              <a:rPr lang="en-US" altLang="ko-KR" sz="5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br>
              <a:rPr lang="en-US" altLang="ko-KR" sz="5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4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수행 결과서</a:t>
            </a:r>
            <a:endParaRPr lang="ko-KR" altLang="en-US" sz="5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CE0B4F-47D8-BF46-65A7-7841EA7BDD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6000" y="4585808"/>
            <a:ext cx="3600000" cy="1080000"/>
          </a:xfrm>
        </p:spPr>
        <p:txBody>
          <a:bodyPr anchor="ctr" anchorCtr="0">
            <a:normAutofit fontScale="92500" lnSpcReduction="10000"/>
          </a:bodyPr>
          <a:lstStyle/>
          <a:p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2026.06.17.</a:t>
            </a:r>
          </a:p>
          <a:p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신혜린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298E60-FF59-F86F-F449-137837A280A8}"/>
              </a:ext>
            </a:extLst>
          </p:cNvPr>
          <p:cNvSpPr/>
          <p:nvPr/>
        </p:nvSpPr>
        <p:spPr>
          <a:xfrm>
            <a:off x="1056000" y="3402000"/>
            <a:ext cx="10080000" cy="54000"/>
          </a:xfrm>
          <a:prstGeom prst="rect">
            <a:avLst/>
          </a:prstGeom>
          <a:solidFill>
            <a:srgbClr val="BAAD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328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5E664-A6F3-6843-C4F4-A9117F037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518317" cy="1080000"/>
          </a:xfrm>
        </p:spPr>
        <p:txBody>
          <a:bodyPr/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7E1282-07AB-0118-5C66-A89F3F66C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134" y="1098433"/>
            <a:ext cx="9074779" cy="4661134"/>
          </a:xfrm>
        </p:spPr>
        <p:txBody>
          <a:bodyPr lIns="180000" tIns="180000" rIns="180000" bIns="180000" numCol="2" anchor="ctr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BAAD9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01.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기획의도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BAAD9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02.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개발목표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BAAD9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03.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사용기술 목록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경험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BAAD9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04.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개발 스케줄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BAAD9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05.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요구사항 분석서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BAAD9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06.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화면 설계서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BAAD9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07.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UML	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BAAD9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08.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ER Diagram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BAAD9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09.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주요 기능 및 소스코드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BAAD9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10.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소프트웨어 아키텍처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BAAD9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11.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향후 개발 계획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BAAD9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12.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수행 소감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	</a:t>
            </a:r>
            <a:r>
              <a:rPr lang="en-US" altLang="ko-KR" sz="2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		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59EDB4E-7EEC-A65E-CEB8-96B7FA2C8271}"/>
              </a:ext>
            </a:extLst>
          </p:cNvPr>
          <p:cNvCxnSpPr>
            <a:cxnSpLocks/>
          </p:cNvCxnSpPr>
          <p:nvPr/>
        </p:nvCxnSpPr>
        <p:spPr>
          <a:xfrm>
            <a:off x="6096000" y="1089000"/>
            <a:ext cx="0" cy="4680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57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5E664-A6F3-6843-C4F4-A9117F037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80000" cy="1080000"/>
          </a:xfrm>
        </p:spPr>
        <p:txBody>
          <a:bodyPr/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기획의도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7E1282-07AB-0118-5C66-A89F3F66C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10" y="1174831"/>
            <a:ext cx="6476857" cy="4675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36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호텔 산업의 디지털 전환 가속화</a:t>
            </a:r>
            <a:endParaRPr lang="en-US" altLang="ko-KR" sz="3600" b="1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buNone/>
            </a:pPr>
            <a:endParaRPr lang="ko-KR" altLang="en-US" sz="3600" b="1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	</a:t>
            </a:r>
            <a:r>
              <a:rPr lang="ko-KR" altLang="en-US" sz="2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비대면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서비스 수요 증가 </a:t>
            </a:r>
            <a:endParaRPr lang="en-US" altLang="ko-KR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b="1" dirty="0">
                <a:solidFill>
                  <a:srgbClr val="BAAD9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	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인력난 및 운영비 상승 </a:t>
            </a:r>
            <a:endParaRPr lang="en-US" altLang="ko-KR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	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기반 의사결정 중요성 확대 </a:t>
            </a:r>
          </a:p>
          <a:p>
            <a:endParaRPr lang="ko-KR" altLang="en-US" dirty="0"/>
          </a:p>
        </p:txBody>
      </p:sp>
      <p:pic>
        <p:nvPicPr>
          <p:cNvPr id="5" name="그래픽 4" descr="톱니바퀴 단색으로 채워진">
            <a:extLst>
              <a:ext uri="{FF2B5EF4-FFF2-40B4-BE49-F238E27FC236}">
                <a16:creationId xmlns:a16="http://schemas.microsoft.com/office/drawing/2014/main" id="{E7763735-1678-6CF8-1ECA-88B93D172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817" y="3272742"/>
            <a:ext cx="720000" cy="720000"/>
          </a:xfrm>
          <a:prstGeom prst="rect">
            <a:avLst/>
          </a:prstGeom>
        </p:spPr>
      </p:pic>
      <p:pic>
        <p:nvPicPr>
          <p:cNvPr id="7" name="그래픽 6" descr="연결 단색으로 채워진">
            <a:extLst>
              <a:ext uri="{FF2B5EF4-FFF2-40B4-BE49-F238E27FC236}">
                <a16:creationId xmlns:a16="http://schemas.microsoft.com/office/drawing/2014/main" id="{C3009DCA-8C66-32C5-2F73-A81533B722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5817" y="2285999"/>
            <a:ext cx="720000" cy="720000"/>
          </a:xfrm>
          <a:prstGeom prst="rect">
            <a:avLst/>
          </a:prstGeom>
        </p:spPr>
      </p:pic>
      <p:pic>
        <p:nvPicPr>
          <p:cNvPr id="12" name="그래픽 11" descr="상향 추세 단색으로 채워진">
            <a:extLst>
              <a:ext uri="{FF2B5EF4-FFF2-40B4-BE49-F238E27FC236}">
                <a16:creationId xmlns:a16="http://schemas.microsoft.com/office/drawing/2014/main" id="{E54E32B0-E30F-3AC7-D09E-B23FED164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2014" y="4372336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9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7E1282-07AB-0118-5C66-A89F3F66C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1059" y="863120"/>
            <a:ext cx="6689882" cy="72135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sz="3200" b="1" dirty="0"/>
              <a:t>산업계의 주요 문제점 </a:t>
            </a:r>
            <a:r>
              <a:rPr lang="en-US" altLang="ko-KR" sz="3200" b="1" dirty="0"/>
              <a:t>(Pain Point)</a:t>
            </a:r>
            <a:endParaRPr lang="ko-KR" altLang="en-US" dirty="0"/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75E760EC-4F61-1B65-57B6-93F650479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80000" cy="1080000"/>
          </a:xfrm>
        </p:spPr>
        <p:txBody>
          <a:bodyPr/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기획의도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AC3EA9-B97E-BE8C-B0AA-C21601B58B2C}"/>
              </a:ext>
            </a:extLst>
          </p:cNvPr>
          <p:cNvCxnSpPr>
            <a:cxnSpLocks/>
          </p:cNvCxnSpPr>
          <p:nvPr/>
        </p:nvCxnSpPr>
        <p:spPr>
          <a:xfrm>
            <a:off x="8069484" y="1673521"/>
            <a:ext cx="0" cy="3600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EB0B514-2DF0-CEA7-3C39-A15B45AB7F30}"/>
              </a:ext>
            </a:extLst>
          </p:cNvPr>
          <p:cNvSpPr txBox="1"/>
          <p:nvPr/>
        </p:nvSpPr>
        <p:spPr>
          <a:xfrm>
            <a:off x="542509" y="3290500"/>
            <a:ext cx="347240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예약 단계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인기 객실의 공실 발생 시점을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예측하기 어려움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고객은 반복적인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새로고침에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의존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8FC3C-36E4-BBE9-54BA-369C16324B98}"/>
              </a:ext>
            </a:extLst>
          </p:cNvPr>
          <p:cNvSpPr txBox="1"/>
          <p:nvPr/>
        </p:nvSpPr>
        <p:spPr>
          <a:xfrm>
            <a:off x="4359797" y="3290500"/>
            <a:ext cx="347240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운영 단계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공유공간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노쇼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장시간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자리비움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발생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실제 이용 현황 파악이 어려워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자원 활용률 저하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ADC82-A028-FEBB-1CCD-3F950B7D1EFA}"/>
              </a:ext>
            </a:extLst>
          </p:cNvPr>
          <p:cNvSpPr txBox="1"/>
          <p:nvPr/>
        </p:nvSpPr>
        <p:spPr>
          <a:xfrm>
            <a:off x="8177085" y="3290500"/>
            <a:ext cx="347240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응대 단계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반복 문의 응대로 인한 업무 과중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신입 직원의 규정 숙지 부족으로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서비스 품질 편차 발생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12673CB-0BFE-6405-A524-20EB34C65411}"/>
              </a:ext>
            </a:extLst>
          </p:cNvPr>
          <p:cNvCxnSpPr>
            <a:cxnSpLocks/>
          </p:cNvCxnSpPr>
          <p:nvPr/>
        </p:nvCxnSpPr>
        <p:spPr>
          <a:xfrm>
            <a:off x="4217044" y="1673521"/>
            <a:ext cx="0" cy="3600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4444944-A590-0DD2-0F0A-88731987A6C4}"/>
              </a:ext>
            </a:extLst>
          </p:cNvPr>
          <p:cNvSpPr txBox="1">
            <a:spLocks/>
          </p:cNvSpPr>
          <p:nvPr/>
        </p:nvSpPr>
        <p:spPr>
          <a:xfrm>
            <a:off x="1232775" y="5852259"/>
            <a:ext cx="9726450" cy="568764"/>
          </a:xfrm>
          <a:prstGeom prst="rect">
            <a:avLst/>
          </a:prstGeom>
          <a:ln>
            <a:solidFill>
              <a:srgbClr val="BAAD9D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자원 활용 효율 저하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운영 비용 증가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고객 경험 악화</a:t>
            </a:r>
            <a:endParaRPr lang="ko-KR" alt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래픽 8" descr="일일 일정표 단색으로 채워진">
            <a:extLst>
              <a:ext uri="{FF2B5EF4-FFF2-40B4-BE49-F238E27FC236}">
                <a16:creationId xmlns:a16="http://schemas.microsoft.com/office/drawing/2014/main" id="{DE8D5902-6EA3-DFA7-80AE-2F4B68901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8712" y="1943120"/>
            <a:ext cx="1080000" cy="1080000"/>
          </a:xfrm>
          <a:prstGeom prst="rect">
            <a:avLst/>
          </a:prstGeom>
        </p:spPr>
      </p:pic>
      <p:pic>
        <p:nvPicPr>
          <p:cNvPr id="11" name="그래픽 10" descr="체크리스트 단색으로 채워진">
            <a:extLst>
              <a:ext uri="{FF2B5EF4-FFF2-40B4-BE49-F238E27FC236}">
                <a16:creationId xmlns:a16="http://schemas.microsoft.com/office/drawing/2014/main" id="{600F3796-7DAD-728D-AB99-5BBB7D94C0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6000" y="1943120"/>
            <a:ext cx="1080000" cy="1080000"/>
          </a:xfrm>
          <a:prstGeom prst="rect">
            <a:avLst/>
          </a:prstGeom>
        </p:spPr>
      </p:pic>
      <p:pic>
        <p:nvPicPr>
          <p:cNvPr id="13" name="그래픽 12" descr="말풍선 단색으로 채워진">
            <a:extLst>
              <a:ext uri="{FF2B5EF4-FFF2-40B4-BE49-F238E27FC236}">
                <a16:creationId xmlns:a16="http://schemas.microsoft.com/office/drawing/2014/main" id="{A0DCD37F-CD18-F83B-F45C-01DCD60ECC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3288" y="1897489"/>
            <a:ext cx="1080000" cy="1080000"/>
          </a:xfrm>
          <a:prstGeom prst="rect">
            <a:avLst/>
          </a:prstGeom>
        </p:spPr>
      </p:pic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CCF707C9-C142-E367-35C2-641A557B6899}"/>
              </a:ext>
            </a:extLst>
          </p:cNvPr>
          <p:cNvSpPr/>
          <p:nvPr/>
        </p:nvSpPr>
        <p:spPr>
          <a:xfrm>
            <a:off x="5874152" y="5273521"/>
            <a:ext cx="410897" cy="473154"/>
          </a:xfrm>
          <a:prstGeom prst="downArrow">
            <a:avLst/>
          </a:prstGeom>
          <a:noFill/>
          <a:ln>
            <a:solidFill>
              <a:srgbClr val="BAAD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633127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ED8C13AE-58CC-AB73-2319-A77D93DB84A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88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개발목표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F5C63D0-3CD6-1ED7-15B4-18E9A9435D3E}"/>
              </a:ext>
            </a:extLst>
          </p:cNvPr>
          <p:cNvCxnSpPr>
            <a:cxnSpLocks/>
          </p:cNvCxnSpPr>
          <p:nvPr/>
        </p:nvCxnSpPr>
        <p:spPr>
          <a:xfrm>
            <a:off x="8069484" y="1673521"/>
            <a:ext cx="0" cy="3600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79B4C7B-717D-DE28-A6AB-3377892DB884}"/>
              </a:ext>
            </a:extLst>
          </p:cNvPr>
          <p:cNvSpPr txBox="1"/>
          <p:nvPr/>
        </p:nvSpPr>
        <p:spPr>
          <a:xfrm>
            <a:off x="601886" y="1974424"/>
            <a:ext cx="3472406" cy="299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solidFill>
                  <a:srgbClr val="BAAD9D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01.</a:t>
            </a: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예약 의사결정 지원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취소 확률 예측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실시간 예약 모니터링 제공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8DBC1E4-4B2D-CECE-2853-06D00D905AAD}"/>
              </a:ext>
            </a:extLst>
          </p:cNvPr>
          <p:cNvCxnSpPr>
            <a:cxnSpLocks/>
          </p:cNvCxnSpPr>
          <p:nvPr/>
        </p:nvCxnSpPr>
        <p:spPr>
          <a:xfrm>
            <a:off x="4217044" y="1673521"/>
            <a:ext cx="0" cy="3600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A7153A9-F302-54FF-FF3F-946D4ECE0489}"/>
              </a:ext>
            </a:extLst>
          </p:cNvPr>
          <p:cNvSpPr txBox="1"/>
          <p:nvPr/>
        </p:nvSpPr>
        <p:spPr>
          <a:xfrm>
            <a:off x="4359797" y="1974424"/>
            <a:ext cx="3472406" cy="293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solidFill>
                  <a:srgbClr val="BAAD9D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02.</a:t>
            </a: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공간 운영 효율화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노쇼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자리비움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자동 판별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공간 활용 데이터 확보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85F253-4135-DC25-6F9F-0A473D38A15E}"/>
              </a:ext>
            </a:extLst>
          </p:cNvPr>
          <p:cNvSpPr txBox="1"/>
          <p:nvPr/>
        </p:nvSpPr>
        <p:spPr>
          <a:xfrm>
            <a:off x="8449518" y="1929903"/>
            <a:ext cx="3472406" cy="293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solidFill>
                  <a:srgbClr val="BAAD9D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03.</a:t>
            </a: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고객 및 직원 응대 자동화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호텔 규정 안내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챗봇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제공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매뉴얼 검색 자동화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085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7BDC17-BF29-4E47-CBE6-D60575997B0B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8CD96050-6FD3-6D4E-23AE-F1C333B875AC}"/>
              </a:ext>
            </a:extLst>
          </p:cNvPr>
          <p:cNvSpPr/>
          <p:nvPr/>
        </p:nvSpPr>
        <p:spPr>
          <a:xfrm>
            <a:off x="0" y="324000"/>
            <a:ext cx="324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31568C67-4688-F84D-0E55-CA6D0C343ED2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L 도형 7">
            <a:extLst>
              <a:ext uri="{FF2B5EF4-FFF2-40B4-BE49-F238E27FC236}">
                <a16:creationId xmlns:a16="http://schemas.microsoft.com/office/drawing/2014/main" id="{366A52A5-70D0-7102-FF91-436F36AB2423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L 도형 8">
            <a:extLst>
              <a:ext uri="{FF2B5EF4-FFF2-40B4-BE49-F238E27FC236}">
                <a16:creationId xmlns:a16="http://schemas.microsoft.com/office/drawing/2014/main" id="{C5D3C134-DAE7-582F-17DD-A51860D3A19B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ED8C13AE-58CC-AB73-2319-A77D93DB84A2}"/>
              </a:ext>
            </a:extLst>
          </p:cNvPr>
          <p:cNvSpPr txBox="1">
            <a:spLocks/>
          </p:cNvSpPr>
          <p:nvPr/>
        </p:nvSpPr>
        <p:spPr>
          <a:xfrm>
            <a:off x="0" y="107999"/>
            <a:ext cx="360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사용기술 목록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C22C2BEC-F8F5-CD3B-3C01-477C6B69F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59776" cy="4351338"/>
          </a:xfrm>
        </p:spPr>
        <p:txBody>
          <a:bodyPr>
            <a:normAutofit fontScale="32500" lnSpcReduction="20000"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언어 및 프레임워크 </a:t>
            </a:r>
            <a:r>
              <a:rPr lang="en-US" altLang="ko-KR" b="1" dirty="0"/>
              <a:t>(Languages &amp; Frameworks)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Python</a:t>
            </a:r>
            <a:r>
              <a:rPr lang="en-US" altLang="ko-KR" dirty="0"/>
              <a:t> — v3.11.9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Flask</a:t>
            </a:r>
            <a:r>
              <a:rPr lang="en-US" altLang="ko-KR" dirty="0"/>
              <a:t> — v3.0.3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HTML5 / CSS3 / JavaScript</a:t>
            </a:r>
            <a:endParaRPr lang="en-US" altLang="ko-KR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데이터베이스 및 연동 </a:t>
            </a:r>
            <a:r>
              <a:rPr lang="en-US" altLang="ko-KR" b="1" dirty="0"/>
              <a:t>(Database &amp; Connectors)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Oracle Database Express Edition</a:t>
            </a:r>
            <a:r>
              <a:rPr lang="en-US" altLang="ko-KR" dirty="0"/>
              <a:t> — 11g Release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Oracle Instant Client</a:t>
            </a:r>
            <a:r>
              <a:rPr lang="en-US" altLang="ko-KR" dirty="0"/>
              <a:t> — v19.25.0.0.0 (Thick Mode </a:t>
            </a:r>
            <a:r>
              <a:rPr lang="ko-KR" altLang="en-US" dirty="0"/>
              <a:t>지원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 err="1"/>
              <a:t>oracledb</a:t>
            </a:r>
            <a:r>
              <a:rPr lang="en-US" altLang="ko-KR" b="1" dirty="0"/>
              <a:t> (Python Library)</a:t>
            </a:r>
            <a:r>
              <a:rPr lang="en-US" altLang="ko-KR" dirty="0"/>
              <a:t> — v1.4.2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SQL Developer</a:t>
            </a:r>
            <a:r>
              <a:rPr lang="en-US" altLang="ko-KR" dirty="0"/>
              <a:t> — v19.2.1</a:t>
            </a:r>
          </a:p>
          <a:p>
            <a:r>
              <a:rPr lang="en-US" altLang="ko-KR" b="1" dirty="0"/>
              <a:t>3. </a:t>
            </a:r>
            <a:r>
              <a:rPr lang="ko-KR" altLang="en-US" b="1" dirty="0"/>
              <a:t>데이터 분석 및 </a:t>
            </a:r>
            <a:r>
              <a:rPr lang="ko-KR" altLang="en-US" b="1" dirty="0" err="1"/>
              <a:t>머신러닝</a:t>
            </a:r>
            <a:r>
              <a:rPr lang="ko-KR" altLang="en-US" b="1" dirty="0"/>
              <a:t> </a:t>
            </a:r>
            <a:r>
              <a:rPr lang="en-US" altLang="ko-KR" b="1" dirty="0"/>
              <a:t>(Data Science &amp; Machine Learning)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scikit-learn</a:t>
            </a:r>
            <a:r>
              <a:rPr lang="en-US" altLang="ko-KR" dirty="0"/>
              <a:t> — v1.8.0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pandas</a:t>
            </a:r>
            <a:r>
              <a:rPr lang="en-US" altLang="ko-KR" dirty="0"/>
              <a:t> — v3.0.3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 err="1"/>
              <a:t>numpy</a:t>
            </a:r>
            <a:r>
              <a:rPr lang="en-US" altLang="ko-KR" dirty="0"/>
              <a:t> — v2.4.4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 err="1"/>
              <a:t>scipy</a:t>
            </a:r>
            <a:r>
              <a:rPr lang="en-US" altLang="ko-KR" dirty="0"/>
              <a:t> — v1.17.1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 err="1"/>
              <a:t>joblib</a:t>
            </a:r>
            <a:r>
              <a:rPr lang="en-US" altLang="ko-KR" dirty="0"/>
              <a:t> — v1.5.3</a:t>
            </a:r>
          </a:p>
          <a:p>
            <a:r>
              <a:rPr lang="en-US" altLang="ko-KR" b="1" dirty="0"/>
              <a:t>4. </a:t>
            </a:r>
            <a:r>
              <a:rPr lang="ko-KR" altLang="en-US" b="1" dirty="0"/>
              <a:t>개발 도구 </a:t>
            </a:r>
            <a:r>
              <a:rPr lang="en-US" altLang="ko-KR" b="1" dirty="0"/>
              <a:t>(Development Tools)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PyCharm Professional</a:t>
            </a:r>
            <a:r>
              <a:rPr lang="en-US" altLang="ko-KR" dirty="0"/>
              <a:t> — v2025.3.3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Java Development Kit (JDK)</a:t>
            </a:r>
            <a:r>
              <a:rPr lang="en-US" altLang="ko-KR" dirty="0"/>
              <a:t> — v11.0.23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329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7BDC17-BF29-4E47-CBE6-D60575997B0B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8CD96050-6FD3-6D4E-23AE-F1C333B875AC}"/>
              </a:ext>
            </a:extLst>
          </p:cNvPr>
          <p:cNvSpPr/>
          <p:nvPr/>
        </p:nvSpPr>
        <p:spPr>
          <a:xfrm>
            <a:off x="0" y="324000"/>
            <a:ext cx="324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31568C67-4688-F84D-0E55-CA6D0C343ED2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L 도형 7">
            <a:extLst>
              <a:ext uri="{FF2B5EF4-FFF2-40B4-BE49-F238E27FC236}">
                <a16:creationId xmlns:a16="http://schemas.microsoft.com/office/drawing/2014/main" id="{366A52A5-70D0-7102-FF91-436F36AB2423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L 도형 8">
            <a:extLst>
              <a:ext uri="{FF2B5EF4-FFF2-40B4-BE49-F238E27FC236}">
                <a16:creationId xmlns:a16="http://schemas.microsoft.com/office/drawing/2014/main" id="{C5D3C134-DAE7-582F-17DD-A51860D3A19B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ED8C13AE-58CC-AB73-2319-A77D93DB84A2}"/>
              </a:ext>
            </a:extLst>
          </p:cNvPr>
          <p:cNvSpPr txBox="1">
            <a:spLocks/>
          </p:cNvSpPr>
          <p:nvPr/>
        </p:nvSpPr>
        <p:spPr>
          <a:xfrm>
            <a:off x="0" y="107999"/>
            <a:ext cx="360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사용기술 경험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DFF77BE-D210-87F7-804F-A672093E61F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910570" y="1922612"/>
            <a:ext cx="2666008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Data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Science</a:t>
            </a: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Supervised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(지도학습)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RandomForestClassifier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전처리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Importance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(변수 중요도 분석)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Manipulation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Analytics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(데이터 핸들링)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scipy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joblib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</a:t>
            </a: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Operations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(Oracle 11g)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Oracle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Instant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Thick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oracledb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Router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@app.route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&amp; API 구현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chart-data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(GET) </a:t>
            </a:r>
            <a:endParaRPr kumimoji="0" lang="en-US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predict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(POST):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reserve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(POST):</a:t>
            </a: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Asynchronous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(비동기 통신)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Chart.js (시각화)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</a:t>
            </a: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파일 입출력 및 환경 관리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db_config.py / upload_to_oracle.py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C37DDE3-176A-546B-EFC8-AB8FF4D0D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3226" y="2010362"/>
            <a:ext cx="3419766" cy="3724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/>
              <a:t>#</a:t>
            </a:r>
            <a:r>
              <a:rPr lang="ko-KR" altLang="en-US" sz="800" b="1" dirty="0"/>
              <a:t> </a:t>
            </a:r>
            <a:r>
              <a:rPr lang="en-US" altLang="ko-KR" sz="800" b="1" dirty="0"/>
              <a:t>Deep Learning &amp; Computer Vision</a:t>
            </a:r>
          </a:p>
          <a:p>
            <a:r>
              <a:rPr lang="en-US" altLang="ko-KR" sz="800" b="1" dirty="0"/>
              <a:t>Neural Networks (</a:t>
            </a:r>
            <a:r>
              <a:rPr lang="ko-KR" altLang="en-US" sz="800" b="1" dirty="0"/>
              <a:t>신경망 구조</a:t>
            </a:r>
            <a:r>
              <a:rPr lang="en-US" altLang="ko-KR" sz="8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b="1" dirty="0"/>
              <a:t>CNN (Convolutional Neural Network)</a:t>
            </a:r>
            <a:r>
              <a:rPr lang="ko-KR" altLang="en-US" sz="800" dirty="0"/>
              <a:t> </a:t>
            </a:r>
            <a:endParaRPr lang="en-US" altLang="ko-KR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b="1" dirty="0"/>
              <a:t>YOLOv11 (You Only Look Once v11)</a:t>
            </a:r>
            <a:r>
              <a:rPr lang="ko-KR" altLang="en-US" sz="800" dirty="0"/>
              <a:t> </a:t>
            </a:r>
          </a:p>
          <a:p>
            <a:r>
              <a:rPr lang="en-US" altLang="ko-KR" sz="800" b="1" dirty="0"/>
              <a:t>Multi-Class Detection (</a:t>
            </a:r>
            <a:r>
              <a:rPr lang="ko-KR" altLang="en-US" sz="800" b="1" dirty="0"/>
              <a:t>다중 객체 인식</a:t>
            </a:r>
            <a:r>
              <a:rPr lang="en-US" altLang="ko-KR" sz="8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b="1" dirty="0"/>
              <a:t>Person, Laptop, Bag </a:t>
            </a:r>
            <a:r>
              <a:rPr lang="ko-KR" altLang="en-US" sz="800" b="1" dirty="0"/>
              <a:t>동시 인식</a:t>
            </a:r>
            <a:r>
              <a:rPr lang="ko-KR" altLang="en-US" sz="800" dirty="0"/>
              <a:t> </a:t>
            </a:r>
          </a:p>
          <a:p>
            <a:r>
              <a:rPr lang="en-US" altLang="ko-KR" sz="800" b="1" dirty="0"/>
              <a:t>#</a:t>
            </a:r>
            <a:r>
              <a:rPr lang="ko-KR" altLang="en-US" sz="800" b="1" dirty="0"/>
              <a:t> </a:t>
            </a:r>
            <a:r>
              <a:rPr lang="en-US" altLang="ko-KR" sz="800" b="1" dirty="0"/>
              <a:t>Business Logic &amp; Server Integration</a:t>
            </a:r>
          </a:p>
          <a:p>
            <a:r>
              <a:rPr lang="en-US" altLang="ko-KR" sz="800" b="1" dirty="0"/>
              <a:t>Conditional Recognition Logic (</a:t>
            </a:r>
            <a:r>
              <a:rPr lang="ko-KR" altLang="en-US" sz="800" b="1" dirty="0"/>
              <a:t>조건부 인지 로직</a:t>
            </a:r>
            <a:r>
              <a:rPr lang="en-US" altLang="ko-KR" sz="8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b="1" dirty="0"/>
              <a:t>객체 간 관계 분석 알고리즘 설계</a:t>
            </a:r>
            <a:r>
              <a:rPr lang="ko-KR" altLang="en-US" sz="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800" b="1" dirty="0" err="1"/>
              <a:t>노쇼</a:t>
            </a:r>
            <a:r>
              <a:rPr lang="en-US" altLang="ko-KR" sz="800" b="1" dirty="0"/>
              <a:t>(No-Show)</a:t>
            </a:r>
            <a:r>
              <a:rPr lang="en-US" altLang="ko-KR" sz="800" dirty="0"/>
              <a:t> / </a:t>
            </a:r>
            <a:r>
              <a:rPr lang="ko-KR" altLang="en-US" sz="800" b="1" dirty="0" err="1"/>
              <a:t>자리비움</a:t>
            </a:r>
            <a:r>
              <a:rPr lang="en-US" altLang="ko-KR" sz="800" b="1" dirty="0"/>
              <a:t> / </a:t>
            </a:r>
            <a:r>
              <a:rPr lang="ko-KR" altLang="en-US" sz="800" b="1" dirty="0"/>
              <a:t>이용률 저조</a:t>
            </a:r>
            <a:endParaRPr lang="en-US" altLang="ko-KR" sz="800" dirty="0"/>
          </a:p>
          <a:p>
            <a:pPr marL="285750" indent="-285750"/>
            <a:r>
              <a:rPr lang="en-US" altLang="ko-KR" sz="800" b="1" dirty="0"/>
              <a:t>Backend Infrastructure &amp; Communication (</a:t>
            </a:r>
            <a:r>
              <a:rPr lang="ko-KR" altLang="en-US" sz="800" b="1" dirty="0"/>
              <a:t>네트워크 및 통신</a:t>
            </a:r>
            <a:r>
              <a:rPr lang="en-US" altLang="ko-KR" sz="8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b="1" dirty="0"/>
              <a:t>RESTful API </a:t>
            </a:r>
            <a:r>
              <a:rPr lang="ko-KR" altLang="en-US" sz="800" b="1" dirty="0"/>
              <a:t>아키텍처</a:t>
            </a:r>
            <a:r>
              <a:rPr lang="ko-KR" altLang="en-US" sz="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b="1" dirty="0"/>
              <a:t>Scalable Architecture (</a:t>
            </a:r>
            <a:r>
              <a:rPr lang="ko-KR" altLang="en-US" sz="800" b="1" dirty="0"/>
              <a:t>확장성 설계</a:t>
            </a:r>
            <a:r>
              <a:rPr lang="en-US" altLang="ko-KR" sz="800" b="1" dirty="0"/>
              <a:t>)</a:t>
            </a:r>
            <a:r>
              <a:rPr lang="ko-KR" altLang="en-US" sz="800" dirty="0"/>
              <a:t> </a:t>
            </a:r>
          </a:p>
          <a:p>
            <a:r>
              <a:rPr lang="en-US" altLang="ko-KR" sz="800" b="1" dirty="0"/>
              <a:t>#</a:t>
            </a:r>
            <a:r>
              <a:rPr lang="ko-KR" altLang="en-US" sz="800" b="1" dirty="0"/>
              <a:t> </a:t>
            </a:r>
            <a:r>
              <a:rPr lang="en-US" altLang="ko-KR" sz="800" b="1" dirty="0"/>
              <a:t>Performance Optimization (</a:t>
            </a:r>
            <a:r>
              <a:rPr lang="ko-KR" altLang="en-US" sz="800" b="1" dirty="0" err="1"/>
              <a:t>비기능</a:t>
            </a:r>
            <a:r>
              <a:rPr lang="ko-KR" altLang="en-US" sz="800" b="1" dirty="0"/>
              <a:t> 성능</a:t>
            </a:r>
            <a:r>
              <a:rPr lang="en-US" altLang="ko-KR" sz="800" b="1" dirty="0"/>
              <a:t>)</a:t>
            </a:r>
          </a:p>
          <a:p>
            <a:r>
              <a:rPr lang="ko-KR" altLang="en-US" sz="800" b="1" dirty="0"/>
              <a:t>실시간성 확보 </a:t>
            </a:r>
            <a:r>
              <a:rPr lang="en-US" altLang="ko-KR" sz="800" b="1" dirty="0"/>
              <a:t>(Latency Control)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b="1" dirty="0"/>
              <a:t>1</a:t>
            </a:r>
            <a:r>
              <a:rPr lang="ko-KR" altLang="en-US" sz="800" b="1" dirty="0"/>
              <a:t>초 이내 지연 시간</a:t>
            </a:r>
            <a:r>
              <a:rPr lang="en-US" altLang="ko-KR" sz="800" b="1" dirty="0"/>
              <a:t>(Latency </a:t>
            </a:r>
            <a:r>
              <a:rPr lang="ko-KR" altLang="en-US" sz="800" b="1" dirty="0"/>
              <a:t>＜ </a:t>
            </a:r>
            <a:r>
              <a:rPr lang="en-US" altLang="ko-KR" sz="800" b="1" dirty="0"/>
              <a:t>1s) </a:t>
            </a:r>
            <a:r>
              <a:rPr lang="ko-KR" altLang="en-US" sz="800" b="1" dirty="0"/>
              <a:t>달성</a:t>
            </a:r>
            <a:r>
              <a:rPr lang="ko-KR" altLang="en-US" sz="800" dirty="0"/>
              <a:t>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1D5DD4B-7C12-E238-04DF-F49CFB026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5844" y="1893417"/>
            <a:ext cx="3037162" cy="378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/>
              <a:t>#</a:t>
            </a:r>
            <a:r>
              <a:rPr lang="ko-KR" altLang="en-US" sz="800" b="1" dirty="0"/>
              <a:t> </a:t>
            </a:r>
            <a:r>
              <a:rPr lang="en-US" altLang="ko-KR" sz="800" b="1" dirty="0"/>
              <a:t>Natural Language Processing &amp; Generative AI</a:t>
            </a:r>
          </a:p>
          <a:p>
            <a:r>
              <a:rPr lang="en-US" altLang="ko-KR" sz="800" b="1" dirty="0"/>
              <a:t>LLM &amp; Applications (</a:t>
            </a:r>
            <a:r>
              <a:rPr lang="ko-KR" altLang="en-US" sz="800" b="1" dirty="0"/>
              <a:t>대형 언어 모델 및 응용</a:t>
            </a:r>
            <a:r>
              <a:rPr lang="en-US" altLang="ko-KR" sz="8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b="1" dirty="0"/>
              <a:t>SLM (Small Language Model / </a:t>
            </a:r>
            <a:r>
              <a:rPr lang="ko-KR" altLang="en-US" sz="800" b="1" dirty="0"/>
              <a:t>소형 언어 모델</a:t>
            </a:r>
            <a:r>
              <a:rPr lang="en-US" altLang="ko-KR" sz="800" b="1" dirty="0"/>
              <a:t>)</a:t>
            </a:r>
            <a:r>
              <a:rPr lang="ko-KR" altLang="en-US" sz="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b="1" dirty="0"/>
              <a:t>Hugging Face Transformers</a:t>
            </a:r>
            <a:r>
              <a:rPr lang="ko-KR" altLang="en-US" sz="800" dirty="0"/>
              <a:t> </a:t>
            </a:r>
          </a:p>
          <a:p>
            <a:r>
              <a:rPr lang="en-US" altLang="ko-KR" sz="800" b="1" dirty="0"/>
              <a:t>NLP Pipeline (</a:t>
            </a:r>
            <a:r>
              <a:rPr lang="ko-KR" altLang="en-US" sz="800" b="1" dirty="0"/>
              <a:t>자연어 처리 파이프라인</a:t>
            </a:r>
            <a:r>
              <a:rPr lang="en-US" altLang="ko-KR" sz="8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b="1" dirty="0"/>
              <a:t>NER (Named Entity Recognition / </a:t>
            </a:r>
            <a:r>
              <a:rPr lang="ko-KR" altLang="en-US" sz="800" b="1" dirty="0" err="1"/>
              <a:t>개체명</a:t>
            </a:r>
            <a:r>
              <a:rPr lang="ko-KR" altLang="en-US" sz="800" b="1" dirty="0"/>
              <a:t> 인식</a:t>
            </a:r>
            <a:r>
              <a:rPr lang="en-US" altLang="ko-KR" sz="800" b="1" dirty="0"/>
              <a:t>)</a:t>
            </a:r>
            <a:r>
              <a:rPr lang="ko-KR" altLang="en-US" sz="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b="1" dirty="0" err="1"/>
              <a:t>QnA</a:t>
            </a:r>
            <a:r>
              <a:rPr lang="en-US" altLang="ko-KR" sz="800" b="1" dirty="0"/>
              <a:t> (Question Answering) System</a:t>
            </a:r>
            <a:r>
              <a:rPr lang="ko-KR" altLang="en-US" sz="800" dirty="0"/>
              <a:t> </a:t>
            </a:r>
          </a:p>
          <a:p>
            <a:r>
              <a:rPr lang="en-US" altLang="ko-KR" sz="800" b="1" dirty="0"/>
              <a:t>#</a:t>
            </a:r>
            <a:r>
              <a:rPr lang="ko-KR" altLang="en-US" sz="800" b="1" dirty="0"/>
              <a:t> </a:t>
            </a:r>
            <a:r>
              <a:rPr lang="en-US" altLang="ko-KR" sz="800" b="1" dirty="0"/>
              <a:t>Safety &amp; Security Engineering (</a:t>
            </a:r>
            <a:r>
              <a:rPr lang="ko-KR" altLang="en-US" sz="800" b="1" dirty="0"/>
              <a:t>신뢰성 및 보안</a:t>
            </a:r>
            <a:r>
              <a:rPr lang="en-US" altLang="ko-KR" sz="800" b="1" dirty="0"/>
              <a:t>)</a:t>
            </a:r>
          </a:p>
          <a:p>
            <a:r>
              <a:rPr lang="en-US" altLang="ko-KR" sz="800" b="1" dirty="0"/>
              <a:t>Hallucination Control (</a:t>
            </a:r>
            <a:r>
              <a:rPr lang="ko-KR" altLang="en-US" sz="800" b="1" dirty="0"/>
              <a:t>환각 현상 제어</a:t>
            </a:r>
            <a:r>
              <a:rPr lang="en-US" altLang="ko-KR" sz="8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b="1" dirty="0"/>
              <a:t>규정 기반 팩트 </a:t>
            </a:r>
            <a:r>
              <a:rPr lang="ko-KR" altLang="en-US" sz="800" b="1" dirty="0" err="1"/>
              <a:t>체킹</a:t>
            </a:r>
            <a:r>
              <a:rPr lang="ko-KR" altLang="en-US" sz="800" b="1" dirty="0"/>
              <a:t> </a:t>
            </a:r>
            <a:r>
              <a:rPr lang="en-US" altLang="ko-KR" sz="800" b="1" dirty="0"/>
              <a:t>(Fact Checking)</a:t>
            </a:r>
            <a:r>
              <a:rPr lang="ko-KR" altLang="en-US" sz="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b="1" dirty="0"/>
              <a:t>방어형 예외 처리 </a:t>
            </a:r>
            <a:r>
              <a:rPr lang="en-US" altLang="ko-KR" sz="800" b="1" dirty="0"/>
              <a:t>(Exception Handling)</a:t>
            </a:r>
            <a:r>
              <a:rPr lang="ko-KR" altLang="en-US" sz="800" dirty="0"/>
              <a:t> </a:t>
            </a:r>
          </a:p>
          <a:p>
            <a:r>
              <a:rPr lang="en-US" altLang="ko-KR" sz="800" b="1" dirty="0"/>
              <a:t>Data Sovereignty (</a:t>
            </a:r>
            <a:r>
              <a:rPr lang="ko-KR" altLang="en-US" sz="800" b="1" dirty="0"/>
              <a:t>데이터 독립성 및 보안</a:t>
            </a:r>
            <a:r>
              <a:rPr lang="en-US" altLang="ko-KR" sz="8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b="1" dirty="0"/>
              <a:t>On-Premise / </a:t>
            </a:r>
            <a:r>
              <a:rPr lang="ko-KR" altLang="en-US" sz="800" b="1" dirty="0"/>
              <a:t>로컬 환경 추론</a:t>
            </a:r>
            <a:r>
              <a:rPr lang="ko-KR" altLang="en-US" sz="800" dirty="0"/>
              <a:t> </a:t>
            </a:r>
          </a:p>
          <a:p>
            <a:r>
              <a:rPr lang="en-US" altLang="ko-KR" sz="800" b="1" dirty="0"/>
              <a:t>Context Management (</a:t>
            </a:r>
            <a:r>
              <a:rPr lang="ko-KR" altLang="en-US" sz="800" b="1" dirty="0"/>
              <a:t>대화 흐름 관리</a:t>
            </a:r>
            <a:r>
              <a:rPr lang="en-US" altLang="ko-KR" sz="8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b="1" dirty="0"/>
              <a:t>가벼운 컨텍스트 유지 기능</a:t>
            </a:r>
            <a:r>
              <a:rPr lang="ko-KR" altLang="en-US" sz="800" dirty="0"/>
              <a:t> </a:t>
            </a:r>
          </a:p>
          <a:p>
            <a:pPr marL="0" indent="0">
              <a:buNone/>
            </a:pP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4052761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288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324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개발 스케줄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D39B9A3-757B-50E1-CAC6-3407243AD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898" y="1631124"/>
            <a:ext cx="57531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39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360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360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요구사항 정의서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41B492-0CB0-DC36-958F-8876D73A238B}"/>
              </a:ext>
            </a:extLst>
          </p:cNvPr>
          <p:cNvGraphicFramePr>
            <a:graphicFrameLocks noGrp="1"/>
          </p:cNvGraphicFramePr>
          <p:nvPr/>
        </p:nvGraphicFramePr>
        <p:xfrm>
          <a:off x="3101562" y="1825625"/>
          <a:ext cx="5988876" cy="4351338"/>
        </p:xfrm>
        <a:graphic>
          <a:graphicData uri="http://schemas.openxmlformats.org/drawingml/2006/table">
            <a:tbl>
              <a:tblPr/>
              <a:tblGrid>
                <a:gridCol w="1497219">
                  <a:extLst>
                    <a:ext uri="{9D8B030D-6E8A-4147-A177-3AD203B41FA5}">
                      <a16:colId xmlns:a16="http://schemas.microsoft.com/office/drawing/2014/main" val="1365139266"/>
                    </a:ext>
                  </a:extLst>
                </a:gridCol>
                <a:gridCol w="1497219">
                  <a:extLst>
                    <a:ext uri="{9D8B030D-6E8A-4147-A177-3AD203B41FA5}">
                      <a16:colId xmlns:a16="http://schemas.microsoft.com/office/drawing/2014/main" val="1452505922"/>
                    </a:ext>
                  </a:extLst>
                </a:gridCol>
                <a:gridCol w="1497219">
                  <a:extLst>
                    <a:ext uri="{9D8B030D-6E8A-4147-A177-3AD203B41FA5}">
                      <a16:colId xmlns:a16="http://schemas.microsoft.com/office/drawing/2014/main" val="1790792719"/>
                    </a:ext>
                  </a:extLst>
                </a:gridCol>
                <a:gridCol w="1497219">
                  <a:extLst>
                    <a:ext uri="{9D8B030D-6E8A-4147-A177-3AD203B41FA5}">
                      <a16:colId xmlns:a16="http://schemas.microsoft.com/office/drawing/2014/main" val="3821103449"/>
                    </a:ext>
                  </a:extLst>
                </a:gridCol>
              </a:tblGrid>
              <a:tr h="37032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요구사항 </a:t>
                      </a: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분류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요구사항 명칭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상세 명세 </a:t>
                      </a:r>
                      <a:r>
                        <a:rPr lang="en-US" altLang="ko-KR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 및 제약조건</a:t>
                      </a:r>
                      <a:r>
                        <a:rPr lang="en-US" altLang="ko-KR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607631"/>
                  </a:ext>
                </a:extLst>
              </a:tr>
              <a:tr h="995253">
                <a:tc>
                  <a:txBody>
                    <a:bodyPr/>
                    <a:lstStyle/>
                    <a:p>
                      <a:pPr rtl="0"/>
                      <a:r>
                        <a:rPr lang="en-US" sz="1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REQ-ML-01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</a:t>
                      </a: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실시간 취소율 예측 기능</a:t>
                      </a: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사용자가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가지 핵심 변수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(lead time, country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등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변경할 때마다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AI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모델이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is_canceled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확률을 실시간으로 계산하여 반환해야 함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755778"/>
                  </a:ext>
                </a:extLst>
              </a:tr>
              <a:tr h="839021">
                <a:tc>
                  <a:txBody>
                    <a:bodyPr/>
                    <a:lstStyle/>
                    <a:p>
                      <a:pPr rtl="0"/>
                      <a:r>
                        <a:rPr lang="en-US" sz="1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REQ-ML-02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</a:t>
                      </a: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비동기 대시보드 연동</a:t>
                      </a: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화면 전체의 </a:t>
                      </a:r>
                      <a:r>
                        <a:rPr lang="ko-KR" altLang="en-US" sz="1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새로고침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없이 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Fetch API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통해 실시간 예측 데이터가 그래프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(Chart.js)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에 즉각 반영되어야 함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921024"/>
                  </a:ext>
                </a:extLst>
              </a:tr>
              <a:tr h="1151484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REQ-ML-03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</a:t>
                      </a: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예약 취소 및 가중치 반영</a:t>
                      </a: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예약 내역 검색 후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[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예약 취소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]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수행 시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해당 고객의 과거 취소 이력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(previous_cancellations)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을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+1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누적하여 차후 예측 및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DB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전체 통계 지표에 반영해야 함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235461"/>
                  </a:ext>
                </a:extLst>
              </a:tr>
              <a:tr h="995253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REQ-ML-04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비기능</a:t>
                      </a: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데이터베이스 호환성</a:t>
                      </a: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Oracle 11g Express Edition 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환경과의 호환성을 위해 </a:t>
                      </a:r>
                      <a:r>
                        <a:rPr lang="en-US" altLang="ko-KR" sz="1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oracledb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라이브러리의 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Thick Mode 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클라이언트를 활성화하여 안정적인 커넥션을 유지해야 함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3398" marR="43398" marT="28932" marB="28932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7042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C576001-5583-5558-A731-F6B137C87FD8}"/>
              </a:ext>
            </a:extLst>
          </p:cNvPr>
          <p:cNvSpPr txBox="1"/>
          <p:nvPr/>
        </p:nvSpPr>
        <p:spPr>
          <a:xfrm>
            <a:off x="788525" y="1249650"/>
            <a:ext cx="6253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[Flask] </a:t>
            </a:r>
            <a:r>
              <a:rPr lang="ko-KR" altLang="en-US" dirty="0"/>
              <a:t>호텔 예약 취소 확률 예측 시스템</a:t>
            </a:r>
          </a:p>
        </p:txBody>
      </p:sp>
    </p:spTree>
    <p:extLst>
      <p:ext uri="{BB962C8B-B14F-4D97-AF65-F5344CB8AC3E}">
        <p14:creationId xmlns:p14="http://schemas.microsoft.com/office/powerpoint/2010/main" val="3199350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360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676F6-3232-92C4-62FA-0FFB8019F397}"/>
              </a:ext>
            </a:extLst>
          </p:cNvPr>
          <p:cNvSpPr txBox="1"/>
          <p:nvPr/>
        </p:nvSpPr>
        <p:spPr>
          <a:xfrm>
            <a:off x="377624" y="1456293"/>
            <a:ext cx="6253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[YOLOv11] </a:t>
            </a:r>
            <a:r>
              <a:rPr lang="ko-KR" altLang="en-US" dirty="0"/>
              <a:t>공유 공간 이용 실태 분석 시스템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DCA9A75-A720-4224-2D11-FB5C9114C7C3}"/>
              </a:ext>
            </a:extLst>
          </p:cNvPr>
          <p:cNvGraphicFramePr>
            <a:graphicFrameLocks noGrp="1"/>
          </p:cNvGraphicFramePr>
          <p:nvPr/>
        </p:nvGraphicFramePr>
        <p:xfrm>
          <a:off x="2869900" y="1825625"/>
          <a:ext cx="6452200" cy="4351338"/>
        </p:xfrm>
        <a:graphic>
          <a:graphicData uri="http://schemas.openxmlformats.org/drawingml/2006/table">
            <a:tbl>
              <a:tblPr/>
              <a:tblGrid>
                <a:gridCol w="1613050">
                  <a:extLst>
                    <a:ext uri="{9D8B030D-6E8A-4147-A177-3AD203B41FA5}">
                      <a16:colId xmlns:a16="http://schemas.microsoft.com/office/drawing/2014/main" val="3622144557"/>
                    </a:ext>
                  </a:extLst>
                </a:gridCol>
                <a:gridCol w="1613050">
                  <a:extLst>
                    <a:ext uri="{9D8B030D-6E8A-4147-A177-3AD203B41FA5}">
                      <a16:colId xmlns:a16="http://schemas.microsoft.com/office/drawing/2014/main" val="3057314468"/>
                    </a:ext>
                  </a:extLst>
                </a:gridCol>
                <a:gridCol w="1613050">
                  <a:extLst>
                    <a:ext uri="{9D8B030D-6E8A-4147-A177-3AD203B41FA5}">
                      <a16:colId xmlns:a16="http://schemas.microsoft.com/office/drawing/2014/main" val="3610667015"/>
                    </a:ext>
                  </a:extLst>
                </a:gridCol>
                <a:gridCol w="1613050">
                  <a:extLst>
                    <a:ext uri="{9D8B030D-6E8A-4147-A177-3AD203B41FA5}">
                      <a16:colId xmlns:a16="http://schemas.microsoft.com/office/drawing/2014/main" val="2476841852"/>
                    </a:ext>
                  </a:extLst>
                </a:gridCol>
              </a:tblGrid>
              <a:tr h="39897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요구사항 </a:t>
                      </a: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분류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요구사항 명칭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상세 명세 </a:t>
                      </a:r>
                      <a:r>
                        <a:rPr lang="en-US" altLang="ko-K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 및 제약조건</a:t>
                      </a:r>
                      <a:r>
                        <a:rPr lang="en-US" altLang="ko-K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699457"/>
                  </a:ext>
                </a:extLst>
              </a:tr>
              <a:tr h="903931"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REQ-CV-01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멀티 클래스 객체 탐지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입력되는 실시간 영상 프레임에서 사람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(Person),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노트북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(Laptop),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가방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(Bag)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객체를 동시에 식별해야 함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2587836"/>
                  </a:ext>
                </a:extLst>
              </a:tr>
              <a:tr h="1240568"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REQ-CV-02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관계 인지형 노쇼 판별 로직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단순히 사람 수만 세는 것이 아니라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객체 간의 관계를 파악하여 </a:t>
                      </a:r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노쇼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사람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0/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물건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0), </a:t>
                      </a:r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자리비움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사람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0/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물건⭕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), </a:t>
                      </a:r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이용률 저조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상태를 조건부로 인지해야 함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619993"/>
                  </a:ext>
                </a:extLst>
              </a:tr>
              <a:tr h="1072249"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REQ-CV-03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확장형 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REST API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통신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CCTV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스트리밍 스크립트와 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YOLOv11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추론 엔진 간의 데이터 송수신은 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JSON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포맷의 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REST API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통해 처리하며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향후 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Room ID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확장이 가능해야 함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919764"/>
                  </a:ext>
                </a:extLst>
              </a:tr>
              <a:tr h="735613"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REQ-CV-04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비기능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실시간성 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Latency)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이미지 분석 요청부터 응답 및 </a:t>
                      </a:r>
                      <a:r>
                        <a:rPr lang="en-US" altLang="ko-K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 </a:t>
                      </a:r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업데이트까지 걸리는 총 지연 시간은 </a:t>
                      </a:r>
                      <a:r>
                        <a:rPr lang="en-US" altLang="ko-K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ko-KR" alt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초 이내</a:t>
                      </a:r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여야 함</a:t>
                      </a:r>
                      <a:r>
                        <a:rPr lang="en-US" altLang="ko-K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11677"/>
                  </a:ext>
                </a:extLst>
              </a:tr>
            </a:tbl>
          </a:graphicData>
        </a:graphic>
      </p:graphicFrame>
      <p:sp>
        <p:nvSpPr>
          <p:cNvPr id="8" name="제목 1">
            <a:extLst>
              <a:ext uri="{FF2B5EF4-FFF2-40B4-BE49-F238E27FC236}">
                <a16:creationId xmlns:a16="http://schemas.microsoft.com/office/drawing/2014/main" id="{EF625109-C03A-BA37-6C55-A62C9ED7906E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360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요구사항 정의서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9319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360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18D10F-EA50-7960-D710-3353AB2628A7}"/>
              </a:ext>
            </a:extLst>
          </p:cNvPr>
          <p:cNvSpPr txBox="1"/>
          <p:nvPr/>
        </p:nvSpPr>
        <p:spPr>
          <a:xfrm>
            <a:off x="545457" y="1306792"/>
            <a:ext cx="6253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[SLM] </a:t>
            </a:r>
            <a:r>
              <a:rPr lang="ko-KR" altLang="en-US" dirty="0"/>
              <a:t>가상 호텔 사내 규정 안내 </a:t>
            </a:r>
            <a:r>
              <a:rPr lang="ko-KR" altLang="en-US" dirty="0" err="1"/>
              <a:t>챗봇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F3E0F10-E57E-74BC-0ECD-1A3AC7B4F742}"/>
              </a:ext>
            </a:extLst>
          </p:cNvPr>
          <p:cNvGraphicFramePr>
            <a:graphicFrameLocks noGrp="1"/>
          </p:cNvGraphicFramePr>
          <p:nvPr/>
        </p:nvGraphicFramePr>
        <p:xfrm>
          <a:off x="2869900" y="1825625"/>
          <a:ext cx="6452200" cy="4351338"/>
        </p:xfrm>
        <a:graphic>
          <a:graphicData uri="http://schemas.openxmlformats.org/drawingml/2006/table">
            <a:tbl>
              <a:tblPr/>
              <a:tblGrid>
                <a:gridCol w="1613050">
                  <a:extLst>
                    <a:ext uri="{9D8B030D-6E8A-4147-A177-3AD203B41FA5}">
                      <a16:colId xmlns:a16="http://schemas.microsoft.com/office/drawing/2014/main" val="4270241945"/>
                    </a:ext>
                  </a:extLst>
                </a:gridCol>
                <a:gridCol w="1613050">
                  <a:extLst>
                    <a:ext uri="{9D8B030D-6E8A-4147-A177-3AD203B41FA5}">
                      <a16:colId xmlns:a16="http://schemas.microsoft.com/office/drawing/2014/main" val="1671883002"/>
                    </a:ext>
                  </a:extLst>
                </a:gridCol>
                <a:gridCol w="1613050">
                  <a:extLst>
                    <a:ext uri="{9D8B030D-6E8A-4147-A177-3AD203B41FA5}">
                      <a16:colId xmlns:a16="http://schemas.microsoft.com/office/drawing/2014/main" val="2124066401"/>
                    </a:ext>
                  </a:extLst>
                </a:gridCol>
                <a:gridCol w="1613050">
                  <a:extLst>
                    <a:ext uri="{9D8B030D-6E8A-4147-A177-3AD203B41FA5}">
                      <a16:colId xmlns:a16="http://schemas.microsoft.com/office/drawing/2014/main" val="3508781994"/>
                    </a:ext>
                  </a:extLst>
                </a:gridCol>
              </a:tblGrid>
              <a:tr h="39897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요구사항 </a:t>
                      </a: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분류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요구사항 명칭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상세 명세 </a:t>
                      </a:r>
                      <a:r>
                        <a:rPr lang="en-US" altLang="ko-K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 및 제약조건</a:t>
                      </a:r>
                      <a:r>
                        <a:rPr lang="en-US" altLang="ko-K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57511"/>
                  </a:ext>
                </a:extLst>
              </a:tr>
              <a:tr h="903931"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REQ-NLP-01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구어체 및 의도 추출 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(NER)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문법에 완벽하지 않은 일상 대화체나 구어체 질문 속에서 핵심 엔티티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장소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물품 등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와 의도를 정확히 식별해야 함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616170"/>
                  </a:ext>
                </a:extLst>
              </a:tr>
              <a:tr h="735613"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REQ-NLP-02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매뉴얼 기반 팩트 체킹 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(QnA)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반드시 탑재된 호텔 사내 운영 규정 문서 범위 내에서만 정답을 도출해야 함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663956"/>
                  </a:ext>
                </a:extLst>
              </a:tr>
              <a:tr h="1240568"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REQ-NLP-03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기능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환각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Hallucination)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제어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매뉴얼 범위를 벗어난 질의에 대해서는 답변을 지어내지 않고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"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해당 정보는 매뉴얼에 등록되어 있지 않습니다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." </a:t>
                      </a:r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등의 고정된 방어형 답변을 출력해야 함</a:t>
                      </a:r>
                      <a:r>
                        <a:rPr lang="en-US" altLang="ko-K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395573"/>
                  </a:ext>
                </a:extLst>
              </a:tr>
              <a:tr h="1072249"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REQ-NLP-04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비기능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추론 속도 및 자원 효율성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답변 출력까지의 시간은 </a:t>
                      </a:r>
                      <a:r>
                        <a:rPr lang="ko-KR" alt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최대 </a:t>
                      </a:r>
                      <a:r>
                        <a:rPr lang="en-US" altLang="ko-K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</a:t>
                      </a:r>
                      <a:r>
                        <a:rPr lang="ko-KR" alt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초 이내</a:t>
                      </a:r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여야 하며</a:t>
                      </a:r>
                      <a:r>
                        <a:rPr lang="en-US" altLang="ko-K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고가의 다중 </a:t>
                      </a:r>
                      <a:r>
                        <a:rPr lang="en-US" altLang="ko-K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GPU</a:t>
                      </a:r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가 아닌 단일 </a:t>
                      </a:r>
                      <a:r>
                        <a:rPr lang="en-US" altLang="ko-K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GPU </a:t>
                      </a:r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혹은 로컬 환경에서 구동 가능해야 함 </a:t>
                      </a:r>
                      <a:r>
                        <a:rPr lang="en-US" altLang="ko-K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보안 및 독립성 유지</a:t>
                      </a:r>
                      <a:r>
                        <a:rPr lang="en-US" altLang="ko-K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).</a:t>
                      </a:r>
                    </a:p>
                  </a:txBody>
                  <a:tcPr marL="46755" marR="46755" marT="31170" marB="3117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814027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22FC164C-13A8-0277-6261-5D96735CBE2E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360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요구사항 정의서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083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288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288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화면설계서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851AB10-9A35-E519-0351-802D6855E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8000"/>
            <a:ext cx="8140190" cy="4320000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89837B3-A748-268F-FFBC-20EBE847E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251678"/>
              </p:ext>
            </p:extLst>
          </p:nvPr>
        </p:nvGraphicFramePr>
        <p:xfrm>
          <a:off x="8308248" y="909000"/>
          <a:ext cx="3672000" cy="504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1909459315"/>
                    </a:ext>
                  </a:extLst>
                </a:gridCol>
                <a:gridCol w="3384000">
                  <a:extLst>
                    <a:ext uri="{9D8B030D-6E8A-4147-A177-3AD203B41FA5}">
                      <a16:colId xmlns:a16="http://schemas.microsoft.com/office/drawing/2014/main" val="1052583633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02834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내비게이션 바</a:t>
                      </a:r>
                      <a:r>
                        <a:rPr lang="en-US" altLang="ko-KR" sz="900" b="1" dirty="0"/>
                        <a:t>:</a:t>
                      </a:r>
                      <a:r>
                        <a:rPr lang="ko-KR" altLang="en-US" sz="900" dirty="0"/>
                        <a:t> 페이지 스크롤과 관계없이 상단에 고정 노출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4115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>
                          <a:solidFill>
                            <a:sysClr val="windowText" lastClr="000000"/>
                          </a:solidFill>
                        </a:rPr>
                        <a:t>로고</a:t>
                      </a:r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: </a:t>
                      </a:r>
                      <a:r>
                        <a:rPr lang="ko-KR" altLang="en-US" sz="900" dirty="0">
                          <a:solidFill>
                            <a:sysClr val="windowText" lastClr="000000"/>
                          </a:solidFill>
                        </a:rPr>
                        <a:t>버튼 클릭 시 </a:t>
                      </a:r>
                      <a:r>
                        <a:rPr lang="ko-KR" altLang="en-US" sz="900" dirty="0" err="1">
                          <a:solidFill>
                            <a:sysClr val="windowText" lastClr="000000"/>
                          </a:solidFill>
                        </a:rPr>
                        <a:t>메인페이지로</a:t>
                      </a:r>
                      <a:r>
                        <a:rPr lang="ko-KR" altLang="en-US" sz="900" dirty="0">
                          <a:solidFill>
                            <a:sysClr val="windowText" lastClr="000000"/>
                          </a:solidFill>
                        </a:rPr>
                        <a:t>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60472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>
                          <a:solidFill>
                            <a:sysClr val="windowText" lastClr="000000"/>
                          </a:solidFill>
                        </a:rPr>
                        <a:t>예약 정보 검색</a:t>
                      </a:r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: </a:t>
                      </a:r>
                      <a:r>
                        <a:rPr lang="ko-KR" altLang="en-US" sz="900" dirty="0">
                          <a:solidFill>
                            <a:sysClr val="windowText" lastClr="000000"/>
                          </a:solidFill>
                        </a:rPr>
                        <a:t>버튼 클릭 시 고객 정보 검색 페이지</a:t>
                      </a:r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(search.html)</a:t>
                      </a:r>
                      <a:r>
                        <a:rPr lang="ko-KR" altLang="en-US" sz="900" dirty="0">
                          <a:solidFill>
                            <a:sysClr val="windowText" lastClr="000000"/>
                          </a:solidFill>
                        </a:rPr>
                        <a:t>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69792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Predict Now: </a:t>
                      </a:r>
                      <a:r>
                        <a:rPr lang="ko-KR" altLang="en-US" sz="900" dirty="0"/>
                        <a:t>버튼 클릭 시 예측 페이지</a:t>
                      </a:r>
                      <a:r>
                        <a:rPr lang="en-US" altLang="ko-KR" sz="900" dirty="0"/>
                        <a:t>(predict.html)</a:t>
                      </a:r>
                      <a:r>
                        <a:rPr lang="ko-KR" altLang="en-US" sz="900" dirty="0"/>
                        <a:t>로 즉시 라우팅을 수행함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795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좌측 고정 내비게이션 바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0" dirty="0"/>
                        <a:t>마우스를 올리면 글자가 나타남</a:t>
                      </a:r>
                      <a:r>
                        <a:rPr lang="en-US" altLang="ko-KR" sz="900" b="0" dirty="0"/>
                        <a:t>. </a:t>
                      </a:r>
                      <a:r>
                        <a:rPr lang="ko-KR" altLang="en-US" sz="900" b="0" dirty="0"/>
                        <a:t>글자 클릭 시 해당 페이지로 이동함</a:t>
                      </a:r>
                      <a:r>
                        <a:rPr lang="en-US" altLang="ko-KR" sz="900" b="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32173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1" dirty="0"/>
                        <a:t>Home :</a:t>
                      </a:r>
                      <a:r>
                        <a:rPr lang="ko-KR" altLang="en-US" sz="900" dirty="0"/>
                        <a:t> 세 페이지의 </a:t>
                      </a:r>
                      <a:r>
                        <a:rPr lang="ko-KR" altLang="en-US" sz="900" dirty="0" err="1"/>
                        <a:t>캐러셀이</a:t>
                      </a:r>
                      <a:r>
                        <a:rPr lang="ko-KR" altLang="en-US" sz="900" dirty="0"/>
                        <a:t> 자동으로 슬라이드 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1451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1" dirty="0"/>
                        <a:t>Why Prediction Matters (Section 2):</a:t>
                      </a:r>
                      <a:r>
                        <a:rPr lang="ko-KR" altLang="en-US" sz="900" dirty="0"/>
                        <a:t> 예측 모델의 필요성을 세 가지로 나누어 설명함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01048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1" dirty="0"/>
                        <a:t>How</a:t>
                      </a:r>
                      <a:r>
                        <a:rPr lang="ko-KR" altLang="en-US" sz="900" b="1" dirty="0"/>
                        <a:t> </a:t>
                      </a:r>
                      <a:r>
                        <a:rPr lang="en-US" altLang="ko-KR" sz="900" b="1" dirty="0"/>
                        <a:t>It Works (Section 3):</a:t>
                      </a:r>
                      <a:r>
                        <a:rPr lang="ko-KR" altLang="en-US" sz="900" dirty="0"/>
                        <a:t> </a:t>
                      </a:r>
                      <a:r>
                        <a:rPr lang="ko-KR" altLang="en-US" sz="900" dirty="0" err="1"/>
                        <a:t>취소율</a:t>
                      </a:r>
                      <a:r>
                        <a:rPr lang="ko-KR" altLang="en-US" sz="900" dirty="0"/>
                        <a:t> 예측 및 그래프 확인 과정과 예약 정보 검색 페이지를 통한 본인 내역 확인 기능을 </a:t>
                      </a:r>
                      <a:r>
                        <a:rPr lang="en-US" altLang="ko-KR" sz="900" dirty="0"/>
                        <a:t>Step</a:t>
                      </a:r>
                      <a:r>
                        <a:rPr lang="ko-KR" altLang="en-US" sz="900" dirty="0"/>
                        <a:t>별로 안내함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67698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1" dirty="0"/>
                        <a:t>Key </a:t>
                      </a:r>
                      <a:r>
                        <a:rPr lang="en-US" altLang="ko-KR" sz="900" b="1" dirty="0" err="1"/>
                        <a:t>Feartures</a:t>
                      </a:r>
                      <a:r>
                        <a:rPr lang="en-US" altLang="ko-KR" sz="900" b="1" dirty="0"/>
                        <a:t> (Section 4):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모델링에 사용된 핵심 피처가 예약 </a:t>
                      </a:r>
                      <a:r>
                        <a:rPr lang="ko-KR" altLang="en-US" sz="900" dirty="0" err="1"/>
                        <a:t>취소율</a:t>
                      </a:r>
                      <a:r>
                        <a:rPr lang="ko-KR" altLang="en-US" sz="900" dirty="0"/>
                        <a:t> 예측에 어떻게 기여하는지 소개함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544477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ysClr val="windowText" lastClr="000000"/>
                          </a:solidFill>
                        </a:rPr>
                        <a:t>Check Point</a:t>
                      </a:r>
                      <a:endParaRPr lang="ko-KR" altLang="en-US" sz="9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358335"/>
                  </a:ext>
                </a:extLst>
              </a:tr>
              <a:tr h="43200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풀페이지 스크롤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800" dirty="0"/>
                        <a:t> 마우스 휠 이벤트를 제어하여 일반적인 스크롤이 아닌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섹션 단위로 부드럽게 끊어 넘어가는 기능 적용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084806"/>
                  </a:ext>
                </a:extLst>
              </a:tr>
              <a:tr h="43200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컴포넌트 분리 구조</a:t>
                      </a:r>
                      <a:r>
                        <a:rPr lang="en-US" altLang="ko-KR" sz="900" b="1" dirty="0"/>
                        <a:t>: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Flask</a:t>
                      </a:r>
                      <a:r>
                        <a:rPr lang="ko-KR" altLang="en-US" sz="900" dirty="0"/>
                        <a:t>의 </a:t>
                      </a:r>
                      <a:r>
                        <a:rPr lang="en-US" altLang="ko-KR" sz="900" dirty="0"/>
                        <a:t>Jinja2</a:t>
                      </a:r>
                      <a:r>
                        <a:rPr lang="ko-KR" altLang="en-US" sz="900" dirty="0"/>
                        <a:t>을 활용하여 각 섹션의 </a:t>
                      </a:r>
                      <a:r>
                        <a:rPr lang="en-US" altLang="ko-KR" sz="900" dirty="0"/>
                        <a:t>HTML </a:t>
                      </a:r>
                      <a:r>
                        <a:rPr lang="ko-KR" altLang="en-US" sz="900" dirty="0"/>
                        <a:t>및 </a:t>
                      </a:r>
                      <a:r>
                        <a:rPr lang="en-US" altLang="ko-KR" sz="900" dirty="0"/>
                        <a:t>CSS </a:t>
                      </a:r>
                      <a:r>
                        <a:rPr lang="ko-KR" altLang="en-US" sz="900" dirty="0"/>
                        <a:t>가독성과 유지보수성을 극대화함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75331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9458B48-348F-904A-96FE-ADC1301FC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73179"/>
              </p:ext>
            </p:extLst>
          </p:nvPr>
        </p:nvGraphicFramePr>
        <p:xfrm>
          <a:off x="252596" y="1237202"/>
          <a:ext cx="6264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761885617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70762256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34594205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96785495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3615634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0251126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메인 랜딩 페이지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Screen ID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UI-MAIN-01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2026.05.15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1623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Screen Path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88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374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288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6D51E58-4F90-6869-B8EE-E2681E26A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067157"/>
              </p:ext>
            </p:extLst>
          </p:nvPr>
        </p:nvGraphicFramePr>
        <p:xfrm>
          <a:off x="8267404" y="1234938"/>
          <a:ext cx="3672000" cy="3182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435373391"/>
                    </a:ext>
                  </a:extLst>
                </a:gridCol>
                <a:gridCol w="3384000">
                  <a:extLst>
                    <a:ext uri="{9D8B030D-6E8A-4147-A177-3AD203B41FA5}">
                      <a16:colId xmlns:a16="http://schemas.microsoft.com/office/drawing/2014/main" val="2014592507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64192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실시간 듀얼 차트 </a:t>
                      </a:r>
                      <a:r>
                        <a:rPr lang="en-US" altLang="ko-KR" sz="900" b="1" dirty="0"/>
                        <a:t>(Chart.js):</a:t>
                      </a:r>
                      <a:r>
                        <a:rPr lang="ko-KR" altLang="en-US" sz="900" b="1" dirty="0"/>
                        <a:t> </a:t>
                      </a:r>
                      <a:r>
                        <a:rPr lang="ko-KR" altLang="en-US" sz="900" b="0" dirty="0"/>
                        <a:t>휴양형 호텔</a:t>
                      </a:r>
                      <a:r>
                        <a:rPr lang="ko-KR" altLang="en-US" sz="900" dirty="0"/>
                        <a:t>과 도심형 호텔의 도넛 그래프 레이아웃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입력 폼 제어에 따라 선택된 호텔 타입의 취소 확률 데이터가 실시간으로 반영 및 업데이트됨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1523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인공지능 실시간 분석 리포트</a:t>
                      </a:r>
                      <a:r>
                        <a:rPr lang="en-US" altLang="ko-KR" sz="900" b="1" dirty="0"/>
                        <a:t>:</a:t>
                      </a:r>
                      <a:r>
                        <a:rPr lang="ko-KR" altLang="en-US" sz="900" dirty="0"/>
                        <a:t> 계산된 예측 확률을 기반으로 현재 상태</a:t>
                      </a:r>
                      <a:r>
                        <a:rPr lang="en-US" altLang="ko-KR" sz="900" dirty="0"/>
                        <a:t>(</a:t>
                      </a:r>
                      <a:r>
                        <a:rPr lang="en-US" altLang="ko-KR" sz="900" b="1" dirty="0"/>
                        <a:t>HIGH RISK / STABLE STATUS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를 판별하고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텍스트 스토리텔링 방식의 맞춤형 인사이트 리포트를 렌더링함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19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예약 및 개인정보 입력 폼</a:t>
                      </a:r>
                      <a:r>
                        <a:rPr lang="en-US" altLang="ko-KR" sz="900" b="1" dirty="0"/>
                        <a:t>:</a:t>
                      </a:r>
                      <a:r>
                        <a:rPr lang="ko-KR" altLang="en-US" sz="900" dirty="0"/>
                        <a:t> 이름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연락처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예약일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객실 요금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추가 요청 사항 등을 수집하는 영역</a:t>
                      </a:r>
                      <a:r>
                        <a:rPr lang="en-US" altLang="ko-KR" sz="900" dirty="0"/>
                        <a:t>. [</a:t>
                      </a:r>
                      <a:r>
                        <a:rPr lang="ko-KR" altLang="en-US" sz="900" dirty="0"/>
                        <a:t>입력 초기화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시 데이터와 차트가 초기화되며</a:t>
                      </a:r>
                      <a:r>
                        <a:rPr lang="en-US" altLang="ko-KR" sz="900" dirty="0"/>
                        <a:t>, [</a:t>
                      </a:r>
                      <a:r>
                        <a:rPr lang="ko-KR" altLang="en-US" sz="900" dirty="0"/>
                        <a:t>예약하기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클릭 시 </a:t>
                      </a:r>
                      <a:r>
                        <a:rPr lang="en-US" altLang="ko-KR" sz="900" dirty="0"/>
                        <a:t>DB </a:t>
                      </a:r>
                      <a:r>
                        <a:rPr lang="ko-KR" altLang="en-US" sz="900" dirty="0"/>
                        <a:t>연동 기능이 수행됨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36631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ysClr val="windowText" lastClr="000000"/>
                          </a:solidFill>
                        </a:rPr>
                        <a:t>Check Point</a:t>
                      </a:r>
                      <a:endParaRPr lang="ko-KR" altLang="en-US" sz="9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949567"/>
                  </a:ext>
                </a:extLst>
              </a:tr>
              <a:tr h="43200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dirty="0"/>
                        <a:t>비동기 실시간 예측 트리거</a:t>
                      </a:r>
                      <a:r>
                        <a:rPr lang="en-US" altLang="ko-KR" sz="800" b="1" dirty="0"/>
                        <a:t>:</a:t>
                      </a:r>
                      <a:r>
                        <a:rPr lang="ko-KR" altLang="en-US" sz="800" dirty="0"/>
                        <a:t> 폼 내부의 모든 </a:t>
                      </a:r>
                      <a:r>
                        <a:rPr lang="en-US" altLang="ko-KR" sz="800" dirty="0"/>
                        <a:t>input, select, </a:t>
                      </a:r>
                      <a:r>
                        <a:rPr lang="en-US" altLang="ko-KR" sz="800" dirty="0" err="1"/>
                        <a:t>textarea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값에 변경 이벤트가 발생할 때마다 </a:t>
                      </a:r>
                      <a:r>
                        <a:rPr lang="ko-KR" altLang="en-US" sz="800" dirty="0" err="1"/>
                        <a:t>새로고침</a:t>
                      </a:r>
                      <a:r>
                        <a:rPr lang="ko-KR" altLang="en-US" sz="800" dirty="0"/>
                        <a:t> 없이 </a:t>
                      </a:r>
                      <a:r>
                        <a:rPr lang="ko-KR" altLang="en-US" sz="800" dirty="0" err="1"/>
                        <a:t>백엔드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API(/</a:t>
                      </a:r>
                      <a:r>
                        <a:rPr lang="en-US" altLang="ko-KR" sz="800" dirty="0" err="1"/>
                        <a:t>api</a:t>
                      </a:r>
                      <a:r>
                        <a:rPr lang="en-US" altLang="ko-KR" sz="800" dirty="0"/>
                        <a:t>/predict)</a:t>
                      </a:r>
                      <a:r>
                        <a:rPr lang="ko-KR" altLang="en-US" sz="800" dirty="0"/>
                        <a:t>와 실시간 통신하여 그래프와 리포트 데이터를 동적 갱신함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299508"/>
                  </a:ext>
                </a:extLst>
              </a:tr>
              <a:tr h="43200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파싱 및 유효성 검증 예외 처리</a:t>
                      </a:r>
                      <a:r>
                        <a:rPr lang="en-US" altLang="ko-KR" sz="900" b="1" dirty="0"/>
                        <a:t>:</a:t>
                      </a:r>
                      <a:r>
                        <a:rPr lang="ko-KR" altLang="en-US" sz="900" dirty="0"/>
                        <a:t> 예약 날짜를 기반으로 선행 기간</a:t>
                      </a:r>
                      <a:r>
                        <a:rPr lang="en-US" altLang="ko-KR" sz="900" dirty="0"/>
                        <a:t>(</a:t>
                      </a:r>
                      <a:r>
                        <a:rPr lang="en-US" altLang="ko-KR" sz="900" dirty="0" err="1"/>
                        <a:t>lead_time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을 자동 계산하며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추가 요청 사항의 문자열 길이에 따라 가중치 가변 처리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전화번호 입력란은 숫자 이외의 문자 입력을 차단함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794178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BFB3996-D455-70A0-1685-06ECE662B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547548"/>
              </p:ext>
            </p:extLst>
          </p:nvPr>
        </p:nvGraphicFramePr>
        <p:xfrm>
          <a:off x="171443" y="1410962"/>
          <a:ext cx="7794738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738">
                  <a:extLst>
                    <a:ext uri="{9D8B030D-6E8A-4147-A177-3AD203B41FA5}">
                      <a16:colId xmlns:a16="http://schemas.microsoft.com/office/drawing/2014/main" val="3761885617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3707622563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1345942057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3967854958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83615634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150251126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예약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취소율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예측 페이지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Screen ID</a:t>
                      </a:r>
                      <a:endParaRPr lang="ko-KR" altLang="en-US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UI-PREDICT-01</a:t>
                      </a:r>
                      <a:endParaRPr lang="ko-KR" altLang="en-US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2026.05.16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1623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Screen Path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예측 페이지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883973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587C7D1F-A8BE-278A-806A-0CF5648CF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8000"/>
            <a:ext cx="7966181" cy="432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B70E63B-75FF-4F03-B835-0DCED878D88C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288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화면설계서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4105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288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47591E9-EF62-809A-1D8F-15093911B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8000"/>
            <a:ext cx="7929392" cy="4320000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96471FB-746A-D425-E722-9631694FC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60311"/>
              </p:ext>
            </p:extLst>
          </p:nvPr>
        </p:nvGraphicFramePr>
        <p:xfrm>
          <a:off x="171443" y="1410962"/>
          <a:ext cx="7794738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738">
                  <a:extLst>
                    <a:ext uri="{9D8B030D-6E8A-4147-A177-3AD203B41FA5}">
                      <a16:colId xmlns:a16="http://schemas.microsoft.com/office/drawing/2014/main" val="3761885617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3707622563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1345942057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3967854958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83615634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150251126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예약 정보 찾기 및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Screen ID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UI-SEARCH-01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2026.05.18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1623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Screen Path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예약 정보 찾기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883973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7880DB03-7F35-B46A-A643-9542DE66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149719"/>
              </p:ext>
            </p:extLst>
          </p:nvPr>
        </p:nvGraphicFramePr>
        <p:xfrm>
          <a:off x="8267404" y="1234938"/>
          <a:ext cx="3672000" cy="2229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435373391"/>
                    </a:ext>
                  </a:extLst>
                </a:gridCol>
                <a:gridCol w="3384000">
                  <a:extLst>
                    <a:ext uri="{9D8B030D-6E8A-4147-A177-3AD203B41FA5}">
                      <a16:colId xmlns:a16="http://schemas.microsoft.com/office/drawing/2014/main" val="2014592507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64192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실시간 누적 </a:t>
                      </a:r>
                      <a:r>
                        <a:rPr lang="ko-KR" altLang="en-US" sz="900" b="1" dirty="0" err="1"/>
                        <a:t>취소율</a:t>
                      </a:r>
                      <a:r>
                        <a:rPr lang="ko-KR" altLang="en-US" sz="900" b="1" dirty="0"/>
                        <a:t> 대시보드</a:t>
                      </a:r>
                      <a:r>
                        <a:rPr lang="en-US" altLang="ko-KR" sz="900" b="1" dirty="0"/>
                        <a:t>:</a:t>
                      </a:r>
                      <a:r>
                        <a:rPr lang="ko-KR" altLang="en-US" sz="900" dirty="0"/>
                        <a:t> 페이지 로드 시 </a:t>
                      </a:r>
                      <a:r>
                        <a:rPr lang="ko-KR" altLang="en-US" sz="900" dirty="0" err="1"/>
                        <a:t>백엔드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API(/</a:t>
                      </a:r>
                      <a:r>
                        <a:rPr lang="en-US" altLang="ko-KR" sz="900" dirty="0" err="1"/>
                        <a:t>api</a:t>
                      </a:r>
                      <a:r>
                        <a:rPr lang="en-US" altLang="ko-KR" sz="900" dirty="0"/>
                        <a:t>/chart-data)</a:t>
                      </a:r>
                      <a:r>
                        <a:rPr lang="ko-KR" altLang="en-US" sz="900" dirty="0"/>
                        <a:t>를 호출하여 휴양형</a:t>
                      </a:r>
                      <a:r>
                        <a:rPr lang="en-US" altLang="ko-KR" sz="900" dirty="0"/>
                        <a:t>(Resort) </a:t>
                      </a:r>
                      <a:r>
                        <a:rPr lang="ko-KR" altLang="en-US" sz="900" dirty="0"/>
                        <a:t>및 도심형</a:t>
                      </a:r>
                      <a:r>
                        <a:rPr lang="en-US" altLang="ko-KR" sz="900" dirty="0"/>
                        <a:t>(City) </a:t>
                      </a:r>
                      <a:r>
                        <a:rPr lang="ko-KR" altLang="en-US" sz="900" dirty="0"/>
                        <a:t>호텔의 누적 취소 현황 지표를 도넛 그래프로 </a:t>
                      </a:r>
                      <a:r>
                        <a:rPr lang="ko-KR" altLang="en-US" sz="900" dirty="0" err="1"/>
                        <a:t>시각화함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1523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예약 내역 조회 정보 입력 폼</a:t>
                      </a:r>
                      <a:r>
                        <a:rPr lang="en-US" altLang="ko-KR" sz="900" b="1" dirty="0"/>
                        <a:t>:</a:t>
                      </a:r>
                      <a:r>
                        <a:rPr lang="ko-KR" altLang="en-US" sz="900" dirty="0"/>
                        <a:t> 고객 이름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생년월일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전화번호를 </a:t>
                      </a:r>
                      <a:r>
                        <a:rPr lang="ko-KR" altLang="en-US" sz="900" dirty="0" err="1"/>
                        <a:t>입력받는</a:t>
                      </a:r>
                      <a:r>
                        <a:rPr lang="ko-KR" altLang="en-US" sz="900" dirty="0"/>
                        <a:t> 영역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생년월일 선택 시 윤년 및 월별 일수</a:t>
                      </a:r>
                      <a:r>
                        <a:rPr lang="en-US" altLang="ko-KR" sz="900" dirty="0"/>
                        <a:t>(</a:t>
                      </a:r>
                      <a:r>
                        <a:rPr lang="en-US" altLang="ko-KR" sz="900" dirty="0" err="1"/>
                        <a:t>lastDay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를 자바스크립트로 자동 계산하여 필터링함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1992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ysClr val="windowText" lastClr="000000"/>
                          </a:solidFill>
                        </a:rPr>
                        <a:t>Check Point</a:t>
                      </a:r>
                      <a:endParaRPr lang="ko-KR" altLang="en-US" sz="9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949567"/>
                  </a:ext>
                </a:extLst>
              </a:tr>
              <a:tr h="64800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사용자 친화적 예외 처리</a:t>
                      </a:r>
                      <a:r>
                        <a:rPr lang="en-US" altLang="ko-KR" sz="900" b="1" dirty="0"/>
                        <a:t>:</a:t>
                      </a:r>
                      <a:r>
                        <a:rPr lang="ko-KR" altLang="en-US" sz="900" dirty="0"/>
                        <a:t> 입력 폼 누락 시 </a:t>
                      </a:r>
                      <a:r>
                        <a:rPr lang="ko-KR" altLang="en-US" sz="900" dirty="0" err="1"/>
                        <a:t>벨리데이션</a:t>
                      </a:r>
                      <a:r>
                        <a:rPr lang="ko-KR" altLang="en-US" sz="900" dirty="0"/>
                        <a:t> </a:t>
                      </a:r>
                      <a:r>
                        <a:rPr lang="ko-KR" altLang="en-US" sz="900" dirty="0" err="1"/>
                        <a:t>알림창을</a:t>
                      </a:r>
                      <a:r>
                        <a:rPr lang="ko-KR" altLang="en-US" sz="900" dirty="0"/>
                        <a:t> 띄우며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데이터베이스 조회 결과 일치하는 정보가 없을 경우 </a:t>
                      </a:r>
                      <a:r>
                        <a:rPr lang="en-US" altLang="ko-KR" sz="900" dirty="0"/>
                        <a:t>"</a:t>
                      </a:r>
                      <a:r>
                        <a:rPr lang="ko-KR" altLang="en-US" sz="900" dirty="0"/>
                        <a:t>일치하는 예약 내역이 없습니다</a:t>
                      </a:r>
                      <a:r>
                        <a:rPr lang="en-US" altLang="ko-KR" sz="900" dirty="0"/>
                        <a:t>." </a:t>
                      </a:r>
                      <a:r>
                        <a:rPr lang="ko-KR" altLang="en-US" sz="900" dirty="0"/>
                        <a:t>경고와 함께 결과 창을 은닉</a:t>
                      </a:r>
                      <a:r>
                        <a:rPr lang="en-US" altLang="ko-KR" sz="900" dirty="0"/>
                        <a:t>(display: none) </a:t>
                      </a:r>
                      <a:r>
                        <a:rPr lang="ko-KR" altLang="en-US" sz="900" dirty="0"/>
                        <a:t>처리함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794178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959CE00F-C771-F115-562C-2E2266F69BA9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288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화면설계서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8089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288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905B856-2639-27B2-AF7C-FC0D95E146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04"/>
          <a:stretch/>
        </p:blipFill>
        <p:spPr>
          <a:xfrm>
            <a:off x="0" y="2178000"/>
            <a:ext cx="8578256" cy="4680000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06274AC-AE2D-69EB-FEA2-FE3D6855D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923608"/>
              </p:ext>
            </p:extLst>
          </p:nvPr>
        </p:nvGraphicFramePr>
        <p:xfrm>
          <a:off x="8267404" y="1234938"/>
          <a:ext cx="3672000" cy="2367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435373391"/>
                    </a:ext>
                  </a:extLst>
                </a:gridCol>
                <a:gridCol w="3384000">
                  <a:extLst>
                    <a:ext uri="{9D8B030D-6E8A-4147-A177-3AD203B41FA5}">
                      <a16:colId xmlns:a16="http://schemas.microsoft.com/office/drawing/2014/main" val="2014592507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64192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비동기 예약 내역 리스트창</a:t>
                      </a:r>
                      <a:r>
                        <a:rPr lang="en-US" altLang="ko-KR" sz="900" b="1" dirty="0"/>
                        <a:t>: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예약정보조회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버튼 클릭 시 비동기 요청</a:t>
                      </a:r>
                      <a:r>
                        <a:rPr lang="en-US" altLang="ko-KR" sz="900" dirty="0"/>
                        <a:t>(/</a:t>
                      </a:r>
                      <a:r>
                        <a:rPr lang="en-US" altLang="ko-KR" sz="900" dirty="0" err="1"/>
                        <a:t>search_booking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을 통해 일치하는 고객 데이터를 수신하고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하단 영역에 카드 레이아웃 형태로 동적 렌더링함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1523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예약 취소 트리거 버튼</a:t>
                      </a:r>
                      <a:r>
                        <a:rPr lang="en-US" altLang="ko-KR" sz="900" b="1" dirty="0"/>
                        <a:t>:</a:t>
                      </a:r>
                      <a:r>
                        <a:rPr lang="ko-KR" altLang="en-US" sz="900" dirty="0"/>
                        <a:t> 조회된 개별 예약 카드 내 활성화된 </a:t>
                      </a:r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예약취소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버튼 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고유 </a:t>
                      </a:r>
                      <a:r>
                        <a:rPr lang="en-US" altLang="ko-KR" sz="900" dirty="0"/>
                        <a:t>ID </a:t>
                      </a:r>
                      <a:r>
                        <a:rPr lang="ko-KR" altLang="en-US" sz="900" dirty="0"/>
                        <a:t>기반의 </a:t>
                      </a:r>
                      <a:r>
                        <a:rPr lang="en-US" altLang="ko-KR" sz="900" dirty="0"/>
                        <a:t>API(/</a:t>
                      </a:r>
                      <a:r>
                        <a:rPr lang="en-US" altLang="ko-KR" sz="900" dirty="0" err="1"/>
                        <a:t>cancel_booking</a:t>
                      </a:r>
                      <a:r>
                        <a:rPr lang="en-US" altLang="ko-KR" sz="900" dirty="0"/>
                        <a:t>/&lt;id&gt;)</a:t>
                      </a:r>
                      <a:r>
                        <a:rPr lang="ko-KR" altLang="en-US" sz="900" dirty="0"/>
                        <a:t>를 호출하여 예약을 취소하고 </a:t>
                      </a:r>
                      <a:r>
                        <a:rPr lang="en-US" altLang="ko-KR" sz="900" dirty="0"/>
                        <a:t>DB </a:t>
                      </a:r>
                      <a:r>
                        <a:rPr lang="ko-KR" altLang="en-US" sz="900" dirty="0"/>
                        <a:t>데이터를 동기화함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1992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ysClr val="windowText" lastClr="000000"/>
                          </a:solidFill>
                        </a:rPr>
                        <a:t>Check Point</a:t>
                      </a:r>
                      <a:endParaRPr lang="ko-KR" altLang="en-US" sz="9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949567"/>
                  </a:ext>
                </a:extLst>
              </a:tr>
              <a:tr h="64800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dirty="0"/>
                        <a:t>비동기 데이터 갱신 </a:t>
                      </a:r>
                      <a:r>
                        <a:rPr lang="en-US" altLang="ko-KR" sz="800" b="1" dirty="0"/>
                        <a:t>(Refresh-less):</a:t>
                      </a:r>
                      <a:r>
                        <a:rPr lang="ko-KR" altLang="en-US" sz="800" dirty="0"/>
                        <a:t> 사용자가 예약을 취소하면 화면 전체를 </a:t>
                      </a:r>
                      <a:r>
                        <a:rPr lang="ko-KR" altLang="en-US" sz="800" dirty="0" err="1"/>
                        <a:t>새로고침하지</a:t>
                      </a:r>
                      <a:r>
                        <a:rPr lang="ko-KR" altLang="en-US" sz="800" dirty="0"/>
                        <a:t> 않고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자바스크립트가 자동으로 검색 버튼을 </a:t>
                      </a:r>
                      <a:r>
                        <a:rPr lang="ko-KR" altLang="en-US" sz="800" dirty="0" err="1"/>
                        <a:t>재클릭</a:t>
                      </a:r>
                      <a:r>
                        <a:rPr lang="en-US" altLang="ko-KR" sz="800" dirty="0"/>
                        <a:t>(</a:t>
                      </a:r>
                      <a:r>
                        <a:rPr lang="en-US" altLang="ko-KR" sz="800" dirty="0" err="1"/>
                        <a:t>btnSearch.click</a:t>
                      </a:r>
                      <a:r>
                        <a:rPr lang="en-US" altLang="ko-KR" sz="800" dirty="0"/>
                        <a:t>())</a:t>
                      </a:r>
                      <a:r>
                        <a:rPr lang="ko-KR" altLang="en-US" sz="800" dirty="0"/>
                        <a:t>하여 실시간으로 </a:t>
                      </a:r>
                      <a:r>
                        <a:rPr lang="ko-KR" altLang="en-US" sz="800" dirty="0" err="1"/>
                        <a:t>취소율</a:t>
                      </a:r>
                      <a:r>
                        <a:rPr lang="ko-KR" altLang="en-US" sz="800" dirty="0"/>
                        <a:t> 대시보드와 하단 리스트를 즉각 업데이트함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29950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6CF3CD5-F2F2-9FC4-CAAC-FD89E0D6A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630746"/>
              </p:ext>
            </p:extLst>
          </p:nvPr>
        </p:nvGraphicFramePr>
        <p:xfrm>
          <a:off x="171443" y="1410962"/>
          <a:ext cx="7794738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738">
                  <a:extLst>
                    <a:ext uri="{9D8B030D-6E8A-4147-A177-3AD203B41FA5}">
                      <a16:colId xmlns:a16="http://schemas.microsoft.com/office/drawing/2014/main" val="3761885617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3707622563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1345942057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3967854958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83615634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150251126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예약 정보 찾기 및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Screen ID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UI-SEARCH-02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2026.05.18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1623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Screen Path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예약 정보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883973"/>
                  </a:ext>
                </a:extLst>
              </a:tr>
            </a:tbl>
          </a:graphicData>
        </a:graphic>
      </p:graphicFrame>
      <p:sp>
        <p:nvSpPr>
          <p:cNvPr id="13" name="제목 1">
            <a:extLst>
              <a:ext uri="{FF2B5EF4-FFF2-40B4-BE49-F238E27FC236}">
                <a16:creationId xmlns:a16="http://schemas.microsoft.com/office/drawing/2014/main" id="{7E21FBC5-ACCF-8A2A-74B0-9D10538BDE74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288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화면설계서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3606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180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9B1764B-2B30-25D8-F547-9252F45E7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136" y="1631124"/>
            <a:ext cx="3549038" cy="469783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0071583-9ECC-C461-24D7-6B67F71B9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048" y="1383175"/>
            <a:ext cx="3706203" cy="5034749"/>
          </a:xfrm>
          <a:prstGeom prst="rect">
            <a:avLst/>
          </a:prstGeom>
        </p:spPr>
      </p:pic>
      <p:sp>
        <p:nvSpPr>
          <p:cNvPr id="18" name="제목 1">
            <a:extLst>
              <a:ext uri="{FF2B5EF4-FFF2-40B4-BE49-F238E27FC236}">
                <a16:creationId xmlns:a16="http://schemas.microsoft.com/office/drawing/2014/main" id="{95821F15-8615-40BE-8F62-EF27AEDFF9CC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180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en-US" altLang="ko-KR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UML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5556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180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2A069F-0B25-65CC-29D0-DF49BFB84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430" y="1733192"/>
            <a:ext cx="8788852" cy="4807197"/>
          </a:xfrm>
          <a:prstGeom prst="rect">
            <a:avLst/>
          </a:prstGeom>
        </p:spPr>
      </p:pic>
      <p:sp>
        <p:nvSpPr>
          <p:cNvPr id="16" name="제목 1">
            <a:extLst>
              <a:ext uri="{FF2B5EF4-FFF2-40B4-BE49-F238E27FC236}">
                <a16:creationId xmlns:a16="http://schemas.microsoft.com/office/drawing/2014/main" id="{D5270AE0-C0E8-8774-186A-B40F17869322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180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en-US" altLang="ko-KR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UML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7295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180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4C481E-1339-DBBD-69C4-FDBCBA721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29" y="1475710"/>
            <a:ext cx="8097462" cy="4870213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5F6D6F65-4F88-01B7-6420-D7919859CFD0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180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en-US" altLang="ko-KR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UML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5782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324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360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en-US" altLang="ko-KR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ER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Diagram</a:t>
            </a:r>
            <a:endParaRPr lang="ko-KR" altLang="en-US" sz="3600" b="1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20F453C-8BAA-E89D-F4AE-DCED959F0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321" y="1640124"/>
            <a:ext cx="8100976" cy="482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22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468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468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주요 기능 및 소스코드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F8DEAC-3D34-2FB1-2E9B-9D960055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438" y="1485118"/>
            <a:ext cx="5101624" cy="52168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Arial Unicode MS"/>
                <a:ea typeface="JetBrains Mono"/>
              </a:rPr>
              <a:t>@app.route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'/api/predict'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Arial Unicode MS"/>
                <a:ea typeface="JetBrains Mono"/>
              </a:rPr>
              <a:t>methods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=[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'POST'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def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api_predict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():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try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request.form.to_dict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프론트엔드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HTML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엘리먼트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또는 폼 데이터를 통해 모드 판별</a:t>
            </a: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mode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data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'PREDICT_MODE'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hotel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mode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hotel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and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hotel_model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None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return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jsonify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({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호텔 모델이 로드되지 않았습니다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.'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}),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500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DataFrame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생성 및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컬럼명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대문자 맵핑 변환</a:t>
            </a: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pd.DataFrame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([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.columns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= [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col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.upper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col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.columns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ADR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문자열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→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숫자 변환</a:t>
            </a: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adr_mapping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"under_10"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25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"10_20"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75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"20_30"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125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"30_40"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175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"over_40"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250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'ADR'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.columns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'ADR'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 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'ADR'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map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adr_mapping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공통 수치형 데이터 타입 강제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형변환</a:t>
            </a: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numeric_cols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[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'LEAD_TIME'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'PREVIOUS_CANCELLATIONS'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'ADR'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'REQUIRED_CAR_PARKING_SPACES'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'TOTAL_OF_SPECIAL_REQUESTS'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col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numeric_cols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col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.columns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col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 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pd.to_numeric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col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Arial Unicode MS"/>
                <a:ea typeface="JetBrains Mono"/>
              </a:rPr>
              <a:t>errors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coerce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fillna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580EE21-7828-7212-2A1B-67DE04689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285356"/>
              </p:ext>
            </p:extLst>
          </p:nvPr>
        </p:nvGraphicFramePr>
        <p:xfrm>
          <a:off x="6737135" y="1485118"/>
          <a:ext cx="4849870" cy="4145280"/>
        </p:xfrm>
        <a:graphic>
          <a:graphicData uri="http://schemas.openxmlformats.org/drawingml/2006/table">
            <a:tbl>
              <a:tblPr/>
              <a:tblGrid>
                <a:gridCol w="2424935">
                  <a:extLst>
                    <a:ext uri="{9D8B030D-6E8A-4147-A177-3AD203B41FA5}">
                      <a16:colId xmlns:a16="http://schemas.microsoft.com/office/drawing/2014/main" val="4124393083"/>
                    </a:ext>
                  </a:extLst>
                </a:gridCol>
                <a:gridCol w="2424935">
                  <a:extLst>
                    <a:ext uri="{9D8B030D-6E8A-4147-A177-3AD203B41FA5}">
                      <a16:colId xmlns:a16="http://schemas.microsoft.com/office/drawing/2014/main" val="1638199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핵심 로직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설명 </a:t>
                      </a:r>
                      <a:r>
                        <a:rPr lang="en-US" altLang="ko-KR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490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데이터 동적 매핑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프론트엔드에서 전달된 정성적 요금 데이터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(ADR)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머신러닝 모델의 학습 기준에 맞추어 실시간으로 수치화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(Mapping) 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처리함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251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ko-KR" alt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결측치</a:t>
                      </a: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&amp; </a:t>
                      </a: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타입 방어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외부 </a:t>
                      </a:r>
                      <a:r>
                        <a:rPr lang="ko-KR" alt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입력값의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유효성을 검증하고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예외 발생 시 </a:t>
                      </a:r>
                      <a:r>
                        <a:rPr lang="en-US" altLang="ko-KR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to_numeric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및 </a:t>
                      </a:r>
                      <a:r>
                        <a:rPr lang="en-US" altLang="ko-KR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fillna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(0)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통해 데이터 타입을 강제 </a:t>
                      </a:r>
                      <a:r>
                        <a:rPr lang="ko-KR" alt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형변환하여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추론 안정성을 확보함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125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791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468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F8DEAC-3D34-2FB1-2E9B-9D960055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95" y="3834702"/>
            <a:ext cx="510162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9DB3CA7-2CAB-6529-B037-90D7C2CA6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" y="1272462"/>
            <a:ext cx="5758405" cy="54938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selected_features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[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'HOTEL'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'LEAD_TIME'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'COUNTRY'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'MARKET_SEGMENT'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'PREVIOUS_CANCELLATIONS'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'CUSTOMER_TYPE'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'ADR'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'REQUIRED_CAR_PARKING_SPACES'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'TOTAL_OF_SPECIAL_REQUESTS'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mode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hotel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인코딩 처리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(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호텔 전용 인코더 사전 매핑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col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hotel_le_dict.items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():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col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.columns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val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str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col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iloc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💡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[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보정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]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변환된 어레이 데이터에서 단일 스칼라 값만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꺼내오도록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[0]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인덱싱 처리 안전화</a:t>
            </a: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val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not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.classes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_: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col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 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.transform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([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.classes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_[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]])[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else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col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 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.transform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([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val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])[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selected_features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</a:t>
            </a: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prediction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hotel_model.predict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)[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probability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hotel_model.predict_proba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input_df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)[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][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</a:t>
            </a: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    # 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연산 결과 최종 리턴</a:t>
            </a:r>
            <a:b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cancel_prob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float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probability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return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jsonify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result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int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prediction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prob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round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cancel_prob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100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2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})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except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Exception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print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f"Error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occurred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{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}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return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jsonify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({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str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)}),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400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491034B-F3C3-AADC-77FB-C75FA36FC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461237"/>
              </p:ext>
            </p:extLst>
          </p:nvPr>
        </p:nvGraphicFramePr>
        <p:xfrm>
          <a:off x="6095999" y="1537686"/>
          <a:ext cx="5667738" cy="4301741"/>
        </p:xfrm>
        <a:graphic>
          <a:graphicData uri="http://schemas.openxmlformats.org/drawingml/2006/table">
            <a:tbl>
              <a:tblPr/>
              <a:tblGrid>
                <a:gridCol w="2833869">
                  <a:extLst>
                    <a:ext uri="{9D8B030D-6E8A-4147-A177-3AD203B41FA5}">
                      <a16:colId xmlns:a16="http://schemas.microsoft.com/office/drawing/2014/main" val="664675489"/>
                    </a:ext>
                  </a:extLst>
                </a:gridCol>
                <a:gridCol w="2833869">
                  <a:extLst>
                    <a:ext uri="{9D8B030D-6E8A-4147-A177-3AD203B41FA5}">
                      <a16:colId xmlns:a16="http://schemas.microsoft.com/office/drawing/2014/main" val="4261177871"/>
                    </a:ext>
                  </a:extLst>
                </a:gridCol>
              </a:tblGrid>
              <a:tr h="486741"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핵심 로직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설명 </a:t>
                      </a:r>
                      <a:r>
                        <a:rPr lang="en-US" altLang="ko-KR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432482"/>
                  </a:ext>
                </a:extLst>
              </a:tr>
              <a:tr h="190750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Unseen Data </a:t>
                      </a: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보정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학습 데이터에 없는 새로운 범주형 데이터 진입 시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미리 로드된 인코더의 </a:t>
                      </a:r>
                      <a:r>
                        <a:rPr lang="ko-KR" alt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최빈값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(classes_[0])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으로 수렴시키는 방어 로직을 설계하여 런타임 에러를 방지함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651073"/>
                  </a:ext>
                </a:extLst>
              </a:tr>
              <a:tr h="1907500"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실시간 추론 및 반환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전처리가 완료된 </a:t>
                      </a:r>
                      <a:r>
                        <a:rPr lang="en-US" altLang="ko-KR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input_df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활용하여 </a:t>
                      </a:r>
                      <a:r>
                        <a:rPr lang="ko-KR" alt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머신러닝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모델의 취소 확률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predict_proba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을 연산하고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이를 비동기 대응용 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JSON 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포맷으로 최종 </a:t>
                      </a:r>
                      <a:r>
                        <a:rPr lang="ko-KR" alt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리턴함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59123"/>
                  </a:ext>
                </a:extLst>
              </a:tr>
            </a:tbl>
          </a:graphicData>
        </a:graphic>
      </p:graphicFrame>
      <p:sp>
        <p:nvSpPr>
          <p:cNvPr id="13" name="제목 1">
            <a:extLst>
              <a:ext uri="{FF2B5EF4-FFF2-40B4-BE49-F238E27FC236}">
                <a16:creationId xmlns:a16="http://schemas.microsoft.com/office/drawing/2014/main" id="{653C167B-8877-C469-AA6C-4F9CEA39A9F9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468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주요 기능 및 소스코드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7553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432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432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소프트웨어 아키텍처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F8DEAC-3D34-2FB1-2E9B-9D960055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95" y="3834702"/>
            <a:ext cx="510162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0E15C9F-5269-B795-B45B-B8B84F19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44" y="1720435"/>
            <a:ext cx="6550952" cy="225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473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432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F8DEAC-3D34-2FB1-2E9B-9D960055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95" y="3834702"/>
            <a:ext cx="510162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F5553F0-CA77-7EE1-3E80-ED65CBF51B1B}"/>
              </a:ext>
            </a:extLst>
          </p:cNvPr>
          <p:cNvGraphicFramePr>
            <a:graphicFrameLocks noGrp="1"/>
          </p:cNvGraphicFramePr>
          <p:nvPr/>
        </p:nvGraphicFramePr>
        <p:xfrm>
          <a:off x="1894848" y="1825625"/>
          <a:ext cx="8402304" cy="4351338"/>
        </p:xfrm>
        <a:graphic>
          <a:graphicData uri="http://schemas.openxmlformats.org/drawingml/2006/table">
            <a:tbl>
              <a:tblPr/>
              <a:tblGrid>
                <a:gridCol w="4201152">
                  <a:extLst>
                    <a:ext uri="{9D8B030D-6E8A-4147-A177-3AD203B41FA5}">
                      <a16:colId xmlns:a16="http://schemas.microsoft.com/office/drawing/2014/main" val="526923904"/>
                    </a:ext>
                  </a:extLst>
                </a:gridCol>
                <a:gridCol w="4201152">
                  <a:extLst>
                    <a:ext uri="{9D8B030D-6E8A-4147-A177-3AD203B41FA5}">
                      <a16:colId xmlns:a16="http://schemas.microsoft.com/office/drawing/2014/main" val="2285719162"/>
                    </a:ext>
                  </a:extLst>
                </a:gridCol>
              </a:tblGrid>
              <a:tr h="300372"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항목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6" marR="60886" marT="40591" marB="40591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핵심 설명 </a:t>
                      </a:r>
                      <a:r>
                        <a:rPr lang="en-US" altLang="ko-KR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6" marR="60886" marT="40591" marB="40591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455200"/>
                  </a:ext>
                </a:extLst>
              </a:tr>
              <a:tr h="957944"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비동기 데이터 레이어 분리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6" marR="60886" marT="40591" marB="40591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브라우저 새로고침 없이 실시간으로 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AI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분석 결과를 갱신하기 위해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화면 라우팅과 데이터 연동 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API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영역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(/api/...)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을 철저히 분리한 </a:t>
                      </a:r>
                      <a:r>
                        <a:rPr lang="en-US" altLang="ko-KR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RESTful 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기반 아키텍처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설계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60886" marR="60886" marT="40591" marB="40591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854658"/>
                  </a:ext>
                </a:extLst>
              </a:tr>
              <a:tr h="1177134"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백엔드 중심 가벼운 클라이언트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6" marR="60886" marT="40591" marB="40591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프론트엔드는 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렌더링과 사용자 입력 수집만 담당하고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복잡한 데이터 전처리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(Data Mapping)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및 머신러닝 추론 연산은 **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Flask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백엔드 서버에 집중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(Thick Server - Thin Client)**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시켜 보안성과 성능을 최적화함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60886" marR="60886" marT="40591" marB="40591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285274"/>
                  </a:ext>
                </a:extLst>
              </a:tr>
              <a:tr h="957944"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ML 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파이프라인 직렬화 연동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6" marR="60886" marT="40591" marB="40591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학습이 완료된 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Scikit-learn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모델과 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LabelEncoder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객체를 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joblib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파일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(pkl)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형태로 직렬화하여 백엔드 구동 즉시 메모리에 로드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실시간 비동기 추론 요청에 </a:t>
                      </a:r>
                      <a:r>
                        <a:rPr lang="en-US" altLang="ko-KR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초 미만으로 즉각 응답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하는 파이프라인 구축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60886" marR="60886" marT="40591" marB="40591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675393"/>
                  </a:ext>
                </a:extLst>
              </a:tr>
              <a:tr h="957944"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DB 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트리거 기반 무결성 보장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6" marR="60886" marT="40591" marB="40591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웹 서버의 부담을 줄이기 위해 오라클 데이터베이스 내부에 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SEQUENCE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와 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BEFORE INSERT TRIGGER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구축하여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데이터 적재 시 고유 식별자</a:t>
                      </a:r>
                      <a:r>
                        <a:rPr lang="en-US" altLang="ko-KR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(PK) </a:t>
                      </a: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생성을 데이터베이스 엔진 단에서 원천 자동화</a:t>
                      </a:r>
                      <a:r>
                        <a:rPr lang="en-US" altLang="ko-KR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886" marR="60886" marT="40591" marB="40591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991878"/>
                  </a:ext>
                </a:extLst>
              </a:tr>
            </a:tbl>
          </a:graphicData>
        </a:graphic>
      </p:graphicFrame>
      <p:sp>
        <p:nvSpPr>
          <p:cNvPr id="12" name="제목 1">
            <a:extLst>
              <a:ext uri="{FF2B5EF4-FFF2-40B4-BE49-F238E27FC236}">
                <a16:creationId xmlns:a16="http://schemas.microsoft.com/office/drawing/2014/main" id="{C8E41912-7045-BF4A-DBB8-BD4595D441E6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432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소프트웨어 아키텍처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372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324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F8DEAC-3D34-2FB1-2E9B-9D960055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95" y="3834702"/>
            <a:ext cx="510162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A8A3AE65-ADFD-505A-E1CB-1E2B4767E9A4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432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향후 개발 계획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278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0" y="324000"/>
            <a:ext cx="3960000" cy="720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F8DEAC-3D34-2FB1-2E9B-9D960055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95" y="3834702"/>
            <a:ext cx="510162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598E7038-279C-D8C1-1009-3E188191B79F}"/>
              </a:ext>
            </a:extLst>
          </p:cNvPr>
          <p:cNvSpPr txBox="1">
            <a:spLocks/>
          </p:cNvSpPr>
          <p:nvPr/>
        </p:nvSpPr>
        <p:spPr>
          <a:xfrm>
            <a:off x="0" y="108000"/>
            <a:ext cx="4320000" cy="1080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프로젝트 수행 소감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6270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2717</TotalTime>
  <Words>2739</Words>
  <Application>Microsoft Office PowerPoint</Application>
  <PresentationFormat>와이드스크린</PresentationFormat>
  <Paragraphs>331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Arial Unicode MS</vt:lpstr>
      <vt:lpstr>Google Sans Text</vt:lpstr>
      <vt:lpstr>Noto Sans KR</vt:lpstr>
      <vt:lpstr>Noto Sans KR Black</vt:lpstr>
      <vt:lpstr>Noto Serif KR Black</vt:lpstr>
      <vt:lpstr>맑은 고딕</vt:lpstr>
      <vt:lpstr>Arial</vt:lpstr>
      <vt:lpstr>Courier New</vt:lpstr>
      <vt:lpstr>Office 테마</vt:lpstr>
      <vt:lpstr>생성형 AI기반  스마트 호텔 올인원 서비스    프로젝트 수행 결과서</vt:lpstr>
      <vt:lpstr>   목차</vt:lpstr>
      <vt:lpstr>   기획의도</vt:lpstr>
      <vt:lpstr>   기획의도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혜린 신</dc:creator>
  <cp:lastModifiedBy>혜린 신</cp:lastModifiedBy>
  <cp:revision>48</cp:revision>
  <dcterms:created xsi:type="dcterms:W3CDTF">2026-03-17T06:15:52Z</dcterms:created>
  <dcterms:modified xsi:type="dcterms:W3CDTF">2026-06-16T07:14:30Z</dcterms:modified>
</cp:coreProperties>
</file>